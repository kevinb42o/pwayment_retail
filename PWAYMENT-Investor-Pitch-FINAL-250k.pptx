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3aac245fca4bbd" /><Relationship Type="http://schemas.openxmlformats.org/officeDocument/2006/relationships/extended-properties" Target="/docProps/app.xml" Id="R8f9bdc772a274160" /><Relationship Type="http://schemas.openxmlformats.org/officeDocument/2006/relationships/officeDocument" Target="/ppt/presentation.xml" Id="R94fa9b627b6a46fa" /></Relationships>
</file>

<file path=ppt/presentation.xml><?xml version="1.0" encoding="utf-8"?>
<p:presentation xmlns:p="http://schemas.openxmlformats.org/presentationml/2006/main">
  <p:sldMasterIdLst>
    <p:sldMasterId xmlns:r="http://schemas.openxmlformats.org/officeDocument/2006/relationships" id="2147483648" r:id="R2318e68936f94907"/>
  </p:sldMasterIdLst>
  <p:notesMasterIdLst>
    <p:notesMasterId xmlns:r="http://schemas.openxmlformats.org/officeDocument/2006/relationships" r:id="R34a9a04555024c64"/>
  </p:notesMasterIdLst>
  <p:sldIdLst>
    <p:sldId xmlns:r="http://schemas.openxmlformats.org/officeDocument/2006/relationships" id="256" r:id="R5651e6f0cc414898"/>
    <p:sldId xmlns:r="http://schemas.openxmlformats.org/officeDocument/2006/relationships" id="257" r:id="Rce04312ec4714120"/>
    <p:sldId xmlns:r="http://schemas.openxmlformats.org/officeDocument/2006/relationships" id="258" r:id="R97b25cf513de4bff"/>
    <p:sldId xmlns:r="http://schemas.openxmlformats.org/officeDocument/2006/relationships" id="259" r:id="R43bc3597141c4359"/>
    <p:sldId xmlns:r="http://schemas.openxmlformats.org/officeDocument/2006/relationships" id="260" r:id="R9c732d66eb374ae5"/>
    <p:sldId xmlns:r="http://schemas.openxmlformats.org/officeDocument/2006/relationships" id="261" r:id="Rf12d6029d4174bbb"/>
    <p:sldId xmlns:r="http://schemas.openxmlformats.org/officeDocument/2006/relationships" id="262" r:id="Rc4cd95bc694e4192"/>
    <p:sldId xmlns:r="http://schemas.openxmlformats.org/officeDocument/2006/relationships" id="263" r:id="Rafc9c9c635744884"/>
    <p:sldId xmlns:r="http://schemas.openxmlformats.org/officeDocument/2006/relationships" id="264" r:id="R46ae8f8452514118"/>
    <p:sldId xmlns:r="http://schemas.openxmlformats.org/officeDocument/2006/relationships" id="265" r:id="Rc13c2436e3bd4ac3"/>
    <p:sldId xmlns:r="http://schemas.openxmlformats.org/officeDocument/2006/relationships" id="266" r:id="R064f3dfbdaf94d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af498913804a5a" /><Relationship Type="http://schemas.openxmlformats.org/officeDocument/2006/relationships/slideMaster" Target="/ppt/slideMasters/slideMaster1.xml" Id="R2318e68936f94907" /><Relationship Type="http://schemas.openxmlformats.org/officeDocument/2006/relationships/notesMaster" Target="/ppt/notesMasters/notesMaster1.xml" Id="R34a9a04555024c64" /><Relationship Type="http://schemas.openxmlformats.org/officeDocument/2006/relationships/presProps" Target="/ppt/presProps.xml" Id="Ref6b0f1244f345f7" /><Relationship Type="http://schemas.openxmlformats.org/officeDocument/2006/relationships/tableStyles" Target="/ppt/tableStyles.xml" Id="R405c22f786184680" /><Relationship Type="http://schemas.openxmlformats.org/officeDocument/2006/relationships/slide" Target="/ppt/slides/slide1.xml" Id="R5651e6f0cc414898" /><Relationship Type="http://schemas.openxmlformats.org/officeDocument/2006/relationships/slide" Target="/ppt/slides/slide2.xml" Id="Rce04312ec4714120" /><Relationship Type="http://schemas.openxmlformats.org/officeDocument/2006/relationships/slide" Target="/ppt/slides/slide3.xml" Id="R97b25cf513de4bff" /><Relationship Type="http://schemas.openxmlformats.org/officeDocument/2006/relationships/slide" Target="/ppt/slides/slide4.xml" Id="R43bc3597141c4359" /><Relationship Type="http://schemas.openxmlformats.org/officeDocument/2006/relationships/slide" Target="/ppt/slides/slide5.xml" Id="R9c732d66eb374ae5" /><Relationship Type="http://schemas.openxmlformats.org/officeDocument/2006/relationships/slide" Target="/ppt/slides/slide6.xml" Id="Rf12d6029d4174bbb" /><Relationship Type="http://schemas.openxmlformats.org/officeDocument/2006/relationships/slide" Target="/ppt/slides/slide7.xml" Id="Rc4cd95bc694e4192" /><Relationship Type="http://schemas.openxmlformats.org/officeDocument/2006/relationships/slide" Target="/ppt/slides/slide8.xml" Id="Rafc9c9c635744884" /><Relationship Type="http://schemas.openxmlformats.org/officeDocument/2006/relationships/slide" Target="/ppt/slides/slide9.xml" Id="R46ae8f8452514118" /><Relationship Type="http://schemas.openxmlformats.org/officeDocument/2006/relationships/slide" Target="/ppt/slides/slide10.xml" Id="Rc13c2436e3bd4ac3" /><Relationship Type="http://schemas.openxmlformats.org/officeDocument/2006/relationships/slide" Target="/ppt/slides/slide11.xml" Id="R064f3dfbdaf94d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27825ff6094c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997b4f97594625" /><Relationship Type="http://schemas.openxmlformats.org/officeDocument/2006/relationships/notesMaster" Target="/ppt/notesMasters/notesMaster1.xml" Id="Rb2e0db487aa849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20a065faf74974" /><Relationship Type="http://schemas.openxmlformats.org/officeDocument/2006/relationships/notesMaster" Target="/ppt/notesMasters/notesMaster1.xml" Id="R73703df778c745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e2fd443f6844e1" /><Relationship Type="http://schemas.openxmlformats.org/officeDocument/2006/relationships/notesMaster" Target="/ppt/notesMasters/notesMaster1.xml" Id="R90caed4d6b284c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493232f92e4441" /><Relationship Type="http://schemas.openxmlformats.org/officeDocument/2006/relationships/notesMaster" Target="/ppt/notesMasters/notesMaster1.xml" Id="R12de3225ca9a49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6d262aae574f28" /><Relationship Type="http://schemas.openxmlformats.org/officeDocument/2006/relationships/notesMaster" Target="/ppt/notesMasters/notesMaster1.xml" Id="R1bffa61d980d48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2b4cd05a7948ae" /><Relationship Type="http://schemas.openxmlformats.org/officeDocument/2006/relationships/notesMaster" Target="/ppt/notesMasters/notesMaster1.xml" Id="R7d9d03561ffa44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5c67f2be3442fe" /><Relationship Type="http://schemas.openxmlformats.org/officeDocument/2006/relationships/notesMaster" Target="/ppt/notesMasters/notesMaster1.xml" Id="Rfe8376e2acda4a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ca7f21611447fd" /><Relationship Type="http://schemas.openxmlformats.org/officeDocument/2006/relationships/notesMaster" Target="/ppt/notesMasters/notesMaster1.xml" Id="Re9078527464a4a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320bf500904683" /><Relationship Type="http://schemas.openxmlformats.org/officeDocument/2006/relationships/notesMaster" Target="/ppt/notesMasters/notesMaster1.xml" Id="R9e1de374d7284a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34d668b7ae46a1" /><Relationship Type="http://schemas.openxmlformats.org/officeDocument/2006/relationships/notesMaster" Target="/ppt/notesMasters/notesMaster1.xml" Id="Ra53b8be33a9f4e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1051801e93476b" /><Relationship Type="http://schemas.openxmlformats.org/officeDocument/2006/relationships/notesMaster" Target="/ppt/notesMasters/notesMaster1.xml" Id="Rab78ab30cc3749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rustig: “PWAYMENT brengt kassa, voorraad, klanten, webshop en rapportage samen. PACE is de slimme assistent die de winkelier helpt begrijpen wat er gebeurt en wat de beste volgende stap is. Ik zoek ongeveer €250.000 om van een gebouwd product naar een commercieel bewezen bedrijf te gaan.”</a:t>
            </a:r>
          </a:p>
          <a:p xmlns:a="http://schemas.openxmlformats.org/drawingml/2006/main">
            <a:r>
              <a:t/>
            </a:r>
          </a:p>
          <a:p xmlns:a="http://schemas.openxmlformats.org/drawingml/2006/main">
            <a:r>
              <a:t>[Sources]</a:t>
            </a:r>
          </a:p>
          <a:p xmlns:a="http://schemas.openxmlformats.org/drawingml/2006/main">
            <a:r>
              <a:t>/Users/kevin/PROJECTS/pwayment RETAIL/README.md</a:t>
            </a:r>
          </a:p>
          <a:p xmlns:a="http://schemas.openxmlformats.org/drawingml/2006/main">
            <a:r>
              <a:t>/Users/kevin/PROJECTS/pwayment RETAIL/.codex-build/final-investor-pitch-2026-08-30/deck-current-pos.png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Geef één herkenbaar voorbeeld: “Een prijswijziging gebeurt in de kassa, daarna opnieuw in de webshop en soms nog in een apart voorraadbestand. Ondertussen blijft er te weinig tijd over om de winkel echt te sturen.”</a:t>
            </a:r>
          </a:p>
          <a:p xmlns:a="http://schemas.openxmlformats.org/drawingml/2006/main">
            <a:r>
              <a:t/>
            </a:r>
          </a:p>
          <a:p xmlns:a="http://schemas.openxmlformats.org/drawingml/2006/main">
            <a:r>
              <a:t>[Sources]</a:t>
            </a:r>
          </a:p>
          <a:p xmlns:a="http://schemas.openxmlformats.org/drawingml/2006/main">
            <a:r>
              <a:t>Interne PWAYMENT-planning; bedragen en doelen zijn managementaannames.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Zeg: “De waarde zit niet in een lange lijst functies. Alles gebruikt dezelfde winkelgegevens. Een verkoop verandert de voorraad, verrijkt het klantbeeld en voedt de inzichten. Nieuw is dat de eigenaar ook de totale bedrijfskosten ziet, opgesplitst in vaste en variabele kosten en per categorie. PACE kan daardoor helpen vanuit de echte winkelcontext.”</a:t>
            </a:r>
          </a:p>
          <a:p xmlns:a="http://schemas.openxmlformats.org/drawingml/2006/main">
            <a:r>
              <a:t/>
            </a:r>
          </a:p>
          <a:p xmlns:a="http://schemas.openxmlformats.org/drawingml/2006/main">
            <a:r>
              <a:t>[Sources]</a:t>
            </a:r>
          </a:p>
          <a:p xmlns:a="http://schemas.openxmlformats.org/drawingml/2006/main">
            <a:r>
              <a:t>/Users/kevin/PROJECTS/pwayment RETAIL/README.md</a:t>
            </a:r>
          </a:p>
          <a:p xmlns:a="http://schemas.openxmlformats.org/drawingml/2006/main">
            <a:r>
              <a:t>/Users/kevin/PROJECTS/pwayment RETAIL/src/components/insights/FinancialInsights.tsx</a:t>
            </a:r>
          </a:p>
          <a:p xmlns:a="http://schemas.openxmlformats.org/drawingml/2006/main">
            <a:r>
              <a:t>/Users/kevin/PROJECTS/pwayment RETAIL/.codex-build/final-investor-pitch-2026-08-30/deck-current-insights-costs.png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Zeg: “Ik beweer niet dat niemand anders AI heeft. Het verschil is de combinatie: één retailbasis, gebouwd voor Belgische winkelprocessen, met PACE in de dagelijkse workflow. PACE adviseert en navigeert; de winkelier controleert en bevestigt.”</a:t>
            </a:r>
          </a:p>
          <a:p xmlns:a="http://schemas.openxmlformats.org/drawingml/2006/main">
            <a:r>
              <a:t/>
            </a:r>
          </a:p>
          <a:p xmlns:a="http://schemas.openxmlformats.org/drawingml/2006/main">
            <a:r>
              <a:t>[Sources]</a:t>
            </a:r>
          </a:p>
          <a:p xmlns:a="http://schemas.openxmlformats.org/drawingml/2006/main">
            <a:r>
              <a:t>/Users/kevin/PROJECTS/pwayment RETAIL/PACE-WEBSITE-POSITIONERING-PLAN.md</a:t>
            </a:r>
          </a:p>
          <a:p xmlns:a="http://schemas.openxmlformats.org/drawingml/2006/main">
            <a:r>
              <a:t>/Users/kevin/PROJECTS/pwayment RETAIL/README.md</a:t>
            </a:r>
          </a:p>
          <a:p xmlns:a="http://schemas.openxmlformats.org/drawingml/2006/main">
            <a:r>
              <a:t>
INVESTOR FOCUS
De kern is niet dat AI op zichzelf uniek is. De overstapreden is dat verkoop, voorraad, klant, webshop, kosten en begeleiding in één werkplek samenkomen.
Zeg eenvoudig: een winkelier koopt minder dubbel werk, beter zicht op zijn zaak en hulp die de context al kent.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Dit is de korte versie: “PACE is geen algemene chatbot. Hij weet waar de gebruiker werkt, welke rol die heeft en welke winkelcontext toegestaan is. Hier staat hij boven de actuele kosteninzichten. Hij kan uitleggen wat er gebeurt, belangrijke signalen tonen en de juiste workflow openen. Financiële of gevoelige acties worden nooit zelfstandig afgerond.” Toon daarna één live vraag in de demo.</a:t>
            </a:r>
          </a:p>
          <a:p xmlns:a="http://schemas.openxmlformats.org/drawingml/2006/main">
            <a:r>
              <a:t/>
            </a:r>
          </a:p>
          <a:p xmlns:a="http://schemas.openxmlformats.org/drawingml/2006/main">
            <a:r>
              <a:t>[Sources]</a:t>
            </a:r>
          </a:p>
          <a:p xmlns:a="http://schemas.openxmlformats.org/drawingml/2006/main">
            <a:r>
              <a:t>/Users/kevin/PROJECTS/pwayment RETAIL/docs/PACE-2026-MASTERPIECE-MASTERPLAN.md</a:t>
            </a:r>
          </a:p>
          <a:p xmlns:a="http://schemas.openxmlformats.org/drawingml/2006/main">
            <a:r>
              <a:t>/Users/kevin/PROJECTS/pwayment RETAIL/src/pace/paceProductKnowledge.ts</a:t>
            </a:r>
          </a:p>
          <a:p xmlns:a="http://schemas.openxmlformats.org/drawingml/2006/main">
            <a:r>
              <a:t>/Users/kevin/PROJECTS/pwayment RETAIL/.codex-build/final-investor-pitch-2026-08-30/deck-current-pace.png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Wees hier heel eerlijk: “Het product is ver gevorderd en demonstreerbaar. Ook de totale kosten, vaste en variabele kosten en kostencategorieën zitten nu in Inzichten. Wat ik nog niet als bewezen mag verkopen, is een herhaalbaar commercieel model. Dat is exact wat deze ronde moet aantonen: winkels willen betalen, ze kunnen vlot starten en ze blijven het product gebruiken.”</a:t>
            </a:r>
          </a:p>
          <a:p xmlns:a="http://schemas.openxmlformats.org/drawingml/2006/main">
            <a:r>
              <a:t/>
            </a:r>
          </a:p>
          <a:p xmlns:a="http://schemas.openxmlformats.org/drawingml/2006/main">
            <a:r>
              <a:t>[Sources]</a:t>
            </a:r>
          </a:p>
          <a:p xmlns:a="http://schemas.openxmlformats.org/drawingml/2006/main">
            <a:r>
              <a:t>/Users/kevin/PROJECTS/pwayment RETAIL/README.md</a:t>
            </a:r>
          </a:p>
          <a:p xmlns:a="http://schemas.openxmlformats.org/drawingml/2006/main">
            <a:r>
              <a:t>/Users/kevin/PROJECTS/pwayment RETAIL/FEATURE-AUDIT-2026-08-22.md</a:t>
            </a:r>
          </a:p>
          <a:p xmlns:a="http://schemas.openxmlformats.org/drawingml/2006/main">
            <a:r>
              <a:t>/Users/kevin/PROJECTS/pwayment RETAIL/src/components/insights/FinancialInsights.tsx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Leg uit: “Gratis verlaagt de drempel om te proberen. De belangrijkste betalende formule is €69 per maand. Grotere winkels betalen vanaf €149. Het doel van ongeveer €9.000 per maand bij 100 winkels is een rekenvoorbeeld op basis van een mix van formules, geen huidige omzet.”</a:t>
            </a:r>
          </a:p>
          <a:p xmlns:a="http://schemas.openxmlformats.org/drawingml/2006/main">
            <a:r>
              <a:t/>
            </a:r>
          </a:p>
          <a:p xmlns:a="http://schemas.openxmlformats.org/drawingml/2006/main">
            <a:r>
              <a:t>[Sources]</a:t>
            </a:r>
          </a:p>
          <a:p xmlns:a="http://schemas.openxmlformats.org/drawingml/2006/main">
            <a:r>
              <a:t>/Users/kevin/PROJECTS/pwayment RETAIL/src/billing/planCatalog.ts</a:t>
            </a:r>
          </a:p>
          <a:p xmlns:a="http://schemas.openxmlformats.org/drawingml/2006/main">
            <a:r>
              <a:t>
INVESTOR FOCUS
100 betalende winkels is het eerste commerciële bewijs: kunnen we winkels winnen, correct prijzen en behouden?
Het is niet het einddoel. Verdere groei komt uit meer winkels, meerdere locaties en verkoop via partners, zodra de eerste aanpak aantoonbaar werkt.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Zeg: “Ik gebruik het cijfer van 184.342 handelskmo’s alleen om te tonen dat de markt groot is. Ik ga niet proberen iedereen tegelijk te verkopen. De eerste doelgroep zijn zelfstandige speciaalzaken met één tot drie kassa’s, waar de eigenaar zelf de operationele pijn voelt.”</a:t>
            </a:r>
          </a:p>
          <a:p xmlns:a="http://schemas.openxmlformats.org/drawingml/2006/main">
            <a:r>
              <a:t/>
            </a:r>
          </a:p>
          <a:p xmlns:a="http://schemas.openxmlformats.org/drawingml/2006/main">
            <a:r>
              <a:t>[Sources]</a:t>
            </a:r>
          </a:p>
          <a:p xmlns:a="http://schemas.openxmlformats.org/drawingml/2006/main">
            <a:r>
              <a:t>FOD Economie — Kmo’s per activiteitensector (31 december 2024): https://economie.fgov.be/nl/themas/ondernemingen/kmos-en-zelfstandigen-cijfers/statistieken-over-kmos-belgie/kmos-activiteitensector</a:t>
            </a:r>
          </a:p>
          <a:p xmlns:a="http://schemas.openxmlformats.org/drawingml/2006/main">
            <a:r>
              <a:t>Statbel — 96% van de bedrijven in de niet-financiële markteconomie zijn micro-ondernemingen (2023): https://statbel.fgov.be/nl/themas/ondernemingen/structurele-ondernemingsstatistieken</a:t>
            </a:r>
          </a:p>
          <a:p xmlns:a="http://schemas.openxmlformats.org/drawingml/2006/main">
            <a:r>
              <a:t>
INVESTOR FOCUS
Er bestaan veel kassasystemen. Dat ontkennen we niet. PWAYMENT hoeft niet de hele markt te winnen.
De eerste opdracht is een smalle groep zelfstandige speciaalzaken overtuigen om over te stappen en te betalen. De 184k is marktcontext, geen verkooppijplijn.
De bestaande bronnen in deze notities blijven de marktcontext ondersteunen.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Zeg: “Elke fase eindigt met bewijs. Eerst moet een winkel vlot kunnen starten. Daarna moeten winkels betalen en blijven. Tegen maand 18 moet groei minder afhankelijk zijn van mij alleen. Als die bewijzen niet komen, sturen we product en uitgaven bij.”</a:t>
            </a:r>
          </a:p>
          <a:p xmlns:a="http://schemas.openxmlformats.org/drawingml/2006/main">
            <a:r>
              <a:t/>
            </a:r>
          </a:p>
          <a:p xmlns:a="http://schemas.openxmlformats.org/drawingml/2006/main">
            <a:r>
              <a:t>[Sources]</a:t>
            </a:r>
          </a:p>
          <a:p xmlns:a="http://schemas.openxmlformats.org/drawingml/2006/main">
            <a:r>
              <a:t>Interne PWAYMENT-planning; bedragen en doelen zijn managementaannames.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Loop de bedragen kort af: “€90.000 gaat naar product en PACE, €60.000 naar verkoop, €35.000 naar het goed opstarten van winkels, €30.000 naar koppelingen en veiligheid, €15.000 naar hosting en materiaal, en €20.000 blijft buffer. Samen exact €250.000.”</a:t>
            </a:r>
          </a:p>
          <a:p xmlns:a="http://schemas.openxmlformats.org/drawingml/2006/main">
            <a:r>
              <a:t/>
            </a:r>
          </a:p>
          <a:p xmlns:a="http://schemas.openxmlformats.org/drawingml/2006/main">
            <a:r>
              <a:t>[Sources]</a:t>
            </a:r>
          </a:p>
          <a:p xmlns:a="http://schemas.openxmlformats.org/drawingml/2006/main">
            <a:r>
              <a:t>Interne PWAYMENT-planning; bedragen en doelen zijn managementaannames.</a:t>
            </a:r>
          </a:p>
          <a:p xmlns:a="http://schemas.openxmlformats.org/drawingml/2006/main">
            <a:r>
              <a:t>
INVESTOR FOCUS
Het geld wordt gefaseerd ingezet rond bewijs: winkels starten, betalen en blijven.
Als die signalen achterblijven, vertragen we uitgaven en passen we product, prijs of verkoopaanpak aan. De investering koopt geen blind groeiverhaal, maar een gecontroleerde commerciële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Sluit zo: “Ik zoek ongeveer €250.000 en een investeerder die ervaring meebrengt in commerciële groei. De investeringsvorm, waardering en voorwaarden wil ik pas vastleggen nadat we het product, de cijfers en elkaars verwachtingen hebben bekeken. Mijn voorstel voor de volgende stap is een grondige demo en een gezamenlijke controle van de aannames.” Stop daarna met praten. Noem zelf geen aandelenpercentage.</a:t>
            </a:r>
          </a:p>
          <a:p xmlns:a="http://schemas.openxmlformats.org/drawingml/2006/main">
            <a:r>
              <a:t/>
            </a:r>
          </a:p>
          <a:p xmlns:a="http://schemas.openxmlformats.org/drawingml/2006/main">
            <a:r>
              <a:t>[Sources]</a:t>
            </a:r>
          </a:p>
          <a:p xmlns:a="http://schemas.openxmlformats.org/drawingml/2006/main">
            <a:r>
              <a:t>Interne PWAYMENT-planning. Investeringsvorm, waardering en voorwaarden zijn bewust nog niet vastgelegd.</a:t>
            </a:r>
          </a:p>
          <a:p xmlns:a="http://schemas.openxmlformats.org/drawingml/2006/main">
            <a:r>
              <a:t>
INVESTOR FOCUS
Sluit af met: “Ik toon u graag de live demo en de cijfers erachter. Welke bewijzen of voorwaarden hebt u nodig om een investering verder te onderzoeken?”
Noem geen aandelenpercentage in de presentatie. Waardering, instrument en voorwaarden bespreek je pas nadat interesse en wederzijds vertrouwen bevestigd zijn.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afeec5048646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36f00e682a4194" /><Relationship Type="http://schemas.openxmlformats.org/officeDocument/2006/relationships/slideLayout" Target="/ppt/slideLayouts/slideLayout1.xml" Id="R517a8d10524845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7a8d10524845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36ca46471b4fed" /><Relationship Type="http://schemas.openxmlformats.org/officeDocument/2006/relationships/image" Target="/ppt/media/image.png" Id="Rb724b3b847db4519" /><Relationship Type="http://schemas.openxmlformats.org/officeDocument/2006/relationships/notesSlide" Target="/ppt/notesSlides/notesSlide1.xml" Id="R7f46b9c7e3ec49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79f55916054d63" /><Relationship Type="http://schemas.openxmlformats.org/officeDocument/2006/relationships/notesSlide" Target="/ppt/notesSlides/notesSlide2.xml" Id="R34dc92f52b0348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cd442c4e2f41f9" /><Relationship Type="http://schemas.openxmlformats.org/officeDocument/2006/relationships/image" Target="/ppt/media/image2.png" Id="Rf121ebe585264334" /><Relationship Type="http://schemas.openxmlformats.org/officeDocument/2006/relationships/notesSlide" Target="/ppt/notesSlides/notesSlide3.xml" Id="Rfde2c8f5070849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08a6af2243432c" /><Relationship Type="http://schemas.openxmlformats.org/officeDocument/2006/relationships/notesSlide" Target="/ppt/notesSlides/notesSlide4.xml" Id="Rb84d34b2b0f24f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2fe2791f884d8f" /><Relationship Type="http://schemas.openxmlformats.org/officeDocument/2006/relationships/image" Target="/ppt/media/image3.png" Id="Rd068ad75eac44177" /><Relationship Type="http://schemas.openxmlformats.org/officeDocument/2006/relationships/notesSlide" Target="/ppt/notesSlides/notesSlide5.xml" Id="Rcbf9d0715be94c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3267e4c4414d44" /><Relationship Type="http://schemas.openxmlformats.org/officeDocument/2006/relationships/notesSlide" Target="/ppt/notesSlides/notesSlide6.xml" Id="R3fbd69bda24c49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5e6c5e4aa4451b" /><Relationship Type="http://schemas.openxmlformats.org/officeDocument/2006/relationships/notesSlide" Target="/ppt/notesSlides/notesSlide7.xml" Id="R580c873d82d048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08df0ae42e4fff" /><Relationship Type="http://schemas.openxmlformats.org/officeDocument/2006/relationships/notesSlide" Target="/ppt/notesSlides/notesSlide8.xml" Id="R2c06a9d2587f43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09c8ae67cf943d4" /><Relationship Type="http://schemas.openxmlformats.org/officeDocument/2006/relationships/notesSlide" Target="/ppt/notesSlides/notesSlide9.xml" Id="Rdf1a39ae2ad94c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9b9077b7c94e8d" /><Relationship Type="http://schemas.openxmlformats.org/officeDocument/2006/relationships/chart" Target="/ppt/slides/charts/chart1.xml" Id="R7139c8df57184bad" /><Relationship Type="http://schemas.openxmlformats.org/officeDocument/2006/relationships/notesSlide" Target="/ppt/notesSlides/notesSlide10.xml" Id="R7845de5d77a94d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778f0f2a1c49bb" /><Relationship Type="http://schemas.openxmlformats.org/officeDocument/2006/relationships/notesSlide" Target="/ppt/notesSlides/notesSlide11.xml" Id="R1aa519729092497f" /></Relationships>
</file>

<file path=ppt/slides/charts/chart1.xml><?xml version="1.0" encoding="utf-8"?>
<c:chartSpace xmlns:c="http://schemas.openxmlformats.org/drawingml/2006/chart">
  <c:lang val="en-US"/>
  <c:chart>
    <c:plotArea>
      <c:barChart>
        <c:barDir val="col"/>
        <c:varyColors val="0"/>
        <c:ser>
          <c:idx val="0"/>
          <c:order val="0"/>
          <c:tx>
            <c:v>€k</c:v>
          </c:tx>
          <c:spPr>
            <a:solidFill xmlns:a="http://schemas.openxmlformats.org/drawingml/2006/main">
              <a:srgbClr val="2186F3"/>
            </a:solidFill>
          </c:spPr>
          <c:cat>
            <c:strLit>
              <c:ptCount val="6"/>
              <c:pt idx="0">
                <c:v>Product</c:v>
              </c:pt>
              <c:pt idx="1">
                <c:v>Verkoop</c:v>
              </c:pt>
              <c:pt idx="2">
                <c:v>Winkelopstart</c:v>
              </c:pt>
              <c:pt idx="3">
                <c:v>Koppelingen</c:v>
              </c:pt>
              <c:pt idx="4">
                <c:v>Hosting</c:v>
              </c:pt>
              <c:pt idx="5">
                <c:v>Buffer</c:v>
              </c:pt>
            </c:strLit>
          </c:cat>
          <c:val>
            <c:numLit>
              <c:formatCode>General</c:formatCode>
              <c:ptCount val="6"/>
              <c:pt idx="0">
                <c:v>90</c:v>
              </c:pt>
              <c:pt idx="1">
                <c:v>60</c:v>
              </c:pt>
              <c:pt idx="2">
                <c:v>35</c:v>
              </c:pt>
              <c:pt idx="3">
                <c:v>30</c:v>
              </c:pt>
              <c:pt idx="4">
                <c:v>15</c:v>
              </c:pt>
              <c:pt idx="5">
                <c:v>20</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majorGridlines>
          <c:spPr>
            <a:ln xmlns:a="http://schemas.openxmlformats.org/drawingml/2006/main" w="9525">
              <a:solidFill>
                <a:srgbClr val="EDEFF2"/>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878"/>
                </a:solidFill>
                <a:latin typeface="Helvetica Neue"/>
                <a:ea typeface="Helvetica Neue"/>
                <a:cs typeface="Helvetica Neue"/>
              </a:defRPr>
            </a:pPr>
          </a:p>
        </c:txPr>
        <c:crossAx val="48672768"/>
      </c:catAx>
      <c:valAx>
        <c:axId val="48672768"/>
        <c:scaling>
          <c:orientation val="minMax"/>
        </c:scaling>
        <c:delete val="0"/>
        <c:axPos val="l"/>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0B1220"/>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C9F3728-6AF2-4755-AA90-A5BA0C52D4F2}"/>
              </a:ext>
            </a:extLst>
          </p:cNvPr>
          <p:cNvSpPr>
            <a:spLocks xmlns:a="http://schemas.openxmlformats.org/drawingml/2006/main" noGrp="1"/>
          </p:cNvSpPr>
          <p:nvPr/>
        </p:nvSpPr>
        <p:spPr>
          <a:xfrm xmlns:a="http://schemas.openxmlformats.org/drawingml/2006/main">
            <a:off x="400050" y="3429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2186F3"/>
                </a:solidFill>
                <a:latin typeface="Helvetica Neue"/>
                <a:ea typeface="Helvetica Neue"/>
                <a:cs typeface="Helvetica Neue"/>
              </a:defRPr>
            </a:pPr>
            <a:r>
              <a:rPr sz="1125" b="1">
                <a:solidFill>
                  <a:srgbClr val="2186F3"/>
                </a:solidFill>
                <a:latin typeface="Helvetica Neue"/>
                <a:ea typeface="Helvetica Neue"/>
                <a:cs typeface="Helvetica Neue"/>
              </a:rPr>
              <a:t>PWAYMENT</a:t>
            </a:r>
          </a:p>
        </p:txBody>
      </p:sp>
      <p:sp>
        <p:nvSpPr>
          <p:cNvPr id="2" name="">
            <a:extLst xmlns:a="http://schemas.openxmlformats.org/drawingml/2006/main">
              <a:ext uri="{FF2B5EF4-FFF2-40B4-BE49-F238E27FC236}">
                <a16:creationId xmlns:a16="http://schemas.microsoft.com/office/drawing/2014/main" id="{8D2860CC-B95C-4EEF-93AE-F39E1230794D}"/>
              </a:ext>
            </a:extLst>
          </p:cNvPr>
          <p:cNvSpPr>
            <a:spLocks xmlns:a="http://schemas.openxmlformats.org/drawingml/2006/main" noGrp="1"/>
          </p:cNvSpPr>
          <p:nvPr/>
        </p:nvSpPr>
        <p:spPr>
          <a:xfrm xmlns:a="http://schemas.openxmlformats.org/drawingml/2006/main">
            <a:off x="400050" y="1504950"/>
            <a:ext cx="563880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3"/>
          </a:bodyPr>
          <a:lstStyle xmlns:a="http://schemas.openxmlformats.org/drawingml/2006/main"/>
          <a:p xmlns:a="http://schemas.openxmlformats.org/drawingml/2006/main">
            <a:pPr algn="l">
              <a:buNone/>
              <a:defRPr sz="4650" b="1">
                <a:solidFill>
                  <a:srgbClr val="0B1220"/>
                </a:solidFill>
                <a:latin typeface="Helvetica Neue"/>
                <a:ea typeface="Helvetica Neue"/>
                <a:cs typeface="Helvetica Neue"/>
              </a:defRPr>
            </a:pPr>
            <a:r>
              <a:rPr sz="4650" b="1">
                <a:solidFill>
                  <a:srgbClr val="0B1220"/>
                </a:solidFill>
                <a:latin typeface="Helvetica Neue"/>
                <a:ea typeface="Helvetica Neue"/>
                <a:cs typeface="Helvetica Neue"/>
              </a:rPr>
              <a:t>PWAYMENT brengt de hele winkel samen.</a:t>
            </a:r>
          </a:p>
        </p:txBody>
      </p:sp>
      <p:sp>
        <p:nvSpPr>
          <p:cNvPr id="3" name="">
            <a:extLst xmlns:a="http://schemas.openxmlformats.org/drawingml/2006/main">
              <a:ext uri="{FF2B5EF4-FFF2-40B4-BE49-F238E27FC236}">
                <a16:creationId xmlns:a16="http://schemas.microsoft.com/office/drawing/2014/main" id="{2FA21192-4DFF-4257-B0D1-984640D612A7}"/>
              </a:ext>
            </a:extLst>
          </p:cNvPr>
          <p:cNvSpPr>
            <a:spLocks xmlns:a="http://schemas.openxmlformats.org/drawingml/2006/main" noGrp="1"/>
          </p:cNvSpPr>
          <p:nvPr/>
        </p:nvSpPr>
        <p:spPr>
          <a:xfrm xmlns:a="http://schemas.openxmlformats.org/drawingml/2006/main">
            <a:off x="400050" y="3409950"/>
            <a:ext cx="533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a:solidFill>
                  <a:srgbClr val="5E6878"/>
                </a:solidFill>
                <a:latin typeface="Helvetica Neue"/>
                <a:ea typeface="Helvetica Neue"/>
                <a:cs typeface="Helvetica Neue"/>
              </a:defRPr>
            </a:pPr>
            <a:r>
              <a:rPr sz="1875">
                <a:solidFill>
                  <a:srgbClr val="5E6878"/>
                </a:solidFill>
                <a:latin typeface="Helvetica Neue"/>
                <a:ea typeface="Helvetica Neue"/>
                <a:cs typeface="Helvetica Neue"/>
              </a:rPr>
              <a:t>Kassa, voorraad, klanten, webshop en PACE in één platform.</a:t>
            </a:r>
          </a:p>
        </p:txBody>
      </p:sp>
      <p:sp>
        <p:nvSpPr>
          <p:cNvPr id="4" name="">
            <a:extLst xmlns:a="http://schemas.openxmlformats.org/drawingml/2006/main">
              <a:ext uri="{FF2B5EF4-FFF2-40B4-BE49-F238E27FC236}">
                <a16:creationId xmlns:a16="http://schemas.microsoft.com/office/drawing/2014/main" id="{C81D3585-D549-44A6-831F-02A70297C807}"/>
              </a:ext>
            </a:extLst>
          </p:cNvPr>
          <p:cNvSpPr>
            <a:spLocks xmlns:a="http://schemas.openxmlformats.org/drawingml/2006/main" noGrp="1"/>
          </p:cNvSpPr>
          <p:nvPr/>
        </p:nvSpPr>
        <p:spPr>
          <a:xfrm xmlns:a="http://schemas.openxmlformats.org/drawingml/2006/main">
            <a:off x="400050" y="4762500"/>
            <a:ext cx="3162300" cy="323850"/>
          </a:xfrm>
          <a:prstGeom xmlns:a="http://schemas.openxmlformats.org/drawingml/2006/main" prst="roundRect">
            <a:avLst>
              <a:gd name="adj" fmla="val 35294"/>
            </a:avLst>
          </a:prstGeom>
          <a:solidFill xmlns:a="http://schemas.openxmlformats.org/drawingml/2006/main">
            <a:srgbClr val="2186F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47F8DE-D15E-432D-8A18-53B4696AC713}"/>
              </a:ext>
            </a:extLst>
          </p:cNvPr>
          <p:cNvSpPr>
            <a:spLocks xmlns:a="http://schemas.openxmlformats.org/drawingml/2006/main" noGrp="1"/>
          </p:cNvSpPr>
          <p:nvPr/>
        </p:nvSpPr>
        <p:spPr>
          <a:xfrm xmlns:a="http://schemas.openxmlformats.org/drawingml/2006/main">
            <a:off x="514350" y="4848225"/>
            <a:ext cx="2933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GEZOCHTE INVESTERING · € 250.000</a:t>
            </a:r>
          </a:p>
        </p:txBody>
      </p:sp>
      <p:sp>
        <p:nvSpPr>
          <p:cNvPr id="6" name="">
            <a:extLst xmlns:a="http://schemas.openxmlformats.org/drawingml/2006/main">
              <a:ext uri="{FF2B5EF4-FFF2-40B4-BE49-F238E27FC236}">
                <a16:creationId xmlns:a16="http://schemas.microsoft.com/office/drawing/2014/main" id="{D85F99C6-3251-4B3E-AB9C-ECF41AC40C83}"/>
              </a:ext>
            </a:extLst>
          </p:cNvPr>
          <p:cNvSpPr>
            <a:spLocks xmlns:a="http://schemas.openxmlformats.org/drawingml/2006/main" noGrp="1"/>
          </p:cNvSpPr>
          <p:nvPr/>
        </p:nvSpPr>
        <p:spPr>
          <a:xfrm xmlns:a="http://schemas.openxmlformats.org/drawingml/2006/main">
            <a:off x="400050" y="529590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0B1220"/>
                </a:solidFill>
                <a:latin typeface="Helvetica Neue"/>
                <a:ea typeface="Helvetica Neue"/>
                <a:cs typeface="Helvetica Neue"/>
              </a:defRPr>
            </a:pPr>
            <a:r>
              <a:rPr sz="1350" b="1">
                <a:solidFill>
                  <a:srgbClr val="0B1220"/>
                </a:solidFill>
                <a:latin typeface="Helvetica Neue"/>
                <a:ea typeface="Helvetica Neue"/>
                <a:cs typeface="Helvetica Neue"/>
              </a:rPr>
              <a:t>Van gebouwd product naar betalende winkels in 18 maanden.</a:t>
            </a:r>
          </a:p>
        </p:txBody>
      </p:sp>
      <p:sp>
        <p:nvSpPr>
          <p:cNvPr id="7" name="">
            <a:extLst xmlns:a="http://schemas.openxmlformats.org/drawingml/2006/main">
              <a:ext uri="{FF2B5EF4-FFF2-40B4-BE49-F238E27FC236}">
                <a16:creationId xmlns:a16="http://schemas.microsoft.com/office/drawing/2014/main" id="{D3C4962F-78F7-47F8-90C9-F1527411760C}"/>
              </a:ext>
            </a:extLst>
          </p:cNvPr>
          <p:cNvSpPr>
            <a:spLocks xmlns:a="http://schemas.openxmlformats.org/drawingml/2006/main" noGrp="1"/>
          </p:cNvSpPr>
          <p:nvPr/>
        </p:nvSpPr>
        <p:spPr>
          <a:xfrm xmlns:a="http://schemas.openxmlformats.org/drawingml/2006/main">
            <a:off x="6276975" y="676275"/>
            <a:ext cx="5524500" cy="4895850"/>
          </a:xfrm>
          <a:prstGeom xmlns:a="http://schemas.openxmlformats.org/drawingml/2006/main" prst="roundRect">
            <a:avLst>
              <a:gd name="adj" fmla="val 2335"/>
            </a:avLst>
          </a:prstGeom>
          <a:solidFill xmlns:a="http://schemas.openxmlformats.org/drawingml/2006/main">
            <a:srgbClr val="FFFFFF"/>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D7D1D61-A868-4E13-9878-B3DC0C3292B0}"/>
              </a:ext>
            </a:extLst>
          </p:cNvPr>
          <p:cNvSpPr>
            <a:spLocks xmlns:a="http://schemas.openxmlformats.org/drawingml/2006/main" noGrp="1"/>
          </p:cNvSpPr>
          <p:nvPr/>
        </p:nvSpPr>
        <p:spPr>
          <a:xfrm xmlns:a="http://schemas.openxmlformats.org/drawingml/2006/main">
            <a:off x="400050" y="6115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a:solidFill>
                  <a:srgbClr val="5E6878"/>
                </a:solidFill>
                <a:latin typeface="Helvetica Neue"/>
                <a:ea typeface="Helvetica Neue"/>
                <a:cs typeface="Helvetica Neue"/>
              </a:defRPr>
            </a:pPr>
            <a:r>
              <a:rPr sz="975">
                <a:solidFill>
                  <a:srgbClr val="5E6878"/>
                </a:solidFill>
                <a:latin typeface="Helvetica Neue"/>
                <a:ea typeface="Helvetica Neue"/>
                <a:cs typeface="Helvetica Neue"/>
              </a:rPr>
              <a:t>België · september 2026</a:t>
            </a:r>
          </a:p>
        </p:txBody>
      </p:sp>
      <p:sp>
        <p:nvSpPr>
          <p:cNvPr id="10" name="">
            <a:extLst xmlns:a="http://schemas.openxmlformats.org/drawingml/2006/main">
              <a:ext uri="{FF2B5EF4-FFF2-40B4-BE49-F238E27FC236}">
                <a16:creationId xmlns:a16="http://schemas.microsoft.com/office/drawing/2014/main" id="{C567E997-B52E-4FB1-846E-EF8875A3372D}"/>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a:t>
            </a:r>
          </a:p>
        </p:txBody>
      </p:sp>
      <p:sp>
        <p:nvSpPr>
          <p:cNvPr id="11" name="">
            <a:extLst xmlns:a="http://schemas.openxmlformats.org/drawingml/2006/main">
              <a:ext uri="{FF2B5EF4-FFF2-40B4-BE49-F238E27FC236}">
                <a16:creationId xmlns:a16="http://schemas.microsoft.com/office/drawing/2014/main" id="{05690810-121C-43F1-BC13-4E5DF1AF5FF2}"/>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01</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724b3b847db4519"/>
          <a:stretch xmlns:a="http://schemas.openxmlformats.org/drawingml/2006/main"/>
        </p:blipFill>
        <p:spPr>
          <a:xfrm xmlns:a="http://schemas.openxmlformats.org/drawingml/2006/main">
            <a:off x="6286500" y="830262"/>
            <a:ext cx="5505450" cy="4587875"/>
          </a:xfrm>
          <a:prstGeom xmlns:a="http://schemas.openxmlformats.org/drawingml/2006/main" prst="roundRect">
            <a:avLst/>
          </a:prstGeom>
        </p:spPr>
      </p:pic>
    </p:spTree>
    <p:extLst>
      <p:ext uri="{BB962C8B-B14F-4D97-AF65-F5344CB8AC3E}">
        <p14:creationId xmlns:p14="http://schemas.microsoft.com/office/powerpoint/2010/main" val="17366384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C3331A4-9396-4D7E-B06B-0C684BBDBC24}"/>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HET PROBLEEM</a:t>
            </a:r>
          </a:p>
        </p:txBody>
      </p:sp>
      <p:sp>
        <p:nvSpPr>
          <p:cNvPr id="2" name="">
            <a:extLst xmlns:a="http://schemas.openxmlformats.org/drawingml/2006/main">
              <a:ext uri="{FF2B5EF4-FFF2-40B4-BE49-F238E27FC236}">
                <a16:creationId xmlns:a16="http://schemas.microsoft.com/office/drawing/2014/main" id="{882F96E1-BCB7-4407-9579-714C02F8F9F4}"/>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879"/>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Winkeliers verliezen tijd omdat hun systemen niet samenwerken.</a:t>
            </a:r>
          </a:p>
        </p:txBody>
      </p:sp>
      <p:sp>
        <p:nvSpPr>
          <p:cNvPr id="3" name="">
            <a:extLst xmlns:a="http://schemas.openxmlformats.org/drawingml/2006/main">
              <a:ext uri="{FF2B5EF4-FFF2-40B4-BE49-F238E27FC236}">
                <a16:creationId xmlns:a16="http://schemas.microsoft.com/office/drawing/2014/main" id="{6E32B748-60C7-4131-ACFF-4BE935C882AD}"/>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8EF87BCB-9BA0-4FE2-8901-F8FC48883DCF}"/>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D6AC38F-C532-46E3-9B12-B447AC824FA7}"/>
              </a:ext>
            </a:extLst>
          </p:cNvPr>
          <p:cNvSpPr>
            <a:spLocks xmlns:a="http://schemas.openxmlformats.org/drawingml/2006/main" noGrp="1"/>
          </p:cNvSpPr>
          <p:nvPr/>
        </p:nvSpPr>
        <p:spPr>
          <a:xfrm xmlns:a="http://schemas.openxmlformats.org/drawingml/2006/main">
            <a:off x="400050" y="169545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Wat er vandaag gebeurt</a:t>
            </a:r>
          </a:p>
        </p:txBody>
      </p:sp>
      <p:sp>
        <p:nvSpPr>
          <p:cNvPr id="6" name="">
            <a:extLst xmlns:a="http://schemas.openxmlformats.org/drawingml/2006/main">
              <a:ext uri="{FF2B5EF4-FFF2-40B4-BE49-F238E27FC236}">
                <a16:creationId xmlns:a16="http://schemas.microsoft.com/office/drawing/2014/main" id="{905C6C67-7E5D-4343-A9ED-FE75453491D7}"/>
              </a:ext>
            </a:extLst>
          </p:cNvPr>
          <p:cNvSpPr>
            <a:spLocks xmlns:a="http://schemas.openxmlformats.org/drawingml/2006/main" noGrp="1"/>
          </p:cNvSpPr>
          <p:nvPr/>
        </p:nvSpPr>
        <p:spPr>
          <a:xfrm xmlns:a="http://schemas.openxmlformats.org/drawingml/2006/main">
            <a:off x="400050" y="2209800"/>
            <a:ext cx="4953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5E6878"/>
                </a:solidFill>
                <a:latin typeface="Helvetica Neue"/>
                <a:ea typeface="Helvetica Neue"/>
                <a:cs typeface="Helvetica Neue"/>
              </a:defRPr>
            </a:pPr>
            <a:r>
              <a:rPr sz="1650">
                <a:solidFill>
                  <a:srgbClr val="5E6878"/>
                </a:solidFill>
                <a:latin typeface="Helvetica Neue"/>
                <a:ea typeface="Helvetica Neue"/>
                <a:cs typeface="Helvetica Neue"/>
              </a:rPr>
              <a:t>De kassa, voorraad, webshop en klantgegevens zitten vaak op verschillende plaatsen. Daardoor wordt hetzelfde werk meerdere keren gedaan.</a:t>
            </a:r>
          </a:p>
        </p:txBody>
      </p:sp>
      <p:sp>
        <p:nvSpPr>
          <p:cNvPr id="7" name="">
            <a:extLst xmlns:a="http://schemas.openxmlformats.org/drawingml/2006/main">
              <a:ext uri="{FF2B5EF4-FFF2-40B4-BE49-F238E27FC236}">
                <a16:creationId xmlns:a16="http://schemas.microsoft.com/office/drawing/2014/main" id="{73A09156-29AA-4965-9FDA-0AA7C098A78B}"/>
              </a:ext>
            </a:extLst>
          </p:cNvPr>
          <p:cNvSpPr>
            <a:spLocks xmlns:a="http://schemas.openxmlformats.org/drawingml/2006/main" noGrp="1"/>
          </p:cNvSpPr>
          <p:nvPr/>
        </p:nvSpPr>
        <p:spPr>
          <a:xfrm xmlns:a="http://schemas.openxmlformats.org/drawingml/2006/main">
            <a:off x="400050" y="4000500"/>
            <a:ext cx="4953000" cy="13525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A121D31-9962-4CEA-AB14-E8EB2EBCB478}"/>
              </a:ext>
            </a:extLst>
          </p:cNvPr>
          <p:cNvSpPr>
            <a:spLocks xmlns:a="http://schemas.openxmlformats.org/drawingml/2006/main" noGrp="1"/>
          </p:cNvSpPr>
          <p:nvPr/>
        </p:nvSpPr>
        <p:spPr>
          <a:xfrm xmlns:a="http://schemas.openxmlformats.org/drawingml/2006/main">
            <a:off x="647700" y="42672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a:solidFill>
                  <a:srgbClr val="55CFF7"/>
                </a:solidFill>
                <a:latin typeface="Helvetica Neue"/>
                <a:ea typeface="Helvetica Neue"/>
                <a:cs typeface="Helvetica Neue"/>
              </a:defRPr>
            </a:pPr>
            <a:r>
              <a:rPr sz="975" b="1">
                <a:solidFill>
                  <a:srgbClr val="55CFF7"/>
                </a:solidFill>
                <a:latin typeface="Helvetica Neue"/>
                <a:ea typeface="Helvetica Neue"/>
                <a:cs typeface="Helvetica Neue"/>
              </a:rPr>
              <a:t>De kernvraag</a:t>
            </a:r>
          </a:p>
        </p:txBody>
      </p:sp>
      <p:sp>
        <p:nvSpPr>
          <p:cNvPr id="9" name="">
            <a:extLst xmlns:a="http://schemas.openxmlformats.org/drawingml/2006/main">
              <a:ext uri="{FF2B5EF4-FFF2-40B4-BE49-F238E27FC236}">
                <a16:creationId xmlns:a16="http://schemas.microsoft.com/office/drawing/2014/main" id="{93C6D4F8-6676-4D9F-AF52-88448C716BEB}"/>
              </a:ext>
            </a:extLst>
          </p:cNvPr>
          <p:cNvSpPr>
            <a:spLocks xmlns:a="http://schemas.openxmlformats.org/drawingml/2006/main" noGrp="1"/>
          </p:cNvSpPr>
          <p:nvPr/>
        </p:nvSpPr>
        <p:spPr>
          <a:xfrm xmlns:a="http://schemas.openxmlformats.org/drawingml/2006/main">
            <a:off x="647700" y="4638675"/>
            <a:ext cx="4267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“Kan één systeem mijn hele winkel begrijpen?”</a:t>
            </a:r>
          </a:p>
        </p:txBody>
      </p:sp>
      <p:sp>
        <p:nvSpPr>
          <p:cNvPr id="10" name="">
            <a:extLst xmlns:a="http://schemas.openxmlformats.org/drawingml/2006/main">
              <a:ext uri="{FF2B5EF4-FFF2-40B4-BE49-F238E27FC236}">
                <a16:creationId xmlns:a16="http://schemas.microsoft.com/office/drawing/2014/main" id="{79458ADC-205B-4647-BEA5-D3BFDD49517E}"/>
              </a:ext>
            </a:extLst>
          </p:cNvPr>
          <p:cNvSpPr>
            <a:spLocks xmlns:a="http://schemas.openxmlformats.org/drawingml/2006/main" noGrp="1"/>
          </p:cNvSpPr>
          <p:nvPr/>
        </p:nvSpPr>
        <p:spPr>
          <a:xfrm xmlns:a="http://schemas.openxmlformats.org/drawingml/2006/main">
            <a:off x="6324600" y="16573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1</a:t>
            </a:r>
          </a:p>
        </p:txBody>
      </p:sp>
      <p:sp>
        <p:nvSpPr>
          <p:cNvPr id="11" name="">
            <a:extLst xmlns:a="http://schemas.openxmlformats.org/drawingml/2006/main">
              <a:ext uri="{FF2B5EF4-FFF2-40B4-BE49-F238E27FC236}">
                <a16:creationId xmlns:a16="http://schemas.microsoft.com/office/drawing/2014/main" id="{EED0EBED-B3E3-40E8-B3E1-F67E2EC3596A}"/>
              </a:ext>
            </a:extLst>
          </p:cNvPr>
          <p:cNvSpPr>
            <a:spLocks xmlns:a="http://schemas.openxmlformats.org/drawingml/2006/main" noGrp="1"/>
          </p:cNvSpPr>
          <p:nvPr/>
        </p:nvSpPr>
        <p:spPr>
          <a:xfrm xmlns:a="http://schemas.openxmlformats.org/drawingml/2006/main">
            <a:off x="7010400" y="16764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Te veel programma’s</a:t>
            </a:r>
          </a:p>
        </p:txBody>
      </p:sp>
      <p:sp>
        <p:nvSpPr>
          <p:cNvPr id="12" name="">
            <a:extLst xmlns:a="http://schemas.openxmlformats.org/drawingml/2006/main">
              <a:ext uri="{FF2B5EF4-FFF2-40B4-BE49-F238E27FC236}">
                <a16:creationId xmlns:a16="http://schemas.microsoft.com/office/drawing/2014/main" id="{9D4C7630-F818-4663-9F28-0F5D37750A2F}"/>
              </a:ext>
            </a:extLst>
          </p:cNvPr>
          <p:cNvSpPr>
            <a:spLocks xmlns:a="http://schemas.openxmlformats.org/drawingml/2006/main" noGrp="1"/>
          </p:cNvSpPr>
          <p:nvPr/>
        </p:nvSpPr>
        <p:spPr>
          <a:xfrm xmlns:a="http://schemas.openxmlformats.org/drawingml/2006/main">
            <a:off x="7010400" y="20955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De winkelier wisselt voortdurend tussen verschillende systemen.</a:t>
            </a:r>
          </a:p>
        </p:txBody>
      </p:sp>
      <p:sp>
        <p:nvSpPr>
          <p:cNvPr id="13" name="">
            <a:extLst xmlns:a="http://schemas.openxmlformats.org/drawingml/2006/main">
              <a:ext uri="{FF2B5EF4-FFF2-40B4-BE49-F238E27FC236}">
                <a16:creationId xmlns:a16="http://schemas.microsoft.com/office/drawing/2014/main" id="{C27B528A-CC65-4493-85FE-1A5D57F85A43}"/>
              </a:ext>
            </a:extLst>
          </p:cNvPr>
          <p:cNvSpPr>
            <a:spLocks xmlns:a="http://schemas.openxmlformats.org/drawingml/2006/main" noGrp="1"/>
          </p:cNvSpPr>
          <p:nvPr/>
        </p:nvSpPr>
        <p:spPr>
          <a:xfrm xmlns:a="http://schemas.openxmlformats.org/drawingml/2006/main">
            <a:off x="6324600" y="2819400"/>
            <a:ext cx="5181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81B336-56BD-4D78-A19E-69880066F9BA}"/>
              </a:ext>
            </a:extLst>
          </p:cNvPr>
          <p:cNvSpPr>
            <a:spLocks xmlns:a="http://schemas.openxmlformats.org/drawingml/2006/main" noGrp="1"/>
          </p:cNvSpPr>
          <p:nvPr/>
        </p:nvSpPr>
        <p:spPr>
          <a:xfrm xmlns:a="http://schemas.openxmlformats.org/drawingml/2006/main">
            <a:off x="6324600" y="30480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DBE45BA8-B8D7-43D4-997E-6BBCED35DFBA}"/>
              </a:ext>
            </a:extLst>
          </p:cNvPr>
          <p:cNvSpPr>
            <a:spLocks xmlns:a="http://schemas.openxmlformats.org/drawingml/2006/main" noGrp="1"/>
          </p:cNvSpPr>
          <p:nvPr/>
        </p:nvSpPr>
        <p:spPr>
          <a:xfrm xmlns:a="http://schemas.openxmlformats.org/drawingml/2006/main">
            <a:off x="7010400" y="30670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Werk wordt herhaald</a:t>
            </a:r>
          </a:p>
        </p:txBody>
      </p:sp>
      <p:sp>
        <p:nvSpPr>
          <p:cNvPr id="16" name="">
            <a:extLst xmlns:a="http://schemas.openxmlformats.org/drawingml/2006/main">
              <a:ext uri="{FF2B5EF4-FFF2-40B4-BE49-F238E27FC236}">
                <a16:creationId xmlns:a16="http://schemas.microsoft.com/office/drawing/2014/main" id="{559485C0-0B20-487C-BEA0-168AB5F0E332}"/>
              </a:ext>
            </a:extLst>
          </p:cNvPr>
          <p:cNvSpPr>
            <a:spLocks xmlns:a="http://schemas.openxmlformats.org/drawingml/2006/main" noGrp="1"/>
          </p:cNvSpPr>
          <p:nvPr/>
        </p:nvSpPr>
        <p:spPr>
          <a:xfrm xmlns:a="http://schemas.openxmlformats.org/drawingml/2006/main">
            <a:off x="7010400" y="348615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Producten, klanten en bestellingen worden meer dan één keer ingevoerd.</a:t>
            </a:r>
          </a:p>
        </p:txBody>
      </p:sp>
      <p:sp>
        <p:nvSpPr>
          <p:cNvPr id="17" name="">
            <a:extLst xmlns:a="http://schemas.openxmlformats.org/drawingml/2006/main">
              <a:ext uri="{FF2B5EF4-FFF2-40B4-BE49-F238E27FC236}">
                <a16:creationId xmlns:a16="http://schemas.microsoft.com/office/drawing/2014/main" id="{8127AA42-E2F4-4E62-B784-66B52419D6E4}"/>
              </a:ext>
            </a:extLst>
          </p:cNvPr>
          <p:cNvSpPr>
            <a:spLocks xmlns:a="http://schemas.openxmlformats.org/drawingml/2006/main" noGrp="1"/>
          </p:cNvSpPr>
          <p:nvPr/>
        </p:nvSpPr>
        <p:spPr>
          <a:xfrm xmlns:a="http://schemas.openxmlformats.org/drawingml/2006/main">
            <a:off x="6324600" y="4210050"/>
            <a:ext cx="5181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EE89ED-456E-4E47-8C6F-5FF9EDB12209}"/>
              </a:ext>
            </a:extLst>
          </p:cNvPr>
          <p:cNvSpPr>
            <a:spLocks xmlns:a="http://schemas.openxmlformats.org/drawingml/2006/main" noGrp="1"/>
          </p:cNvSpPr>
          <p:nvPr/>
        </p:nvSpPr>
        <p:spPr>
          <a:xfrm xmlns:a="http://schemas.openxmlformats.org/drawingml/2006/main">
            <a:off x="6324600" y="44386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1F229141-E124-4222-B5AD-D08F778C9F02}"/>
              </a:ext>
            </a:extLst>
          </p:cNvPr>
          <p:cNvSpPr>
            <a:spLocks xmlns:a="http://schemas.openxmlformats.org/drawingml/2006/main" noGrp="1"/>
          </p:cNvSpPr>
          <p:nvPr/>
        </p:nvSpPr>
        <p:spPr>
          <a:xfrm xmlns:a="http://schemas.openxmlformats.org/drawingml/2006/main">
            <a:off x="7010400" y="4457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0B1220"/>
                </a:solidFill>
                <a:latin typeface="Helvetica Neue"/>
                <a:ea typeface="Helvetica Neue"/>
                <a:cs typeface="Helvetica Neue"/>
              </a:defRPr>
            </a:pPr>
            <a:r>
              <a:rPr sz="1875" b="1">
                <a:solidFill>
                  <a:srgbClr val="0B1220"/>
                </a:solidFill>
                <a:latin typeface="Helvetica Neue"/>
                <a:ea typeface="Helvetica Neue"/>
                <a:cs typeface="Helvetica Neue"/>
              </a:rPr>
              <a:t>Beslissingen komen te laat</a:t>
            </a:r>
          </a:p>
        </p:txBody>
      </p:sp>
      <p:sp>
        <p:nvSpPr>
          <p:cNvPr id="20" name="">
            <a:extLst xmlns:a="http://schemas.openxmlformats.org/drawingml/2006/main">
              <a:ext uri="{FF2B5EF4-FFF2-40B4-BE49-F238E27FC236}">
                <a16:creationId xmlns:a16="http://schemas.microsoft.com/office/drawing/2014/main" id="{220D5FA4-079D-43BE-869F-5CEFB978E8AE}"/>
              </a:ext>
            </a:extLst>
          </p:cNvPr>
          <p:cNvSpPr>
            <a:spLocks xmlns:a="http://schemas.openxmlformats.org/drawingml/2006/main" noGrp="1"/>
          </p:cNvSpPr>
          <p:nvPr/>
        </p:nvSpPr>
        <p:spPr>
          <a:xfrm xmlns:a="http://schemas.openxmlformats.org/drawingml/2006/main">
            <a:off x="7010400" y="487680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De eigenaar ziet pas achteraf wat goed loopt en waar geld verloren gaat.</a:t>
            </a:r>
          </a:p>
        </p:txBody>
      </p:sp>
    </p:spTree>
    <p:extLst>
      <p:ext uri="{BB962C8B-B14F-4D97-AF65-F5344CB8AC3E}">
        <p14:creationId xmlns:p14="http://schemas.microsoft.com/office/powerpoint/2010/main" val="3404050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152D60F-1536-4CF8-BF06-FAB6B49C6DDC}"/>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DE OPLOSSING</a:t>
            </a:r>
          </a:p>
        </p:txBody>
      </p:sp>
      <p:sp>
        <p:nvSpPr>
          <p:cNvPr id="2" name="">
            <a:extLst xmlns:a="http://schemas.openxmlformats.org/drawingml/2006/main">
              <a:ext uri="{FF2B5EF4-FFF2-40B4-BE49-F238E27FC236}">
                <a16:creationId xmlns:a16="http://schemas.microsoft.com/office/drawing/2014/main" id="{9AD88B76-EE8C-4127-9834-C34CFFDCB5A5}"/>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Eén gedeelde basis — van verkoop tot totale kosten.</a:t>
            </a:r>
          </a:p>
        </p:txBody>
      </p:sp>
      <p:sp>
        <p:nvSpPr>
          <p:cNvPr id="3" name="">
            <a:extLst xmlns:a="http://schemas.openxmlformats.org/drawingml/2006/main">
              <a:ext uri="{FF2B5EF4-FFF2-40B4-BE49-F238E27FC236}">
                <a16:creationId xmlns:a16="http://schemas.microsoft.com/office/drawing/2014/main" id="{34E74774-AC51-4580-A42A-93E667AAEF4E}"/>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1D1CCC91-9DCB-4DF2-B1E5-DAF6170A8C0A}"/>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08C1854-F2B6-48E1-A6DD-85CF70345607}"/>
              </a:ext>
            </a:extLst>
          </p:cNvPr>
          <p:cNvSpPr>
            <a:spLocks xmlns:a="http://schemas.openxmlformats.org/drawingml/2006/main" noGrp="1"/>
          </p:cNvSpPr>
          <p:nvPr/>
        </p:nvSpPr>
        <p:spPr>
          <a:xfrm xmlns:a="http://schemas.openxmlformats.org/drawingml/2006/main">
            <a:off x="390525" y="1590675"/>
            <a:ext cx="6838950" cy="428625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616FC60A-3C6F-4F02-84D3-E1166CBB34B1}"/>
              </a:ext>
            </a:extLst>
          </p:cNvPr>
          <p:cNvSpPr>
            <a:spLocks xmlns:a="http://schemas.openxmlformats.org/drawingml/2006/main" noGrp="1"/>
          </p:cNvSpPr>
          <p:nvPr/>
        </p:nvSpPr>
        <p:spPr>
          <a:xfrm xmlns:a="http://schemas.openxmlformats.org/drawingml/2006/main">
            <a:off x="7753350" y="16573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675"/>
          </a:bodyPr>
          <a:lstStyle xmlns:a="http://schemas.openxmlformats.org/drawingml/2006/main"/>
          <a:p xmlns:a="http://schemas.openxmlformats.org/drawingml/2006/main">
            <a:pPr algn="l">
              <a:buNone/>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Alles werkt vanuit dezelfde gegevens</a:t>
            </a:r>
          </a:p>
        </p:txBody>
      </p:sp>
      <p:sp>
        <p:nvSpPr>
          <p:cNvPr id="8" name="">
            <a:extLst xmlns:a="http://schemas.openxmlformats.org/drawingml/2006/main">
              <a:ext uri="{FF2B5EF4-FFF2-40B4-BE49-F238E27FC236}">
                <a16:creationId xmlns:a16="http://schemas.microsoft.com/office/drawing/2014/main" id="{AA7FBD33-7724-40C0-8014-A25B7A20BE1F}"/>
              </a:ext>
            </a:extLst>
          </p:cNvPr>
          <p:cNvSpPr>
            <a:spLocks xmlns:a="http://schemas.openxmlformats.org/drawingml/2006/main" noGrp="1"/>
          </p:cNvSpPr>
          <p:nvPr/>
        </p:nvSpPr>
        <p:spPr>
          <a:xfrm xmlns:a="http://schemas.openxmlformats.org/drawingml/2006/main">
            <a:off x="7753350" y="27717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9DAD7E-7CB8-4E96-B3C4-3FFD3CA667E3}"/>
              </a:ext>
            </a:extLst>
          </p:cNvPr>
          <p:cNvSpPr>
            <a:spLocks xmlns:a="http://schemas.openxmlformats.org/drawingml/2006/main" noGrp="1"/>
          </p:cNvSpPr>
          <p:nvPr/>
        </p:nvSpPr>
        <p:spPr>
          <a:xfrm xmlns:a="http://schemas.openxmlformats.org/drawingml/2006/main">
            <a:off x="7753350" y="22479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Kassa</a:t>
            </a:r>
          </a:p>
        </p:txBody>
      </p:sp>
      <p:sp>
        <p:nvSpPr>
          <p:cNvPr id="10" name="">
            <a:extLst xmlns:a="http://schemas.openxmlformats.org/drawingml/2006/main">
              <a:ext uri="{FF2B5EF4-FFF2-40B4-BE49-F238E27FC236}">
                <a16:creationId xmlns:a16="http://schemas.microsoft.com/office/drawing/2014/main" id="{D9303796-38B4-4064-BF8F-6E85D71F0486}"/>
              </a:ext>
            </a:extLst>
          </p:cNvPr>
          <p:cNvSpPr>
            <a:spLocks xmlns:a="http://schemas.openxmlformats.org/drawingml/2006/main" noGrp="1"/>
          </p:cNvSpPr>
          <p:nvPr/>
        </p:nvSpPr>
        <p:spPr>
          <a:xfrm xmlns:a="http://schemas.openxmlformats.org/drawingml/2006/main">
            <a:off x="9010650" y="22479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Verkoop, betaling, retour en dagafsluiting</a:t>
            </a:r>
          </a:p>
        </p:txBody>
      </p:sp>
      <p:sp>
        <p:nvSpPr>
          <p:cNvPr id="11" name="">
            <a:extLst xmlns:a="http://schemas.openxmlformats.org/drawingml/2006/main">
              <a:ext uri="{FF2B5EF4-FFF2-40B4-BE49-F238E27FC236}">
                <a16:creationId xmlns:a16="http://schemas.microsoft.com/office/drawing/2014/main" id="{7768B5AC-8BCC-4887-8EC7-0C22B101151A}"/>
              </a:ext>
            </a:extLst>
          </p:cNvPr>
          <p:cNvSpPr>
            <a:spLocks xmlns:a="http://schemas.openxmlformats.org/drawingml/2006/main" noGrp="1"/>
          </p:cNvSpPr>
          <p:nvPr/>
        </p:nvSpPr>
        <p:spPr>
          <a:xfrm xmlns:a="http://schemas.openxmlformats.org/drawingml/2006/main">
            <a:off x="7753350" y="34575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AEBA62-5906-41C5-BEB1-048D2D79BF89}"/>
              </a:ext>
            </a:extLst>
          </p:cNvPr>
          <p:cNvSpPr>
            <a:spLocks xmlns:a="http://schemas.openxmlformats.org/drawingml/2006/main" noGrp="1"/>
          </p:cNvSpPr>
          <p:nvPr/>
        </p:nvSpPr>
        <p:spPr>
          <a:xfrm xmlns:a="http://schemas.openxmlformats.org/drawingml/2006/main">
            <a:off x="7753350" y="29337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Voorraad</a:t>
            </a:r>
          </a:p>
        </p:txBody>
      </p:sp>
      <p:sp>
        <p:nvSpPr>
          <p:cNvPr id="13" name="">
            <a:extLst xmlns:a="http://schemas.openxmlformats.org/drawingml/2006/main">
              <a:ext uri="{FF2B5EF4-FFF2-40B4-BE49-F238E27FC236}">
                <a16:creationId xmlns:a16="http://schemas.microsoft.com/office/drawing/2014/main" id="{F882E364-0D73-4134-8259-8208AB0958D4}"/>
              </a:ext>
            </a:extLst>
          </p:cNvPr>
          <p:cNvSpPr>
            <a:spLocks xmlns:a="http://schemas.openxmlformats.org/drawingml/2006/main" noGrp="1"/>
          </p:cNvSpPr>
          <p:nvPr/>
        </p:nvSpPr>
        <p:spPr>
          <a:xfrm xmlns:a="http://schemas.openxmlformats.org/drawingml/2006/main">
            <a:off x="9010650" y="29337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Producten, telling, voorraadprognose en inkoop</a:t>
            </a:r>
          </a:p>
        </p:txBody>
      </p:sp>
      <p:sp>
        <p:nvSpPr>
          <p:cNvPr id="14" name="">
            <a:extLst xmlns:a="http://schemas.openxmlformats.org/drawingml/2006/main">
              <a:ext uri="{FF2B5EF4-FFF2-40B4-BE49-F238E27FC236}">
                <a16:creationId xmlns:a16="http://schemas.microsoft.com/office/drawing/2014/main" id="{E8924B79-10BE-4F9D-9923-94B8786C5B87}"/>
              </a:ext>
            </a:extLst>
          </p:cNvPr>
          <p:cNvSpPr>
            <a:spLocks xmlns:a="http://schemas.openxmlformats.org/drawingml/2006/main" noGrp="1"/>
          </p:cNvSpPr>
          <p:nvPr/>
        </p:nvSpPr>
        <p:spPr>
          <a:xfrm xmlns:a="http://schemas.openxmlformats.org/drawingml/2006/main">
            <a:off x="7753350" y="41433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488FAA3-812D-46F6-9FA3-39AB35ED3FD7}"/>
              </a:ext>
            </a:extLst>
          </p:cNvPr>
          <p:cNvSpPr>
            <a:spLocks xmlns:a="http://schemas.openxmlformats.org/drawingml/2006/main" noGrp="1"/>
          </p:cNvSpPr>
          <p:nvPr/>
        </p:nvSpPr>
        <p:spPr>
          <a:xfrm xmlns:a="http://schemas.openxmlformats.org/drawingml/2006/main">
            <a:off x="7753350" y="36195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Klanten</a:t>
            </a:r>
          </a:p>
        </p:txBody>
      </p:sp>
      <p:sp>
        <p:nvSpPr>
          <p:cNvPr id="16" name="">
            <a:extLst xmlns:a="http://schemas.openxmlformats.org/drawingml/2006/main">
              <a:ext uri="{FF2B5EF4-FFF2-40B4-BE49-F238E27FC236}">
                <a16:creationId xmlns:a16="http://schemas.microsoft.com/office/drawing/2014/main" id="{49E641E6-3F4C-4F75-B90E-F2E31B4A10CA}"/>
              </a:ext>
            </a:extLst>
          </p:cNvPr>
          <p:cNvSpPr>
            <a:spLocks xmlns:a="http://schemas.openxmlformats.org/drawingml/2006/main" noGrp="1"/>
          </p:cNvSpPr>
          <p:nvPr/>
        </p:nvSpPr>
        <p:spPr>
          <a:xfrm xmlns:a="http://schemas.openxmlformats.org/drawingml/2006/main">
            <a:off x="9010650" y="36195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Historiek, loyaliteit en service</a:t>
            </a:r>
          </a:p>
        </p:txBody>
      </p:sp>
      <p:sp>
        <p:nvSpPr>
          <p:cNvPr id="17" name="">
            <a:extLst xmlns:a="http://schemas.openxmlformats.org/drawingml/2006/main">
              <a:ext uri="{FF2B5EF4-FFF2-40B4-BE49-F238E27FC236}">
                <a16:creationId xmlns:a16="http://schemas.microsoft.com/office/drawing/2014/main" id="{C5B9206E-81E8-40B0-97A2-45DEF2368335}"/>
              </a:ext>
            </a:extLst>
          </p:cNvPr>
          <p:cNvSpPr>
            <a:spLocks xmlns:a="http://schemas.openxmlformats.org/drawingml/2006/main" noGrp="1"/>
          </p:cNvSpPr>
          <p:nvPr/>
        </p:nvSpPr>
        <p:spPr>
          <a:xfrm xmlns:a="http://schemas.openxmlformats.org/drawingml/2006/main">
            <a:off x="7753350" y="48291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341A44-266F-4154-8EB3-8DCA863C9956}"/>
              </a:ext>
            </a:extLst>
          </p:cNvPr>
          <p:cNvSpPr>
            <a:spLocks xmlns:a="http://schemas.openxmlformats.org/drawingml/2006/main" noGrp="1"/>
          </p:cNvSpPr>
          <p:nvPr/>
        </p:nvSpPr>
        <p:spPr>
          <a:xfrm xmlns:a="http://schemas.openxmlformats.org/drawingml/2006/main">
            <a:off x="7753350" y="43053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Totale kosten</a:t>
            </a:r>
          </a:p>
        </p:txBody>
      </p:sp>
      <p:sp>
        <p:nvSpPr>
          <p:cNvPr id="19" name="">
            <a:extLst xmlns:a="http://schemas.openxmlformats.org/drawingml/2006/main">
              <a:ext uri="{FF2B5EF4-FFF2-40B4-BE49-F238E27FC236}">
                <a16:creationId xmlns:a16="http://schemas.microsoft.com/office/drawing/2014/main" id="{57069A0A-C2D5-4B0D-A69F-EA9690675385}"/>
              </a:ext>
            </a:extLst>
          </p:cNvPr>
          <p:cNvSpPr>
            <a:spLocks xmlns:a="http://schemas.openxmlformats.org/drawingml/2006/main" noGrp="1"/>
          </p:cNvSpPr>
          <p:nvPr/>
        </p:nvSpPr>
        <p:spPr>
          <a:xfrm xmlns:a="http://schemas.openxmlformats.org/drawingml/2006/main">
            <a:off x="9010650" y="43053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Vast, variabel en per categorie</a:t>
            </a:r>
          </a:p>
        </p:txBody>
      </p:sp>
      <p:sp>
        <p:nvSpPr>
          <p:cNvPr id="20" name="">
            <a:extLst xmlns:a="http://schemas.openxmlformats.org/drawingml/2006/main">
              <a:ext uri="{FF2B5EF4-FFF2-40B4-BE49-F238E27FC236}">
                <a16:creationId xmlns:a16="http://schemas.microsoft.com/office/drawing/2014/main" id="{6F2EF21C-288F-42DA-A15A-B468587055D9}"/>
              </a:ext>
            </a:extLst>
          </p:cNvPr>
          <p:cNvSpPr>
            <a:spLocks xmlns:a="http://schemas.openxmlformats.org/drawingml/2006/main" noGrp="1"/>
          </p:cNvSpPr>
          <p:nvPr/>
        </p:nvSpPr>
        <p:spPr>
          <a:xfrm xmlns:a="http://schemas.openxmlformats.org/drawingml/2006/main">
            <a:off x="7753350" y="5514975"/>
            <a:ext cx="365760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741061D-D901-43FC-9F33-F2F18A26520F}"/>
              </a:ext>
            </a:extLst>
          </p:cNvPr>
          <p:cNvSpPr>
            <a:spLocks xmlns:a="http://schemas.openxmlformats.org/drawingml/2006/main" noGrp="1"/>
          </p:cNvSpPr>
          <p:nvPr/>
        </p:nvSpPr>
        <p:spPr>
          <a:xfrm xmlns:a="http://schemas.openxmlformats.org/drawingml/2006/main">
            <a:off x="7753350" y="49911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PACE</a:t>
            </a:r>
          </a:p>
        </p:txBody>
      </p:sp>
      <p:sp>
        <p:nvSpPr>
          <p:cNvPr id="22" name="">
            <a:extLst xmlns:a="http://schemas.openxmlformats.org/drawingml/2006/main">
              <a:ext uri="{FF2B5EF4-FFF2-40B4-BE49-F238E27FC236}">
                <a16:creationId xmlns:a16="http://schemas.microsoft.com/office/drawing/2014/main" id="{5FD8F9E9-62CD-448A-8B8B-9A8A210EFF0C}"/>
              </a:ext>
            </a:extLst>
          </p:cNvPr>
          <p:cNvSpPr>
            <a:spLocks xmlns:a="http://schemas.openxmlformats.org/drawingml/2006/main" noGrp="1"/>
          </p:cNvSpPr>
          <p:nvPr/>
        </p:nvSpPr>
        <p:spPr>
          <a:xfrm xmlns:a="http://schemas.openxmlformats.org/drawingml/2006/main">
            <a:off x="9010650" y="49911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Legt uit, signaleert en begeleidt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121ebe585264334"/>
          <a:stretch xmlns:a="http://schemas.openxmlformats.org/drawingml/2006/main"/>
        </p:blipFill>
        <p:spPr>
          <a:xfrm xmlns:a="http://schemas.openxmlformats.org/drawingml/2006/main">
            <a:off x="400050" y="1815703"/>
            <a:ext cx="6819900" cy="3836194"/>
          </a:xfrm>
          <a:prstGeom xmlns:a="http://schemas.openxmlformats.org/drawingml/2006/main" prst="roundRect">
            <a:avLst/>
          </a:prstGeom>
        </p:spPr>
      </p:pic>
    </p:spTree>
    <p:extLst>
      <p:ext uri="{BB962C8B-B14F-4D97-AF65-F5344CB8AC3E}">
        <p14:creationId xmlns:p14="http://schemas.microsoft.com/office/powerpoint/2010/main" val="2285409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6C0876-F537-4D75-ADD9-191F61753A54}"/>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WAAROM EEN WINKEL OVERSTAPT</a:t>
            </a:r>
          </a:p>
        </p:txBody>
      </p:sp>
      <p:sp>
        <p:nvSpPr>
          <p:cNvPr id="2" name="">
            <a:extLst xmlns:a="http://schemas.openxmlformats.org/drawingml/2006/main">
              <a:ext uri="{FF2B5EF4-FFF2-40B4-BE49-F238E27FC236}">
                <a16:creationId xmlns:a16="http://schemas.microsoft.com/office/drawing/2014/main" id="{624E0BE0-17F1-4766-8DC8-76D24C64A6AA}"/>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Niet nog een losse kassa, maar één werkplek voor de hele winkel.</a:t>
            </a:r>
          </a:p>
        </p:txBody>
      </p:sp>
      <p:sp>
        <p:nvSpPr>
          <p:cNvPr id="3" name="">
            <a:extLst xmlns:a="http://schemas.openxmlformats.org/drawingml/2006/main">
              <a:ext uri="{FF2B5EF4-FFF2-40B4-BE49-F238E27FC236}">
                <a16:creationId xmlns:a16="http://schemas.microsoft.com/office/drawing/2014/main" id="{35EC0F52-42C7-4B3E-813C-CB47F048F88F}"/>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D6C4C518-5A8B-460A-93AD-895649017567}"/>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5192FEFE-568B-40D2-BFAC-B94F4F4B1A47}"/>
              </a:ext>
            </a:extLst>
          </p:cNvPr>
          <p:cNvSpPr>
            <a:spLocks xmlns:a="http://schemas.openxmlformats.org/drawingml/2006/main" noGrp="1"/>
          </p:cNvSpPr>
          <p:nvPr/>
        </p:nvSpPr>
        <p:spPr>
          <a:xfrm xmlns:a="http://schemas.openxmlformats.org/drawingml/2006/main">
            <a:off x="400050" y="161925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54"/>
          </a:bodyPr>
          <a:lstStyle xmlns:a="http://schemas.openxmlformats.org/drawingml/2006/main"/>
          <a:p xmlns:a="http://schemas.openxmlformats.org/drawingml/2006/main">
            <a:pPr algn="l">
              <a:buNone/>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Drie redenen die verder gaan dan alleen AI</a:t>
            </a:r>
          </a:p>
        </p:txBody>
      </p:sp>
      <p:sp>
        <p:nvSpPr>
          <p:cNvPr id="6" name="">
            <a:extLst xmlns:a="http://schemas.openxmlformats.org/drawingml/2006/main">
              <a:ext uri="{FF2B5EF4-FFF2-40B4-BE49-F238E27FC236}">
                <a16:creationId xmlns:a16="http://schemas.microsoft.com/office/drawing/2014/main" id="{EB4DBC72-D4CC-4AE7-9B10-3FF8853753BD}"/>
              </a:ext>
            </a:extLst>
          </p:cNvPr>
          <p:cNvSpPr>
            <a:spLocks xmlns:a="http://schemas.openxmlformats.org/drawingml/2006/main" noGrp="1"/>
          </p:cNvSpPr>
          <p:nvPr/>
        </p:nvSpPr>
        <p:spPr>
          <a:xfrm xmlns:a="http://schemas.openxmlformats.org/drawingml/2006/main">
            <a:off x="400050" y="2247900"/>
            <a:ext cx="3333750" cy="23812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89A5C61-0370-4C13-AE3D-4DCF24121943}"/>
              </a:ext>
            </a:extLst>
          </p:cNvPr>
          <p:cNvSpPr>
            <a:spLocks xmlns:a="http://schemas.openxmlformats.org/drawingml/2006/main" noGrp="1"/>
          </p:cNvSpPr>
          <p:nvPr/>
        </p:nvSpPr>
        <p:spPr>
          <a:xfrm xmlns:a="http://schemas.openxmlformats.org/drawingml/2006/main">
            <a:off x="6286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MINDER</a:t>
            </a:r>
          </a:p>
        </p:txBody>
      </p:sp>
      <p:sp>
        <p:nvSpPr>
          <p:cNvPr id="8" name="">
            <a:extLst xmlns:a="http://schemas.openxmlformats.org/drawingml/2006/main">
              <a:ext uri="{FF2B5EF4-FFF2-40B4-BE49-F238E27FC236}">
                <a16:creationId xmlns:a16="http://schemas.microsoft.com/office/drawing/2014/main" id="{3258C4B5-84D5-4FC5-832C-F5141A31FC3C}"/>
              </a:ext>
            </a:extLst>
          </p:cNvPr>
          <p:cNvSpPr>
            <a:spLocks xmlns:a="http://schemas.openxmlformats.org/drawingml/2006/main" noGrp="1"/>
          </p:cNvSpPr>
          <p:nvPr/>
        </p:nvSpPr>
        <p:spPr>
          <a:xfrm xmlns:a="http://schemas.openxmlformats.org/drawingml/2006/main">
            <a:off x="6286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Minder dubbel werk</a:t>
            </a:r>
          </a:p>
        </p:txBody>
      </p:sp>
      <p:sp>
        <p:nvSpPr>
          <p:cNvPr id="9" name="">
            <a:extLst xmlns:a="http://schemas.openxmlformats.org/drawingml/2006/main">
              <a:ext uri="{FF2B5EF4-FFF2-40B4-BE49-F238E27FC236}">
                <a16:creationId xmlns:a16="http://schemas.microsoft.com/office/drawing/2014/main" id="{1E5B677E-8494-48DF-873D-D170C8B0339D}"/>
              </a:ext>
            </a:extLst>
          </p:cNvPr>
          <p:cNvSpPr>
            <a:spLocks xmlns:a="http://schemas.openxmlformats.org/drawingml/2006/main" noGrp="1"/>
          </p:cNvSpPr>
          <p:nvPr/>
        </p:nvSpPr>
        <p:spPr>
          <a:xfrm xmlns:a="http://schemas.openxmlformats.org/drawingml/2006/main">
            <a:off x="6286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Product, klant, voorraad, webshop en kosten gebruiken dezelfde gegevens.</a:t>
            </a:r>
          </a:p>
        </p:txBody>
      </p:sp>
      <p:sp>
        <p:nvSpPr>
          <p:cNvPr id="10" name="">
            <a:extLst xmlns:a="http://schemas.openxmlformats.org/drawingml/2006/main">
              <a:ext uri="{FF2B5EF4-FFF2-40B4-BE49-F238E27FC236}">
                <a16:creationId xmlns:a16="http://schemas.microsoft.com/office/drawing/2014/main" id="{F387FF7A-51C8-4610-8BE7-216391BD3725}"/>
              </a:ext>
            </a:extLst>
          </p:cNvPr>
          <p:cNvSpPr>
            <a:spLocks xmlns:a="http://schemas.openxmlformats.org/drawingml/2006/main" noGrp="1"/>
          </p:cNvSpPr>
          <p:nvPr/>
        </p:nvSpPr>
        <p:spPr>
          <a:xfrm xmlns:a="http://schemas.openxmlformats.org/drawingml/2006/main">
            <a:off x="411480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3CAB9A3-AE1E-472A-95FC-084CDD0C51E1}"/>
              </a:ext>
            </a:extLst>
          </p:cNvPr>
          <p:cNvSpPr>
            <a:spLocks xmlns:a="http://schemas.openxmlformats.org/drawingml/2006/main" noGrp="1"/>
          </p:cNvSpPr>
          <p:nvPr/>
        </p:nvSpPr>
        <p:spPr>
          <a:xfrm xmlns:a="http://schemas.openxmlformats.org/drawingml/2006/main">
            <a:off x="434340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GELD</a:t>
            </a:r>
          </a:p>
        </p:txBody>
      </p:sp>
      <p:sp>
        <p:nvSpPr>
          <p:cNvPr id="12" name="">
            <a:extLst xmlns:a="http://schemas.openxmlformats.org/drawingml/2006/main">
              <a:ext uri="{FF2B5EF4-FFF2-40B4-BE49-F238E27FC236}">
                <a16:creationId xmlns:a16="http://schemas.microsoft.com/office/drawing/2014/main" id="{F092A347-0981-4429-990E-2E1AE6E2892F}"/>
              </a:ext>
            </a:extLst>
          </p:cNvPr>
          <p:cNvSpPr>
            <a:spLocks xmlns:a="http://schemas.openxmlformats.org/drawingml/2006/main" noGrp="1"/>
          </p:cNvSpPr>
          <p:nvPr/>
        </p:nvSpPr>
        <p:spPr>
          <a:xfrm xmlns:a="http://schemas.openxmlformats.org/drawingml/2006/main">
            <a:off x="434340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Zicht op de hele zaak</a:t>
            </a:r>
          </a:p>
        </p:txBody>
      </p:sp>
      <p:sp>
        <p:nvSpPr>
          <p:cNvPr id="13" name="">
            <a:extLst xmlns:a="http://schemas.openxmlformats.org/drawingml/2006/main">
              <a:ext uri="{FF2B5EF4-FFF2-40B4-BE49-F238E27FC236}">
                <a16:creationId xmlns:a16="http://schemas.microsoft.com/office/drawing/2014/main" id="{F57DF5E8-C82C-46D2-84CA-7CCC4347B751}"/>
              </a:ext>
            </a:extLst>
          </p:cNvPr>
          <p:cNvSpPr>
            <a:spLocks xmlns:a="http://schemas.openxmlformats.org/drawingml/2006/main" noGrp="1"/>
          </p:cNvSpPr>
          <p:nvPr/>
        </p:nvSpPr>
        <p:spPr>
          <a:xfrm xmlns:a="http://schemas.openxmlformats.org/drawingml/2006/main">
            <a:off x="434340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Niet alleen omzet: ook totale kosten, marges en break-even worden zichtbaar.</a:t>
            </a:r>
          </a:p>
        </p:txBody>
      </p:sp>
      <p:sp>
        <p:nvSpPr>
          <p:cNvPr id="14" name="">
            <a:extLst xmlns:a="http://schemas.openxmlformats.org/drawingml/2006/main">
              <a:ext uri="{FF2B5EF4-FFF2-40B4-BE49-F238E27FC236}">
                <a16:creationId xmlns:a16="http://schemas.microsoft.com/office/drawing/2014/main" id="{E1C866C4-4D67-4022-9009-E3BA5168BD2E}"/>
              </a:ext>
            </a:extLst>
          </p:cNvPr>
          <p:cNvSpPr>
            <a:spLocks xmlns:a="http://schemas.openxmlformats.org/drawingml/2006/main" noGrp="1"/>
          </p:cNvSpPr>
          <p:nvPr/>
        </p:nvSpPr>
        <p:spPr>
          <a:xfrm xmlns:a="http://schemas.openxmlformats.org/drawingml/2006/main">
            <a:off x="782955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36FB05-7224-4833-9ACF-0D99174B5937}"/>
              </a:ext>
            </a:extLst>
          </p:cNvPr>
          <p:cNvSpPr>
            <a:spLocks xmlns:a="http://schemas.openxmlformats.org/drawingml/2006/main" noGrp="1"/>
          </p:cNvSpPr>
          <p:nvPr/>
        </p:nvSpPr>
        <p:spPr>
          <a:xfrm xmlns:a="http://schemas.openxmlformats.org/drawingml/2006/main">
            <a:off x="80581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PACE</a:t>
            </a:r>
          </a:p>
        </p:txBody>
      </p:sp>
      <p:sp>
        <p:nvSpPr>
          <p:cNvPr id="16" name="">
            <a:extLst xmlns:a="http://schemas.openxmlformats.org/drawingml/2006/main">
              <a:ext uri="{FF2B5EF4-FFF2-40B4-BE49-F238E27FC236}">
                <a16:creationId xmlns:a16="http://schemas.microsoft.com/office/drawing/2014/main" id="{E4AFC472-51F0-4B6C-8C56-7CBC02B2A803}"/>
              </a:ext>
            </a:extLst>
          </p:cNvPr>
          <p:cNvSpPr>
            <a:spLocks xmlns:a="http://schemas.openxmlformats.org/drawingml/2006/main" noGrp="1"/>
          </p:cNvSpPr>
          <p:nvPr/>
        </p:nvSpPr>
        <p:spPr>
          <a:xfrm xmlns:a="http://schemas.openxmlformats.org/drawingml/2006/main">
            <a:off x="80581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Hulp in echte context</a:t>
            </a:r>
          </a:p>
        </p:txBody>
      </p:sp>
      <p:sp>
        <p:nvSpPr>
          <p:cNvPr id="17" name="">
            <a:extLst xmlns:a="http://schemas.openxmlformats.org/drawingml/2006/main">
              <a:ext uri="{FF2B5EF4-FFF2-40B4-BE49-F238E27FC236}">
                <a16:creationId xmlns:a16="http://schemas.microsoft.com/office/drawing/2014/main" id="{67838DFD-5CEE-4C6E-B429-1BEDEB9F2604}"/>
              </a:ext>
            </a:extLst>
          </p:cNvPr>
          <p:cNvSpPr>
            <a:spLocks xmlns:a="http://schemas.openxmlformats.org/drawingml/2006/main" noGrp="1"/>
          </p:cNvSpPr>
          <p:nvPr/>
        </p:nvSpPr>
        <p:spPr>
          <a:xfrm xmlns:a="http://schemas.openxmlformats.org/drawingml/2006/main">
            <a:off x="80581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PACE verklaart signalen en opent de juiste workflow. De winkelier beslist.</a:t>
            </a:r>
          </a:p>
        </p:txBody>
      </p:sp>
      <p:sp>
        <p:nvSpPr>
          <p:cNvPr id="18" name="">
            <a:extLst xmlns:a="http://schemas.openxmlformats.org/drawingml/2006/main">
              <a:ext uri="{FF2B5EF4-FFF2-40B4-BE49-F238E27FC236}">
                <a16:creationId xmlns:a16="http://schemas.microsoft.com/office/drawing/2014/main" id="{79257645-84E3-4303-972B-533B607B1779}"/>
              </a:ext>
            </a:extLst>
          </p:cNvPr>
          <p:cNvSpPr>
            <a:spLocks xmlns:a="http://schemas.openxmlformats.org/drawingml/2006/main" noGrp="1"/>
          </p:cNvSpPr>
          <p:nvPr/>
        </p:nvSpPr>
        <p:spPr>
          <a:xfrm xmlns:a="http://schemas.openxmlformats.org/drawingml/2006/main">
            <a:off x="400050" y="5067300"/>
            <a:ext cx="10763250" cy="6858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E4C72B-6E6C-4AF9-B6D3-1889DD72E933}"/>
              </a:ext>
            </a:extLst>
          </p:cNvPr>
          <p:cNvSpPr>
            <a:spLocks xmlns:a="http://schemas.openxmlformats.org/drawingml/2006/main" noGrp="1"/>
          </p:cNvSpPr>
          <p:nvPr/>
        </p:nvSpPr>
        <p:spPr>
          <a:xfrm xmlns:a="http://schemas.openxmlformats.org/drawingml/2006/main">
            <a:off x="647700" y="52768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Niet “AI als truc”: de combinatie van winkeldata, kosten en actie maakt het verschil.</a:t>
            </a:r>
          </a:p>
        </p:txBody>
      </p:sp>
    </p:spTree>
    <p:extLst>
      <p:ext uri="{BB962C8B-B14F-4D97-AF65-F5344CB8AC3E}">
        <p14:creationId xmlns:p14="http://schemas.microsoft.com/office/powerpoint/2010/main" val="19967090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152D60F-1536-4CF8-BF06-FAB6B49C6DDC}"/>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PACE</a:t>
            </a:r>
          </a:p>
        </p:txBody>
      </p:sp>
      <p:sp>
        <p:nvSpPr>
          <p:cNvPr id="2" name="">
            <a:extLst xmlns:a="http://schemas.openxmlformats.org/drawingml/2006/main">
              <a:ext uri="{FF2B5EF4-FFF2-40B4-BE49-F238E27FC236}">
                <a16:creationId xmlns:a16="http://schemas.microsoft.com/office/drawing/2014/main" id="{9AD88B76-EE8C-4127-9834-C34CFFDCB5A5}"/>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PACE maakt winkeldata begrijpelijk en bruikbaar.</a:t>
            </a:r>
          </a:p>
        </p:txBody>
      </p:sp>
      <p:sp>
        <p:nvSpPr>
          <p:cNvPr id="3" name="">
            <a:extLst xmlns:a="http://schemas.openxmlformats.org/drawingml/2006/main">
              <a:ext uri="{FF2B5EF4-FFF2-40B4-BE49-F238E27FC236}">
                <a16:creationId xmlns:a16="http://schemas.microsoft.com/office/drawing/2014/main" id="{34E74774-AC51-4580-A42A-93E667AAEF4E}"/>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1D1CCC91-9DCB-4DF2-B1E5-DAF6170A8C0A}"/>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E08C1854-F2B6-48E1-A6DD-85CF70345607}"/>
              </a:ext>
            </a:extLst>
          </p:cNvPr>
          <p:cNvSpPr>
            <a:spLocks xmlns:a="http://schemas.openxmlformats.org/drawingml/2006/main" noGrp="1"/>
          </p:cNvSpPr>
          <p:nvPr/>
        </p:nvSpPr>
        <p:spPr>
          <a:xfrm xmlns:a="http://schemas.openxmlformats.org/drawingml/2006/main">
            <a:off x="390525" y="1590675"/>
            <a:ext cx="6838950" cy="428625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616FC60A-3C6F-4F02-84D3-E1166CBB34B1}"/>
              </a:ext>
            </a:extLst>
          </p:cNvPr>
          <p:cNvSpPr>
            <a:spLocks xmlns:a="http://schemas.openxmlformats.org/drawingml/2006/main" noGrp="1"/>
          </p:cNvSpPr>
          <p:nvPr/>
        </p:nvSpPr>
        <p:spPr>
          <a:xfrm xmlns:a="http://schemas.openxmlformats.org/drawingml/2006/main">
            <a:off x="7753350" y="1657350"/>
            <a:ext cx="352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Wat PACE vandaag al doet</a:t>
            </a:r>
          </a:p>
        </p:txBody>
      </p:sp>
      <p:sp>
        <p:nvSpPr>
          <p:cNvPr id="8" name="">
            <a:extLst xmlns:a="http://schemas.openxmlformats.org/drawingml/2006/main">
              <a:ext uri="{FF2B5EF4-FFF2-40B4-BE49-F238E27FC236}">
                <a16:creationId xmlns:a16="http://schemas.microsoft.com/office/drawing/2014/main" id="{AA7FBD33-7724-40C0-8014-A25B7A20BE1F}"/>
              </a:ext>
            </a:extLst>
          </p:cNvPr>
          <p:cNvSpPr>
            <a:spLocks xmlns:a="http://schemas.openxmlformats.org/drawingml/2006/main" noGrp="1"/>
          </p:cNvSpPr>
          <p:nvPr/>
        </p:nvSpPr>
        <p:spPr>
          <a:xfrm xmlns:a="http://schemas.openxmlformats.org/drawingml/2006/main">
            <a:off x="7753350" y="27717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9DAD7E-7CB8-4E96-B3C4-3FFD3CA667E3}"/>
              </a:ext>
            </a:extLst>
          </p:cNvPr>
          <p:cNvSpPr>
            <a:spLocks xmlns:a="http://schemas.openxmlformats.org/drawingml/2006/main" noGrp="1"/>
          </p:cNvSpPr>
          <p:nvPr/>
        </p:nvSpPr>
        <p:spPr>
          <a:xfrm xmlns:a="http://schemas.openxmlformats.org/drawingml/2006/main">
            <a:off x="7753350" y="22479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Begrijpt</a:t>
            </a:r>
          </a:p>
        </p:txBody>
      </p:sp>
      <p:sp>
        <p:nvSpPr>
          <p:cNvPr id="10" name="">
            <a:extLst xmlns:a="http://schemas.openxmlformats.org/drawingml/2006/main">
              <a:ext uri="{FF2B5EF4-FFF2-40B4-BE49-F238E27FC236}">
                <a16:creationId xmlns:a16="http://schemas.microsoft.com/office/drawing/2014/main" id="{D9303796-38B4-4064-BF8F-6E85D71F0486}"/>
              </a:ext>
            </a:extLst>
          </p:cNvPr>
          <p:cNvSpPr>
            <a:spLocks xmlns:a="http://schemas.openxmlformats.org/drawingml/2006/main" noGrp="1"/>
          </p:cNvSpPr>
          <p:nvPr/>
        </p:nvSpPr>
        <p:spPr>
          <a:xfrm xmlns:a="http://schemas.openxmlformats.org/drawingml/2006/main">
            <a:off x="9010650" y="22479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Kent werkruimte, rol en actuele status</a:t>
            </a:r>
          </a:p>
        </p:txBody>
      </p:sp>
      <p:sp>
        <p:nvSpPr>
          <p:cNvPr id="11" name="">
            <a:extLst xmlns:a="http://schemas.openxmlformats.org/drawingml/2006/main">
              <a:ext uri="{FF2B5EF4-FFF2-40B4-BE49-F238E27FC236}">
                <a16:creationId xmlns:a16="http://schemas.microsoft.com/office/drawing/2014/main" id="{7768B5AC-8BCC-4887-8EC7-0C22B101151A}"/>
              </a:ext>
            </a:extLst>
          </p:cNvPr>
          <p:cNvSpPr>
            <a:spLocks xmlns:a="http://schemas.openxmlformats.org/drawingml/2006/main" noGrp="1"/>
          </p:cNvSpPr>
          <p:nvPr/>
        </p:nvSpPr>
        <p:spPr>
          <a:xfrm xmlns:a="http://schemas.openxmlformats.org/drawingml/2006/main">
            <a:off x="7753350" y="34575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AEBA62-5906-41C5-BEB1-048D2D79BF89}"/>
              </a:ext>
            </a:extLst>
          </p:cNvPr>
          <p:cNvSpPr>
            <a:spLocks xmlns:a="http://schemas.openxmlformats.org/drawingml/2006/main" noGrp="1"/>
          </p:cNvSpPr>
          <p:nvPr/>
        </p:nvSpPr>
        <p:spPr>
          <a:xfrm xmlns:a="http://schemas.openxmlformats.org/drawingml/2006/main">
            <a:off x="7753350" y="29337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Antwoordt</a:t>
            </a:r>
          </a:p>
        </p:txBody>
      </p:sp>
      <p:sp>
        <p:nvSpPr>
          <p:cNvPr id="13" name="">
            <a:extLst xmlns:a="http://schemas.openxmlformats.org/drawingml/2006/main">
              <a:ext uri="{FF2B5EF4-FFF2-40B4-BE49-F238E27FC236}">
                <a16:creationId xmlns:a16="http://schemas.microsoft.com/office/drawing/2014/main" id="{F882E364-0D73-4134-8259-8208AB0958D4}"/>
              </a:ext>
            </a:extLst>
          </p:cNvPr>
          <p:cNvSpPr>
            <a:spLocks xmlns:a="http://schemas.openxmlformats.org/drawingml/2006/main" noGrp="1"/>
          </p:cNvSpPr>
          <p:nvPr/>
        </p:nvSpPr>
        <p:spPr>
          <a:xfrm xmlns:a="http://schemas.openxmlformats.org/drawingml/2006/main">
            <a:off x="9010650" y="29337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Gebruikt productkennis en toegestane winkeldata</a:t>
            </a:r>
          </a:p>
        </p:txBody>
      </p:sp>
      <p:sp>
        <p:nvSpPr>
          <p:cNvPr id="14" name="">
            <a:extLst xmlns:a="http://schemas.openxmlformats.org/drawingml/2006/main">
              <a:ext uri="{FF2B5EF4-FFF2-40B4-BE49-F238E27FC236}">
                <a16:creationId xmlns:a16="http://schemas.microsoft.com/office/drawing/2014/main" id="{E8924B79-10BE-4F9D-9923-94B8786C5B87}"/>
              </a:ext>
            </a:extLst>
          </p:cNvPr>
          <p:cNvSpPr>
            <a:spLocks xmlns:a="http://schemas.openxmlformats.org/drawingml/2006/main" noGrp="1"/>
          </p:cNvSpPr>
          <p:nvPr/>
        </p:nvSpPr>
        <p:spPr>
          <a:xfrm xmlns:a="http://schemas.openxmlformats.org/drawingml/2006/main">
            <a:off x="7753350" y="41433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488FAA3-812D-46F6-9FA3-39AB35ED3FD7}"/>
              </a:ext>
            </a:extLst>
          </p:cNvPr>
          <p:cNvSpPr>
            <a:spLocks xmlns:a="http://schemas.openxmlformats.org/drawingml/2006/main" noGrp="1"/>
          </p:cNvSpPr>
          <p:nvPr/>
        </p:nvSpPr>
        <p:spPr>
          <a:xfrm xmlns:a="http://schemas.openxmlformats.org/drawingml/2006/main">
            <a:off x="7753350" y="36195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Signaleert</a:t>
            </a:r>
          </a:p>
        </p:txBody>
      </p:sp>
      <p:sp>
        <p:nvSpPr>
          <p:cNvPr id="16" name="">
            <a:extLst xmlns:a="http://schemas.openxmlformats.org/drawingml/2006/main">
              <a:ext uri="{FF2B5EF4-FFF2-40B4-BE49-F238E27FC236}">
                <a16:creationId xmlns:a16="http://schemas.microsoft.com/office/drawing/2014/main" id="{49E641E6-3F4C-4F75-B90E-F2E31B4A10CA}"/>
              </a:ext>
            </a:extLst>
          </p:cNvPr>
          <p:cNvSpPr>
            <a:spLocks xmlns:a="http://schemas.openxmlformats.org/drawingml/2006/main" noGrp="1"/>
          </p:cNvSpPr>
          <p:nvPr/>
        </p:nvSpPr>
        <p:spPr>
          <a:xfrm xmlns:a="http://schemas.openxmlformats.org/drawingml/2006/main">
            <a:off x="9010650" y="36195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Brengt belangrijke voorraad- en gegevensproblemen naar voren</a:t>
            </a:r>
          </a:p>
        </p:txBody>
      </p:sp>
      <p:sp>
        <p:nvSpPr>
          <p:cNvPr id="17" name="">
            <a:extLst xmlns:a="http://schemas.openxmlformats.org/drawingml/2006/main">
              <a:ext uri="{FF2B5EF4-FFF2-40B4-BE49-F238E27FC236}">
                <a16:creationId xmlns:a16="http://schemas.microsoft.com/office/drawing/2014/main" id="{C5B9206E-81E8-40B0-97A2-45DEF2368335}"/>
              </a:ext>
            </a:extLst>
          </p:cNvPr>
          <p:cNvSpPr>
            <a:spLocks xmlns:a="http://schemas.openxmlformats.org/drawingml/2006/main" noGrp="1"/>
          </p:cNvSpPr>
          <p:nvPr/>
        </p:nvSpPr>
        <p:spPr>
          <a:xfrm xmlns:a="http://schemas.openxmlformats.org/drawingml/2006/main">
            <a:off x="7753350" y="4829175"/>
            <a:ext cx="3657600"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341A44-266F-4154-8EB3-8DCA863C9956}"/>
              </a:ext>
            </a:extLst>
          </p:cNvPr>
          <p:cNvSpPr>
            <a:spLocks xmlns:a="http://schemas.openxmlformats.org/drawingml/2006/main" noGrp="1"/>
          </p:cNvSpPr>
          <p:nvPr/>
        </p:nvSpPr>
        <p:spPr>
          <a:xfrm xmlns:a="http://schemas.openxmlformats.org/drawingml/2006/main">
            <a:off x="7753350" y="43053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Begeleidt</a:t>
            </a:r>
          </a:p>
        </p:txBody>
      </p:sp>
      <p:sp>
        <p:nvSpPr>
          <p:cNvPr id="19" name="">
            <a:extLst xmlns:a="http://schemas.openxmlformats.org/drawingml/2006/main">
              <a:ext uri="{FF2B5EF4-FFF2-40B4-BE49-F238E27FC236}">
                <a16:creationId xmlns:a16="http://schemas.microsoft.com/office/drawing/2014/main" id="{57069A0A-C2D5-4B0D-A69F-EA9690675385}"/>
              </a:ext>
            </a:extLst>
          </p:cNvPr>
          <p:cNvSpPr>
            <a:spLocks xmlns:a="http://schemas.openxmlformats.org/drawingml/2006/main" noGrp="1"/>
          </p:cNvSpPr>
          <p:nvPr/>
        </p:nvSpPr>
        <p:spPr>
          <a:xfrm xmlns:a="http://schemas.openxmlformats.org/drawingml/2006/main">
            <a:off x="9010650" y="43053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Opent de juiste bestaande workflow</a:t>
            </a:r>
          </a:p>
        </p:txBody>
      </p:sp>
      <p:sp>
        <p:nvSpPr>
          <p:cNvPr id="20" name="">
            <a:extLst xmlns:a="http://schemas.openxmlformats.org/drawingml/2006/main">
              <a:ext uri="{FF2B5EF4-FFF2-40B4-BE49-F238E27FC236}">
                <a16:creationId xmlns:a16="http://schemas.microsoft.com/office/drawing/2014/main" id="{6F2EF21C-288F-42DA-A15A-B468587055D9}"/>
              </a:ext>
            </a:extLst>
          </p:cNvPr>
          <p:cNvSpPr>
            <a:spLocks xmlns:a="http://schemas.openxmlformats.org/drawingml/2006/main" noGrp="1"/>
          </p:cNvSpPr>
          <p:nvPr/>
        </p:nvSpPr>
        <p:spPr>
          <a:xfrm xmlns:a="http://schemas.openxmlformats.org/drawingml/2006/main">
            <a:off x="7753350" y="5514975"/>
            <a:ext cx="3657600" cy="95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741061D-D901-43FC-9F33-F2F18A26520F}"/>
              </a:ext>
            </a:extLst>
          </p:cNvPr>
          <p:cNvSpPr>
            <a:spLocks xmlns:a="http://schemas.openxmlformats.org/drawingml/2006/main" noGrp="1"/>
          </p:cNvSpPr>
          <p:nvPr/>
        </p:nvSpPr>
        <p:spPr>
          <a:xfrm xmlns:a="http://schemas.openxmlformats.org/drawingml/2006/main">
            <a:off x="7753350" y="4991100"/>
            <a:ext cx="1181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186F3"/>
                </a:solidFill>
                <a:latin typeface="Helvetica Neue"/>
                <a:ea typeface="Helvetica Neue"/>
                <a:cs typeface="Helvetica Neue"/>
              </a:defRPr>
            </a:pPr>
            <a:r>
              <a:rPr sz="1350" b="1">
                <a:solidFill>
                  <a:srgbClr val="2186F3"/>
                </a:solidFill>
                <a:latin typeface="Helvetica Neue"/>
                <a:ea typeface="Helvetica Neue"/>
                <a:cs typeface="Helvetica Neue"/>
              </a:rPr>
              <a:t>Veilig</a:t>
            </a:r>
          </a:p>
        </p:txBody>
      </p:sp>
      <p:sp>
        <p:nvSpPr>
          <p:cNvPr id="22" name="">
            <a:extLst xmlns:a="http://schemas.openxmlformats.org/drawingml/2006/main">
              <a:ext uri="{FF2B5EF4-FFF2-40B4-BE49-F238E27FC236}">
                <a16:creationId xmlns:a16="http://schemas.microsoft.com/office/drawing/2014/main" id="{5FD8F9E9-62CD-448A-8B8B-9A8A210EFF0C}"/>
              </a:ext>
            </a:extLst>
          </p:cNvPr>
          <p:cNvSpPr>
            <a:spLocks xmlns:a="http://schemas.openxmlformats.org/drawingml/2006/main" noGrp="1"/>
          </p:cNvSpPr>
          <p:nvPr/>
        </p:nvSpPr>
        <p:spPr>
          <a:xfrm xmlns:a="http://schemas.openxmlformats.org/drawingml/2006/main">
            <a:off x="9010650" y="49911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Voert geen definitieve betaling of beslissing zelf uit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d068ad75eac44177"/>
          <a:stretch xmlns:a="http://schemas.openxmlformats.org/drawingml/2006/main"/>
        </p:blipFill>
        <p:spPr>
          <a:xfrm xmlns:a="http://schemas.openxmlformats.org/drawingml/2006/main">
            <a:off x="400050" y="1815703"/>
            <a:ext cx="6819900" cy="3836194"/>
          </a:xfrm>
          <a:prstGeom xmlns:a="http://schemas.openxmlformats.org/drawingml/2006/main" prst="roundRect">
            <a:avLst/>
          </a:prstGeom>
        </p:spPr>
      </p:pic>
    </p:spTree>
    <p:extLst>
      <p:ext uri="{BB962C8B-B14F-4D97-AF65-F5344CB8AC3E}">
        <p14:creationId xmlns:p14="http://schemas.microsoft.com/office/powerpoint/2010/main" val="2285409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6C0876-F537-4D75-ADD9-191F61753A54}"/>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HUIDIGE STAND VAN ZAKEN</a:t>
            </a:r>
          </a:p>
        </p:txBody>
      </p:sp>
      <p:sp>
        <p:nvSpPr>
          <p:cNvPr id="2" name="">
            <a:extLst xmlns:a="http://schemas.openxmlformats.org/drawingml/2006/main">
              <a:ext uri="{FF2B5EF4-FFF2-40B4-BE49-F238E27FC236}">
                <a16:creationId xmlns:a16="http://schemas.microsoft.com/office/drawing/2014/main" id="{624E0BE0-17F1-4766-8DC8-76D24C64A6AA}"/>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Het product is gebouwd. Nu moeten winkels ervoor kiezen en betalen.</a:t>
            </a:r>
          </a:p>
        </p:txBody>
      </p:sp>
      <p:sp>
        <p:nvSpPr>
          <p:cNvPr id="3" name="">
            <a:extLst xmlns:a="http://schemas.openxmlformats.org/drawingml/2006/main">
              <a:ext uri="{FF2B5EF4-FFF2-40B4-BE49-F238E27FC236}">
                <a16:creationId xmlns:a16="http://schemas.microsoft.com/office/drawing/2014/main" id="{35EC0F52-42C7-4B3E-813C-CB47F048F88F}"/>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D6C4C518-5A8B-460A-93AD-895649017567}"/>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5192FEFE-568B-40D2-BFAC-B94F4F4B1A47}"/>
              </a:ext>
            </a:extLst>
          </p:cNvPr>
          <p:cNvSpPr>
            <a:spLocks xmlns:a="http://schemas.openxmlformats.org/drawingml/2006/main" noGrp="1"/>
          </p:cNvSpPr>
          <p:nvPr/>
        </p:nvSpPr>
        <p:spPr>
          <a:xfrm xmlns:a="http://schemas.openxmlformats.org/drawingml/2006/main">
            <a:off x="400050" y="161925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54"/>
          </a:bodyPr>
          <a:lstStyle xmlns:a="http://schemas.openxmlformats.org/drawingml/2006/main"/>
          <a:p xmlns:a="http://schemas.openxmlformats.org/drawingml/2006/main">
            <a:pPr algn="l">
              <a:buNone/>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Een eerlijk vertrekpunt</a:t>
            </a:r>
          </a:p>
        </p:txBody>
      </p:sp>
      <p:sp>
        <p:nvSpPr>
          <p:cNvPr id="6" name="">
            <a:extLst xmlns:a="http://schemas.openxmlformats.org/drawingml/2006/main">
              <a:ext uri="{FF2B5EF4-FFF2-40B4-BE49-F238E27FC236}">
                <a16:creationId xmlns:a16="http://schemas.microsoft.com/office/drawing/2014/main" id="{EB4DBC72-D4CC-4AE7-9B10-3FF8853753BD}"/>
              </a:ext>
            </a:extLst>
          </p:cNvPr>
          <p:cNvSpPr>
            <a:spLocks xmlns:a="http://schemas.openxmlformats.org/drawingml/2006/main" noGrp="1"/>
          </p:cNvSpPr>
          <p:nvPr/>
        </p:nvSpPr>
        <p:spPr>
          <a:xfrm xmlns:a="http://schemas.openxmlformats.org/drawingml/2006/main">
            <a:off x="400050" y="2247900"/>
            <a:ext cx="3333750" cy="23812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89A5C61-0370-4C13-AE3D-4DCF24121943}"/>
              </a:ext>
            </a:extLst>
          </p:cNvPr>
          <p:cNvSpPr>
            <a:spLocks xmlns:a="http://schemas.openxmlformats.org/drawingml/2006/main" noGrp="1"/>
          </p:cNvSpPr>
          <p:nvPr/>
        </p:nvSpPr>
        <p:spPr>
          <a:xfrm xmlns:a="http://schemas.openxmlformats.org/drawingml/2006/main">
            <a:off x="6286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PRODUCT</a:t>
            </a:r>
          </a:p>
        </p:txBody>
      </p:sp>
      <p:sp>
        <p:nvSpPr>
          <p:cNvPr id="8" name="">
            <a:extLst xmlns:a="http://schemas.openxmlformats.org/drawingml/2006/main">
              <a:ext uri="{FF2B5EF4-FFF2-40B4-BE49-F238E27FC236}">
                <a16:creationId xmlns:a16="http://schemas.microsoft.com/office/drawing/2014/main" id="{3258C4B5-84D5-4FC5-832C-F5141A31FC3C}"/>
              </a:ext>
            </a:extLst>
          </p:cNvPr>
          <p:cNvSpPr>
            <a:spLocks xmlns:a="http://schemas.openxmlformats.org/drawingml/2006/main" noGrp="1"/>
          </p:cNvSpPr>
          <p:nvPr/>
        </p:nvSpPr>
        <p:spPr>
          <a:xfrm xmlns:a="http://schemas.openxmlformats.org/drawingml/2006/main">
            <a:off x="6286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Kernflows zijn aanwezig</a:t>
            </a:r>
          </a:p>
        </p:txBody>
      </p:sp>
      <p:sp>
        <p:nvSpPr>
          <p:cNvPr id="9" name="">
            <a:extLst xmlns:a="http://schemas.openxmlformats.org/drawingml/2006/main">
              <a:ext uri="{FF2B5EF4-FFF2-40B4-BE49-F238E27FC236}">
                <a16:creationId xmlns:a16="http://schemas.microsoft.com/office/drawing/2014/main" id="{1E5B677E-8494-48DF-873D-D170C8B0339D}"/>
              </a:ext>
            </a:extLst>
          </p:cNvPr>
          <p:cNvSpPr>
            <a:spLocks xmlns:a="http://schemas.openxmlformats.org/drawingml/2006/main" noGrp="1"/>
          </p:cNvSpPr>
          <p:nvPr/>
        </p:nvSpPr>
        <p:spPr>
          <a:xfrm xmlns:a="http://schemas.openxmlformats.org/drawingml/2006/main">
            <a:off x="6286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Kassa, voorraad, klanten, webshop, totale kosten en rapportage zijn gebouwd.</a:t>
            </a:r>
          </a:p>
        </p:txBody>
      </p:sp>
      <p:sp>
        <p:nvSpPr>
          <p:cNvPr id="10" name="">
            <a:extLst xmlns:a="http://schemas.openxmlformats.org/drawingml/2006/main">
              <a:ext uri="{FF2B5EF4-FFF2-40B4-BE49-F238E27FC236}">
                <a16:creationId xmlns:a16="http://schemas.microsoft.com/office/drawing/2014/main" id="{F387FF7A-51C8-4610-8BE7-216391BD3725}"/>
              </a:ext>
            </a:extLst>
          </p:cNvPr>
          <p:cNvSpPr>
            <a:spLocks xmlns:a="http://schemas.openxmlformats.org/drawingml/2006/main" noGrp="1"/>
          </p:cNvSpPr>
          <p:nvPr/>
        </p:nvSpPr>
        <p:spPr>
          <a:xfrm xmlns:a="http://schemas.openxmlformats.org/drawingml/2006/main">
            <a:off x="411480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3CAB9A3-AE1E-472A-95FC-084CDD0C51E1}"/>
              </a:ext>
            </a:extLst>
          </p:cNvPr>
          <p:cNvSpPr>
            <a:spLocks xmlns:a="http://schemas.openxmlformats.org/drawingml/2006/main" noGrp="1"/>
          </p:cNvSpPr>
          <p:nvPr/>
        </p:nvSpPr>
        <p:spPr>
          <a:xfrm xmlns:a="http://schemas.openxmlformats.org/drawingml/2006/main">
            <a:off x="434340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PACE</a:t>
            </a:r>
          </a:p>
        </p:txBody>
      </p:sp>
      <p:sp>
        <p:nvSpPr>
          <p:cNvPr id="12" name="">
            <a:extLst xmlns:a="http://schemas.openxmlformats.org/drawingml/2006/main">
              <a:ext uri="{FF2B5EF4-FFF2-40B4-BE49-F238E27FC236}">
                <a16:creationId xmlns:a16="http://schemas.microsoft.com/office/drawing/2014/main" id="{F092A347-0981-4429-990E-2E1AE6E2892F}"/>
              </a:ext>
            </a:extLst>
          </p:cNvPr>
          <p:cNvSpPr>
            <a:spLocks xmlns:a="http://schemas.openxmlformats.org/drawingml/2006/main" noGrp="1"/>
          </p:cNvSpPr>
          <p:nvPr/>
        </p:nvSpPr>
        <p:spPr>
          <a:xfrm xmlns:a="http://schemas.openxmlformats.org/drawingml/2006/main">
            <a:off x="434340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Geïntegreerd en begrensd</a:t>
            </a:r>
          </a:p>
        </p:txBody>
      </p:sp>
      <p:sp>
        <p:nvSpPr>
          <p:cNvPr id="13" name="">
            <a:extLst xmlns:a="http://schemas.openxmlformats.org/drawingml/2006/main">
              <a:ext uri="{FF2B5EF4-FFF2-40B4-BE49-F238E27FC236}">
                <a16:creationId xmlns:a16="http://schemas.microsoft.com/office/drawing/2014/main" id="{F57DF5E8-C82C-46D2-84CA-7CCC4347B751}"/>
              </a:ext>
            </a:extLst>
          </p:cNvPr>
          <p:cNvSpPr>
            <a:spLocks xmlns:a="http://schemas.openxmlformats.org/drawingml/2006/main" noGrp="1"/>
          </p:cNvSpPr>
          <p:nvPr/>
        </p:nvSpPr>
        <p:spPr>
          <a:xfrm xmlns:a="http://schemas.openxmlformats.org/drawingml/2006/main">
            <a:off x="434340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Hulp vanuit de actieve winkel, vragen, signalen en veilige navigatie werken in het product.</a:t>
            </a:r>
          </a:p>
        </p:txBody>
      </p:sp>
      <p:sp>
        <p:nvSpPr>
          <p:cNvPr id="14" name="">
            <a:extLst xmlns:a="http://schemas.openxmlformats.org/drawingml/2006/main">
              <a:ext uri="{FF2B5EF4-FFF2-40B4-BE49-F238E27FC236}">
                <a16:creationId xmlns:a16="http://schemas.microsoft.com/office/drawing/2014/main" id="{E1C866C4-4D67-4022-9009-E3BA5168BD2E}"/>
              </a:ext>
            </a:extLst>
          </p:cNvPr>
          <p:cNvSpPr>
            <a:spLocks xmlns:a="http://schemas.openxmlformats.org/drawingml/2006/main" noGrp="1"/>
          </p:cNvSpPr>
          <p:nvPr/>
        </p:nvSpPr>
        <p:spPr>
          <a:xfrm xmlns:a="http://schemas.openxmlformats.org/drawingml/2006/main">
            <a:off x="782955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36FB05-7224-4833-9ACF-0D99174B5937}"/>
              </a:ext>
            </a:extLst>
          </p:cNvPr>
          <p:cNvSpPr>
            <a:spLocks xmlns:a="http://schemas.openxmlformats.org/drawingml/2006/main" noGrp="1"/>
          </p:cNvSpPr>
          <p:nvPr/>
        </p:nvSpPr>
        <p:spPr>
          <a:xfrm xmlns:a="http://schemas.openxmlformats.org/drawingml/2006/main">
            <a:off x="80581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GROEI</a:t>
            </a:r>
          </a:p>
        </p:txBody>
      </p:sp>
      <p:sp>
        <p:nvSpPr>
          <p:cNvPr id="16" name="">
            <a:extLst xmlns:a="http://schemas.openxmlformats.org/drawingml/2006/main">
              <a:ext uri="{FF2B5EF4-FFF2-40B4-BE49-F238E27FC236}">
                <a16:creationId xmlns:a16="http://schemas.microsoft.com/office/drawing/2014/main" id="{E4AFC472-51F0-4B6C-8C56-7CBC02B2A803}"/>
              </a:ext>
            </a:extLst>
          </p:cNvPr>
          <p:cNvSpPr>
            <a:spLocks xmlns:a="http://schemas.openxmlformats.org/drawingml/2006/main" noGrp="1"/>
          </p:cNvSpPr>
          <p:nvPr/>
        </p:nvSpPr>
        <p:spPr>
          <a:xfrm xmlns:a="http://schemas.openxmlformats.org/drawingml/2006/main">
            <a:off x="80581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Nog niet bewezen</a:t>
            </a:r>
          </a:p>
        </p:txBody>
      </p:sp>
      <p:sp>
        <p:nvSpPr>
          <p:cNvPr id="17" name="">
            <a:extLst xmlns:a="http://schemas.openxmlformats.org/drawingml/2006/main">
              <a:ext uri="{FF2B5EF4-FFF2-40B4-BE49-F238E27FC236}">
                <a16:creationId xmlns:a16="http://schemas.microsoft.com/office/drawing/2014/main" id="{67838DFD-5CEE-4C6E-B429-1BEDEB9F2604}"/>
              </a:ext>
            </a:extLst>
          </p:cNvPr>
          <p:cNvSpPr>
            <a:spLocks xmlns:a="http://schemas.openxmlformats.org/drawingml/2006/main" noGrp="1"/>
          </p:cNvSpPr>
          <p:nvPr/>
        </p:nvSpPr>
        <p:spPr>
          <a:xfrm xmlns:a="http://schemas.openxmlformats.org/drawingml/2006/main">
            <a:off x="80581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De volgende stap is betalende testwinkels winnen en het opstarten herhaalbaar maken.</a:t>
            </a:r>
          </a:p>
        </p:txBody>
      </p:sp>
      <p:sp>
        <p:nvSpPr>
          <p:cNvPr id="18" name="">
            <a:extLst xmlns:a="http://schemas.openxmlformats.org/drawingml/2006/main">
              <a:ext uri="{FF2B5EF4-FFF2-40B4-BE49-F238E27FC236}">
                <a16:creationId xmlns:a16="http://schemas.microsoft.com/office/drawing/2014/main" id="{79257645-84E3-4303-972B-533B607B1779}"/>
              </a:ext>
            </a:extLst>
          </p:cNvPr>
          <p:cNvSpPr>
            <a:spLocks xmlns:a="http://schemas.openxmlformats.org/drawingml/2006/main" noGrp="1"/>
          </p:cNvSpPr>
          <p:nvPr/>
        </p:nvSpPr>
        <p:spPr>
          <a:xfrm xmlns:a="http://schemas.openxmlformats.org/drawingml/2006/main">
            <a:off x="400050" y="5067300"/>
            <a:ext cx="10763250" cy="6858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E4C72B-6E6C-4AF9-B6D3-1889DD72E933}"/>
              </a:ext>
            </a:extLst>
          </p:cNvPr>
          <p:cNvSpPr>
            <a:spLocks xmlns:a="http://schemas.openxmlformats.org/drawingml/2006/main" noGrp="1"/>
          </p:cNvSpPr>
          <p:nvPr/>
        </p:nvSpPr>
        <p:spPr>
          <a:xfrm xmlns:a="http://schemas.openxmlformats.org/drawingml/2006/main">
            <a:off x="647700" y="52768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Het geld dient niet om een idee te testen, maar om betalende winkels te winnen.</a:t>
            </a:r>
          </a:p>
        </p:txBody>
      </p:sp>
    </p:spTree>
    <p:extLst>
      <p:ext uri="{BB962C8B-B14F-4D97-AF65-F5344CB8AC3E}">
        <p14:creationId xmlns:p14="http://schemas.microsoft.com/office/powerpoint/2010/main" val="19967090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70C5614-40D3-4BA4-9595-7C441BDE0326}"/>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BUSINESSMODEL</a:t>
            </a:r>
          </a:p>
        </p:txBody>
      </p:sp>
      <p:sp>
        <p:nvSpPr>
          <p:cNvPr id="2" name="">
            <a:extLst xmlns:a="http://schemas.openxmlformats.org/drawingml/2006/main">
              <a:ext uri="{FF2B5EF4-FFF2-40B4-BE49-F238E27FC236}">
                <a16:creationId xmlns:a16="http://schemas.microsoft.com/office/drawing/2014/main" id="{FF75BC59-0B70-431F-9D50-1FFDB228E762}"/>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Winkels betalen maandelijks naarmate PWAYMENT meer werk overneemt.</a:t>
            </a:r>
          </a:p>
        </p:txBody>
      </p:sp>
      <p:sp>
        <p:nvSpPr>
          <p:cNvPr id="3" name="">
            <a:extLst xmlns:a="http://schemas.openxmlformats.org/drawingml/2006/main">
              <a:ext uri="{FF2B5EF4-FFF2-40B4-BE49-F238E27FC236}">
                <a16:creationId xmlns:a16="http://schemas.microsoft.com/office/drawing/2014/main" id="{64CE55A7-6499-439F-956C-90DA3914F743}"/>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0DAB6E10-F614-4F40-A46C-92289BC59DFC}"/>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9903A6EE-C4BF-4B92-9997-961FB9077991}"/>
              </a:ext>
            </a:extLst>
          </p:cNvPr>
          <p:cNvSpPr>
            <a:spLocks xmlns:a="http://schemas.openxmlformats.org/drawingml/2006/main" noGrp="1"/>
          </p:cNvSpPr>
          <p:nvPr/>
        </p:nvSpPr>
        <p:spPr>
          <a:xfrm xmlns:a="http://schemas.openxmlformats.org/drawingml/2006/main">
            <a:off x="400050" y="1714500"/>
            <a:ext cx="3429000" cy="31242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345A1F-E0D2-439D-B879-24E7D5B49A1B}"/>
              </a:ext>
            </a:extLst>
          </p:cNvPr>
          <p:cNvSpPr>
            <a:spLocks xmlns:a="http://schemas.openxmlformats.org/drawingml/2006/main" noGrp="1"/>
          </p:cNvSpPr>
          <p:nvPr/>
        </p:nvSpPr>
        <p:spPr>
          <a:xfrm xmlns:a="http://schemas.openxmlformats.org/drawingml/2006/main">
            <a:off x="62865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LAAGDREMPELIG STARTEN</a:t>
            </a:r>
          </a:p>
        </p:txBody>
      </p:sp>
      <p:sp>
        <p:nvSpPr>
          <p:cNvPr id="7" name="">
            <a:extLst xmlns:a="http://schemas.openxmlformats.org/drawingml/2006/main">
              <a:ext uri="{FF2B5EF4-FFF2-40B4-BE49-F238E27FC236}">
                <a16:creationId xmlns:a16="http://schemas.microsoft.com/office/drawing/2014/main" id="{327A6D4D-F257-4AD7-BB0B-7B3F86136CD9}"/>
              </a:ext>
            </a:extLst>
          </p:cNvPr>
          <p:cNvSpPr>
            <a:spLocks xmlns:a="http://schemas.openxmlformats.org/drawingml/2006/main" noGrp="1"/>
          </p:cNvSpPr>
          <p:nvPr/>
        </p:nvSpPr>
        <p:spPr>
          <a:xfrm xmlns:a="http://schemas.openxmlformats.org/drawingml/2006/main">
            <a:off x="62865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Basis</a:t>
            </a:r>
          </a:p>
        </p:txBody>
      </p:sp>
      <p:sp>
        <p:nvSpPr>
          <p:cNvPr id="8" name="">
            <a:extLst xmlns:a="http://schemas.openxmlformats.org/drawingml/2006/main">
              <a:ext uri="{FF2B5EF4-FFF2-40B4-BE49-F238E27FC236}">
                <a16:creationId xmlns:a16="http://schemas.microsoft.com/office/drawing/2014/main" id="{3BF2D08C-F404-489E-8109-66DAC50A5EC7}"/>
              </a:ext>
            </a:extLst>
          </p:cNvPr>
          <p:cNvSpPr>
            <a:spLocks xmlns:a="http://schemas.openxmlformats.org/drawingml/2006/main" noGrp="1"/>
          </p:cNvSpPr>
          <p:nvPr/>
        </p:nvSpPr>
        <p:spPr>
          <a:xfrm xmlns:a="http://schemas.openxmlformats.org/drawingml/2006/main">
            <a:off x="62865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€ 0</a:t>
            </a:r>
          </a:p>
        </p:txBody>
      </p:sp>
      <p:sp>
        <p:nvSpPr>
          <p:cNvPr id="9" name="">
            <a:extLst xmlns:a="http://schemas.openxmlformats.org/drawingml/2006/main">
              <a:ext uri="{FF2B5EF4-FFF2-40B4-BE49-F238E27FC236}">
                <a16:creationId xmlns:a16="http://schemas.microsoft.com/office/drawing/2014/main" id="{D9455B74-F1F8-4E0B-B632-3A660C619352}"/>
              </a:ext>
            </a:extLst>
          </p:cNvPr>
          <p:cNvSpPr>
            <a:spLocks xmlns:a="http://schemas.openxmlformats.org/drawingml/2006/main" noGrp="1"/>
          </p:cNvSpPr>
          <p:nvPr/>
        </p:nvSpPr>
        <p:spPr>
          <a:xfrm xmlns:a="http://schemas.openxmlformats.org/drawingml/2006/main">
            <a:off x="62865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Voor een eerste winkel met basisfuncties en beperkt PACE-gebruik.</a:t>
            </a:r>
          </a:p>
        </p:txBody>
      </p:sp>
      <p:sp>
        <p:nvSpPr>
          <p:cNvPr id="10" name="">
            <a:extLst xmlns:a="http://schemas.openxmlformats.org/drawingml/2006/main">
              <a:ext uri="{FF2B5EF4-FFF2-40B4-BE49-F238E27FC236}">
                <a16:creationId xmlns:a16="http://schemas.microsoft.com/office/drawing/2014/main" id="{C8939162-986D-4D27-83CC-86D9C7B6D86C}"/>
              </a:ext>
            </a:extLst>
          </p:cNvPr>
          <p:cNvSpPr>
            <a:spLocks xmlns:a="http://schemas.openxmlformats.org/drawingml/2006/main" noGrp="1"/>
          </p:cNvSpPr>
          <p:nvPr/>
        </p:nvSpPr>
        <p:spPr>
          <a:xfrm xmlns:a="http://schemas.openxmlformats.org/drawingml/2006/main">
            <a:off x="4191000" y="1714500"/>
            <a:ext cx="3429000" cy="312420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171265-0ED8-4DE7-95EF-1C76AE7A9FC4}"/>
              </a:ext>
            </a:extLst>
          </p:cNvPr>
          <p:cNvSpPr>
            <a:spLocks xmlns:a="http://schemas.openxmlformats.org/drawingml/2006/main" noGrp="1"/>
          </p:cNvSpPr>
          <p:nvPr/>
        </p:nvSpPr>
        <p:spPr>
          <a:xfrm xmlns:a="http://schemas.openxmlformats.org/drawingml/2006/main">
            <a:off x="441960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BELANGRIJKSTE FORMULE</a:t>
            </a:r>
          </a:p>
        </p:txBody>
      </p:sp>
      <p:sp>
        <p:nvSpPr>
          <p:cNvPr id="12" name="">
            <a:extLst xmlns:a="http://schemas.openxmlformats.org/drawingml/2006/main">
              <a:ext uri="{FF2B5EF4-FFF2-40B4-BE49-F238E27FC236}">
                <a16:creationId xmlns:a16="http://schemas.microsoft.com/office/drawing/2014/main" id="{4A9D19AD-C129-400A-BBA5-83A21995E0C9}"/>
              </a:ext>
            </a:extLst>
          </p:cNvPr>
          <p:cNvSpPr>
            <a:spLocks xmlns:a="http://schemas.openxmlformats.org/drawingml/2006/main" noGrp="1"/>
          </p:cNvSpPr>
          <p:nvPr/>
        </p:nvSpPr>
        <p:spPr>
          <a:xfrm xmlns:a="http://schemas.openxmlformats.org/drawingml/2006/main">
            <a:off x="441960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Retail Professional</a:t>
            </a:r>
          </a:p>
        </p:txBody>
      </p:sp>
      <p:sp>
        <p:nvSpPr>
          <p:cNvPr id="13" name="">
            <a:extLst xmlns:a="http://schemas.openxmlformats.org/drawingml/2006/main">
              <a:ext uri="{FF2B5EF4-FFF2-40B4-BE49-F238E27FC236}">
                <a16:creationId xmlns:a16="http://schemas.microsoft.com/office/drawing/2014/main" id="{A13B17C5-2557-4253-AB46-77C10B4BA3A5}"/>
              </a:ext>
            </a:extLst>
          </p:cNvPr>
          <p:cNvSpPr>
            <a:spLocks xmlns:a="http://schemas.openxmlformats.org/drawingml/2006/main" noGrp="1"/>
          </p:cNvSpPr>
          <p:nvPr/>
        </p:nvSpPr>
        <p:spPr>
          <a:xfrm xmlns:a="http://schemas.openxmlformats.org/drawingml/2006/main">
            <a:off x="441960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€ 69 per maand</a:t>
            </a:r>
          </a:p>
        </p:txBody>
      </p:sp>
      <p:sp>
        <p:nvSpPr>
          <p:cNvPr id="14" name="">
            <a:extLst xmlns:a="http://schemas.openxmlformats.org/drawingml/2006/main">
              <a:ext uri="{FF2B5EF4-FFF2-40B4-BE49-F238E27FC236}">
                <a16:creationId xmlns:a16="http://schemas.microsoft.com/office/drawing/2014/main" id="{2A6CFBA3-8E89-4F1B-A031-93477547BC47}"/>
              </a:ext>
            </a:extLst>
          </p:cNvPr>
          <p:cNvSpPr>
            <a:spLocks xmlns:a="http://schemas.openxmlformats.org/drawingml/2006/main" noGrp="1"/>
          </p:cNvSpPr>
          <p:nvPr/>
        </p:nvSpPr>
        <p:spPr>
          <a:xfrm xmlns:a="http://schemas.openxmlformats.org/drawingml/2006/main">
            <a:off x="441960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Voor actieve winkels met voorraad, CRM, webshop en uitgebreide inzichten.</a:t>
            </a:r>
          </a:p>
        </p:txBody>
      </p:sp>
      <p:sp>
        <p:nvSpPr>
          <p:cNvPr id="15" name="">
            <a:extLst xmlns:a="http://schemas.openxmlformats.org/drawingml/2006/main">
              <a:ext uri="{FF2B5EF4-FFF2-40B4-BE49-F238E27FC236}">
                <a16:creationId xmlns:a16="http://schemas.microsoft.com/office/drawing/2014/main" id="{A5B78169-AA84-49F4-AD8A-9AEABF4854E9}"/>
              </a:ext>
            </a:extLst>
          </p:cNvPr>
          <p:cNvSpPr>
            <a:spLocks xmlns:a="http://schemas.openxmlformats.org/drawingml/2006/main" noGrp="1"/>
          </p:cNvSpPr>
          <p:nvPr/>
        </p:nvSpPr>
        <p:spPr>
          <a:xfrm xmlns:a="http://schemas.openxmlformats.org/drawingml/2006/main">
            <a:off x="7981950" y="1714500"/>
            <a:ext cx="3429000" cy="312420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9EF10DE-3E60-4D4D-A9B6-218656DBA8DA}"/>
              </a:ext>
            </a:extLst>
          </p:cNvPr>
          <p:cNvSpPr>
            <a:spLocks xmlns:a="http://schemas.openxmlformats.org/drawingml/2006/main" noGrp="1"/>
          </p:cNvSpPr>
          <p:nvPr/>
        </p:nvSpPr>
        <p:spPr>
          <a:xfrm xmlns:a="http://schemas.openxmlformats.org/drawingml/2006/main">
            <a:off x="8210550" y="19812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KETENS EN COMPLEXITEIT</a:t>
            </a:r>
          </a:p>
        </p:txBody>
      </p:sp>
      <p:sp>
        <p:nvSpPr>
          <p:cNvPr id="17" name="">
            <a:extLst xmlns:a="http://schemas.openxmlformats.org/drawingml/2006/main">
              <a:ext uri="{FF2B5EF4-FFF2-40B4-BE49-F238E27FC236}">
                <a16:creationId xmlns:a16="http://schemas.microsoft.com/office/drawing/2014/main" id="{8E64BA76-EEE8-4475-8FA2-108B00DEC3B5}"/>
              </a:ext>
            </a:extLst>
          </p:cNvPr>
          <p:cNvSpPr>
            <a:spLocks xmlns:a="http://schemas.openxmlformats.org/drawingml/2006/main" noGrp="1"/>
          </p:cNvSpPr>
          <p:nvPr/>
        </p:nvSpPr>
        <p:spPr>
          <a:xfrm xmlns:a="http://schemas.openxmlformats.org/drawingml/2006/main">
            <a:off x="8210550" y="24003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Enterprise</a:t>
            </a:r>
          </a:p>
        </p:txBody>
      </p:sp>
      <p:sp>
        <p:nvSpPr>
          <p:cNvPr id="18" name="">
            <a:extLst xmlns:a="http://schemas.openxmlformats.org/drawingml/2006/main">
              <a:ext uri="{FF2B5EF4-FFF2-40B4-BE49-F238E27FC236}">
                <a16:creationId xmlns:a16="http://schemas.microsoft.com/office/drawing/2014/main" id="{C2C42826-E707-459E-AF02-F79B3C206CED}"/>
              </a:ext>
            </a:extLst>
          </p:cNvPr>
          <p:cNvSpPr>
            <a:spLocks xmlns:a="http://schemas.openxmlformats.org/drawingml/2006/main" noGrp="1"/>
          </p:cNvSpPr>
          <p:nvPr/>
        </p:nvSpPr>
        <p:spPr>
          <a:xfrm xmlns:a="http://schemas.openxmlformats.org/drawingml/2006/main">
            <a:off x="8210550" y="3143250"/>
            <a:ext cx="295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314"/>
          </a:bodyPr>
          <a:lstStyle xmlns:a="http://schemas.openxmlformats.org/drawingml/2006/main"/>
          <a:p xmlns:a="http://schemas.openxmlformats.org/drawingml/2006/main">
            <a:pPr algn="l">
              <a:buNone/>
              <a:defRPr sz="2475" b="1">
                <a:solidFill>
                  <a:srgbClr val="0B1220"/>
                </a:solidFill>
                <a:latin typeface="Helvetica Neue"/>
                <a:ea typeface="Helvetica Neue"/>
                <a:cs typeface="Helvetica Neue"/>
              </a:defRPr>
            </a:pPr>
            <a:r>
              <a:rPr sz="2475" b="1">
                <a:solidFill>
                  <a:srgbClr val="0B1220"/>
                </a:solidFill>
                <a:latin typeface="Helvetica Neue"/>
                <a:ea typeface="Helvetica Neue"/>
                <a:cs typeface="Helvetica Neue"/>
              </a:rPr>
              <a:t>vanaf € 149 per maand</a:t>
            </a:r>
          </a:p>
        </p:txBody>
      </p:sp>
      <p:sp>
        <p:nvSpPr>
          <p:cNvPr id="19" name="">
            <a:extLst xmlns:a="http://schemas.openxmlformats.org/drawingml/2006/main">
              <a:ext uri="{FF2B5EF4-FFF2-40B4-BE49-F238E27FC236}">
                <a16:creationId xmlns:a16="http://schemas.microsoft.com/office/drawing/2014/main" id="{C83B84B6-FF7E-4EA3-B06F-726284B00B82}"/>
              </a:ext>
            </a:extLst>
          </p:cNvPr>
          <p:cNvSpPr>
            <a:spLocks xmlns:a="http://schemas.openxmlformats.org/drawingml/2006/main" noGrp="1"/>
          </p:cNvSpPr>
          <p:nvPr/>
        </p:nvSpPr>
        <p:spPr>
          <a:xfrm xmlns:a="http://schemas.openxmlformats.org/drawingml/2006/main">
            <a:off x="8210550" y="3867150"/>
            <a:ext cx="295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Voor meerdere locaties, teams, planning, API en extra ondersteuning.</a:t>
            </a:r>
          </a:p>
        </p:txBody>
      </p:sp>
      <p:sp>
        <p:nvSpPr>
          <p:cNvPr id="20" name="">
            <a:extLst xmlns:a="http://schemas.openxmlformats.org/drawingml/2006/main">
              <a:ext uri="{FF2B5EF4-FFF2-40B4-BE49-F238E27FC236}">
                <a16:creationId xmlns:a16="http://schemas.microsoft.com/office/drawing/2014/main" id="{7B8C73C3-677D-4B68-9A29-75BB233DAFAA}"/>
              </a:ext>
            </a:extLst>
          </p:cNvPr>
          <p:cNvSpPr>
            <a:spLocks xmlns:a="http://schemas.openxmlformats.org/drawingml/2006/main" noGrp="1"/>
          </p:cNvSpPr>
          <p:nvPr/>
        </p:nvSpPr>
        <p:spPr>
          <a:xfrm xmlns:a="http://schemas.openxmlformats.org/drawingml/2006/main">
            <a:off x="400050" y="52768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0B1220"/>
                </a:solidFill>
                <a:latin typeface="Helvetica Neue"/>
                <a:ea typeface="Helvetica Neue"/>
                <a:cs typeface="Helvetica Neue"/>
              </a:defRPr>
            </a:pPr>
            <a:r>
              <a:rPr sz="1500" b="1">
                <a:solidFill>
                  <a:srgbClr val="0B1220"/>
                </a:solidFill>
                <a:latin typeface="Helvetica Neue"/>
                <a:ea typeface="Helvetica Neue"/>
                <a:cs typeface="Helvetica Neue"/>
              </a:rPr>
              <a:t>Eerste bewijs</a:t>
            </a:r>
          </a:p>
        </p:txBody>
      </p:sp>
      <p:sp>
        <p:nvSpPr>
          <p:cNvPr id="21" name="">
            <a:extLst xmlns:a="http://schemas.openxmlformats.org/drawingml/2006/main">
              <a:ext uri="{FF2B5EF4-FFF2-40B4-BE49-F238E27FC236}">
                <a16:creationId xmlns:a16="http://schemas.microsoft.com/office/drawing/2014/main" id="{06817FEE-F4C4-4994-B762-F43256EA34B5}"/>
              </a:ext>
            </a:extLst>
          </p:cNvPr>
          <p:cNvSpPr>
            <a:spLocks xmlns:a="http://schemas.openxmlformats.org/drawingml/2006/main" noGrp="1"/>
          </p:cNvSpPr>
          <p:nvPr/>
        </p:nvSpPr>
        <p:spPr>
          <a:xfrm xmlns:a="http://schemas.openxmlformats.org/drawingml/2006/main">
            <a:off x="2571750" y="52768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a:solidFill>
                  <a:srgbClr val="5E6878"/>
                </a:solidFill>
                <a:latin typeface="Helvetica Neue"/>
                <a:ea typeface="Helvetica Neue"/>
                <a:cs typeface="Helvetica Neue"/>
              </a:defRPr>
            </a:pPr>
            <a:r>
              <a:rPr sz="1425">
                <a:solidFill>
                  <a:srgbClr val="5E6878"/>
                </a:solidFill>
                <a:latin typeface="Helvetica Neue"/>
                <a:ea typeface="Helvetica Neue"/>
                <a:cs typeface="Helvetica Neue"/>
              </a:rPr>
              <a:t>100 winkels × gemiddeld € 90 ≈ € 9.000 per maand. Eerste bewijs, niet het einddoel.</a:t>
            </a:r>
          </a:p>
        </p:txBody>
      </p:sp>
    </p:spTree>
    <p:extLst>
      <p:ext uri="{BB962C8B-B14F-4D97-AF65-F5344CB8AC3E}">
        <p14:creationId xmlns:p14="http://schemas.microsoft.com/office/powerpoint/2010/main" val="13249416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36C0876-F537-4D75-ADD9-191F61753A54}"/>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DE MARKT</a:t>
            </a:r>
          </a:p>
        </p:txBody>
      </p:sp>
      <p:sp>
        <p:nvSpPr>
          <p:cNvPr id="2" name="">
            <a:extLst xmlns:a="http://schemas.openxmlformats.org/drawingml/2006/main">
              <a:ext uri="{FF2B5EF4-FFF2-40B4-BE49-F238E27FC236}">
                <a16:creationId xmlns:a16="http://schemas.microsoft.com/office/drawing/2014/main" id="{624E0BE0-17F1-4766-8DC8-76D24C64A6AA}"/>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De markt is druk. Daarom beginnen we bewust smal.</a:t>
            </a:r>
          </a:p>
        </p:txBody>
      </p:sp>
      <p:sp>
        <p:nvSpPr>
          <p:cNvPr id="3" name="">
            <a:extLst xmlns:a="http://schemas.openxmlformats.org/drawingml/2006/main">
              <a:ext uri="{FF2B5EF4-FFF2-40B4-BE49-F238E27FC236}">
                <a16:creationId xmlns:a16="http://schemas.microsoft.com/office/drawing/2014/main" id="{35EC0F52-42C7-4B3E-813C-CB47F048F88F}"/>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D6C4C518-5A8B-460A-93AD-895649017567}"/>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5192FEFE-568B-40D2-BFAC-B94F4F4B1A47}"/>
              </a:ext>
            </a:extLst>
          </p:cNvPr>
          <p:cNvSpPr>
            <a:spLocks xmlns:a="http://schemas.openxmlformats.org/drawingml/2006/main" noGrp="1"/>
          </p:cNvSpPr>
          <p:nvPr/>
        </p:nvSpPr>
        <p:spPr>
          <a:xfrm xmlns:a="http://schemas.openxmlformats.org/drawingml/2006/main">
            <a:off x="400050" y="161925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54"/>
          </a:bodyPr>
          <a:lstStyle xmlns:a="http://schemas.openxmlformats.org/drawingml/2006/main"/>
          <a:p xmlns:a="http://schemas.openxmlformats.org/drawingml/2006/main">
            <a:pPr algn="l">
              <a:buNone/>
              <a:defRPr sz="1950" b="1">
                <a:solidFill>
                  <a:srgbClr val="0B1220"/>
                </a:solidFill>
                <a:latin typeface="Helvetica Neue"/>
                <a:ea typeface="Helvetica Neue"/>
                <a:cs typeface="Helvetica Neue"/>
              </a:defRPr>
            </a:pPr>
            <a:r>
              <a:rPr sz="1950" b="1">
                <a:solidFill>
                  <a:srgbClr val="0B1220"/>
                </a:solidFill>
                <a:latin typeface="Helvetica Neue"/>
                <a:ea typeface="Helvetica Neue"/>
                <a:cs typeface="Helvetica Neue"/>
              </a:rPr>
              <a:t>Eén duidelijke doelgroep vóór brede groei</a:t>
            </a:r>
          </a:p>
        </p:txBody>
      </p:sp>
      <p:sp>
        <p:nvSpPr>
          <p:cNvPr id="6" name="">
            <a:extLst xmlns:a="http://schemas.openxmlformats.org/drawingml/2006/main">
              <a:ext uri="{FF2B5EF4-FFF2-40B4-BE49-F238E27FC236}">
                <a16:creationId xmlns:a16="http://schemas.microsoft.com/office/drawing/2014/main" id="{EB4DBC72-D4CC-4AE7-9B10-3FF8853753BD}"/>
              </a:ext>
            </a:extLst>
          </p:cNvPr>
          <p:cNvSpPr>
            <a:spLocks xmlns:a="http://schemas.openxmlformats.org/drawingml/2006/main" noGrp="1"/>
          </p:cNvSpPr>
          <p:nvPr/>
        </p:nvSpPr>
        <p:spPr>
          <a:xfrm xmlns:a="http://schemas.openxmlformats.org/drawingml/2006/main">
            <a:off x="400050" y="2247900"/>
            <a:ext cx="3333750" cy="23812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89A5C61-0370-4C13-AE3D-4DCF24121943}"/>
              </a:ext>
            </a:extLst>
          </p:cNvPr>
          <p:cNvSpPr>
            <a:spLocks xmlns:a="http://schemas.openxmlformats.org/drawingml/2006/main" noGrp="1"/>
          </p:cNvSpPr>
          <p:nvPr/>
        </p:nvSpPr>
        <p:spPr>
          <a:xfrm xmlns:a="http://schemas.openxmlformats.org/drawingml/2006/main">
            <a:off x="6286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184k</a:t>
            </a:r>
          </a:p>
        </p:txBody>
      </p:sp>
      <p:sp>
        <p:nvSpPr>
          <p:cNvPr id="8" name="">
            <a:extLst xmlns:a="http://schemas.openxmlformats.org/drawingml/2006/main">
              <a:ext uri="{FF2B5EF4-FFF2-40B4-BE49-F238E27FC236}">
                <a16:creationId xmlns:a16="http://schemas.microsoft.com/office/drawing/2014/main" id="{3258C4B5-84D5-4FC5-832C-F5141A31FC3C}"/>
              </a:ext>
            </a:extLst>
          </p:cNvPr>
          <p:cNvSpPr>
            <a:spLocks xmlns:a="http://schemas.openxmlformats.org/drawingml/2006/main" noGrp="1"/>
          </p:cNvSpPr>
          <p:nvPr/>
        </p:nvSpPr>
        <p:spPr>
          <a:xfrm xmlns:a="http://schemas.openxmlformats.org/drawingml/2006/main">
            <a:off x="6286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Handelskmo’s in België</a:t>
            </a:r>
          </a:p>
        </p:txBody>
      </p:sp>
      <p:sp>
        <p:nvSpPr>
          <p:cNvPr id="9" name="">
            <a:extLst xmlns:a="http://schemas.openxmlformats.org/drawingml/2006/main">
              <a:ext uri="{FF2B5EF4-FFF2-40B4-BE49-F238E27FC236}">
                <a16:creationId xmlns:a16="http://schemas.microsoft.com/office/drawing/2014/main" id="{1E5B677E-8494-48DF-873D-D170C8B0339D}"/>
              </a:ext>
            </a:extLst>
          </p:cNvPr>
          <p:cNvSpPr>
            <a:spLocks xmlns:a="http://schemas.openxmlformats.org/drawingml/2006/main" noGrp="1"/>
          </p:cNvSpPr>
          <p:nvPr/>
        </p:nvSpPr>
        <p:spPr>
          <a:xfrm xmlns:a="http://schemas.openxmlformats.org/drawingml/2006/main">
            <a:off x="6286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Brede Belgische handelsmarkt; geen claim dat elke kmo klant wordt.</a:t>
            </a:r>
          </a:p>
        </p:txBody>
      </p:sp>
      <p:sp>
        <p:nvSpPr>
          <p:cNvPr id="10" name="">
            <a:extLst xmlns:a="http://schemas.openxmlformats.org/drawingml/2006/main">
              <a:ext uri="{FF2B5EF4-FFF2-40B4-BE49-F238E27FC236}">
                <a16:creationId xmlns:a16="http://schemas.microsoft.com/office/drawing/2014/main" id="{F387FF7A-51C8-4610-8BE7-216391BD3725}"/>
              </a:ext>
            </a:extLst>
          </p:cNvPr>
          <p:cNvSpPr>
            <a:spLocks xmlns:a="http://schemas.openxmlformats.org/drawingml/2006/main" noGrp="1"/>
          </p:cNvSpPr>
          <p:nvPr/>
        </p:nvSpPr>
        <p:spPr>
          <a:xfrm xmlns:a="http://schemas.openxmlformats.org/drawingml/2006/main">
            <a:off x="411480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3CAB9A3-AE1E-472A-95FC-084CDD0C51E1}"/>
              </a:ext>
            </a:extLst>
          </p:cNvPr>
          <p:cNvSpPr>
            <a:spLocks xmlns:a="http://schemas.openxmlformats.org/drawingml/2006/main" noGrp="1"/>
          </p:cNvSpPr>
          <p:nvPr/>
        </p:nvSpPr>
        <p:spPr>
          <a:xfrm xmlns:a="http://schemas.openxmlformats.org/drawingml/2006/main">
            <a:off x="434340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1–3</a:t>
            </a:r>
          </a:p>
        </p:txBody>
      </p:sp>
      <p:sp>
        <p:nvSpPr>
          <p:cNvPr id="12" name="">
            <a:extLst xmlns:a="http://schemas.openxmlformats.org/drawingml/2006/main">
              <a:ext uri="{FF2B5EF4-FFF2-40B4-BE49-F238E27FC236}">
                <a16:creationId xmlns:a16="http://schemas.microsoft.com/office/drawing/2014/main" id="{F092A347-0981-4429-990E-2E1AE6E2892F}"/>
              </a:ext>
            </a:extLst>
          </p:cNvPr>
          <p:cNvSpPr>
            <a:spLocks xmlns:a="http://schemas.openxmlformats.org/drawingml/2006/main" noGrp="1"/>
          </p:cNvSpPr>
          <p:nvPr/>
        </p:nvSpPr>
        <p:spPr>
          <a:xfrm xmlns:a="http://schemas.openxmlformats.org/drawingml/2006/main">
            <a:off x="434340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Kassa’s per eerste klant</a:t>
            </a:r>
          </a:p>
        </p:txBody>
      </p:sp>
      <p:sp>
        <p:nvSpPr>
          <p:cNvPr id="13" name="">
            <a:extLst xmlns:a="http://schemas.openxmlformats.org/drawingml/2006/main">
              <a:ext uri="{FF2B5EF4-FFF2-40B4-BE49-F238E27FC236}">
                <a16:creationId xmlns:a16="http://schemas.microsoft.com/office/drawing/2014/main" id="{F57DF5E8-C82C-46D2-84CA-7CCC4347B751}"/>
              </a:ext>
            </a:extLst>
          </p:cNvPr>
          <p:cNvSpPr>
            <a:spLocks xmlns:a="http://schemas.openxmlformats.org/drawingml/2006/main" noGrp="1"/>
          </p:cNvSpPr>
          <p:nvPr/>
        </p:nvSpPr>
        <p:spPr>
          <a:xfrm xmlns:a="http://schemas.openxmlformats.org/drawingml/2006/main">
            <a:off x="434340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Eerste klanten: zelfstandige speciaalzaken met een duidelijke eigenaar.</a:t>
            </a:r>
          </a:p>
        </p:txBody>
      </p:sp>
      <p:sp>
        <p:nvSpPr>
          <p:cNvPr id="14" name="">
            <a:extLst xmlns:a="http://schemas.openxmlformats.org/drawingml/2006/main">
              <a:ext uri="{FF2B5EF4-FFF2-40B4-BE49-F238E27FC236}">
                <a16:creationId xmlns:a16="http://schemas.microsoft.com/office/drawing/2014/main" id="{E1C866C4-4D67-4022-9009-E3BA5168BD2E}"/>
              </a:ext>
            </a:extLst>
          </p:cNvPr>
          <p:cNvSpPr>
            <a:spLocks xmlns:a="http://schemas.openxmlformats.org/drawingml/2006/main" noGrp="1"/>
          </p:cNvSpPr>
          <p:nvPr/>
        </p:nvSpPr>
        <p:spPr>
          <a:xfrm xmlns:a="http://schemas.openxmlformats.org/drawingml/2006/main">
            <a:off x="7829550" y="2247900"/>
            <a:ext cx="3333750" cy="23812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36FB05-7224-4833-9ACF-0D99174B5937}"/>
              </a:ext>
            </a:extLst>
          </p:cNvPr>
          <p:cNvSpPr>
            <a:spLocks xmlns:a="http://schemas.openxmlformats.org/drawingml/2006/main" noGrp="1"/>
          </p:cNvSpPr>
          <p:nvPr/>
        </p:nvSpPr>
        <p:spPr>
          <a:xfrm xmlns:a="http://schemas.openxmlformats.org/drawingml/2006/main">
            <a:off x="8058150" y="25336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9"/>
          </a:bodyPr>
          <a:lstStyle xmlns:a="http://schemas.openxmlformats.org/drawingml/2006/main"/>
          <a:p xmlns:a="http://schemas.openxmlformats.org/drawingml/2006/main">
            <a:pPr algn="l">
              <a:buNone/>
              <a:defRPr sz="4050" b="1">
                <a:solidFill>
                  <a:srgbClr val="2186F3"/>
                </a:solidFill>
                <a:latin typeface="Helvetica Neue"/>
                <a:ea typeface="Helvetica Neue"/>
                <a:cs typeface="Helvetica Neue"/>
              </a:defRPr>
            </a:pPr>
            <a:r>
              <a:rPr sz="4050" b="1">
                <a:solidFill>
                  <a:srgbClr val="2186F3"/>
                </a:solidFill>
                <a:latin typeface="Helvetica Neue"/>
                <a:ea typeface="Helvetica Neue"/>
                <a:cs typeface="Helvetica Neue"/>
              </a:rPr>
              <a:t>100</a:t>
            </a:r>
          </a:p>
        </p:txBody>
      </p:sp>
      <p:sp>
        <p:nvSpPr>
          <p:cNvPr id="16" name="">
            <a:extLst xmlns:a="http://schemas.openxmlformats.org/drawingml/2006/main">
              <a:ext uri="{FF2B5EF4-FFF2-40B4-BE49-F238E27FC236}">
                <a16:creationId xmlns:a16="http://schemas.microsoft.com/office/drawing/2014/main" id="{E4AFC472-51F0-4B6C-8C56-7CBC02B2A803}"/>
              </a:ext>
            </a:extLst>
          </p:cNvPr>
          <p:cNvSpPr>
            <a:spLocks xmlns:a="http://schemas.openxmlformats.org/drawingml/2006/main" noGrp="1"/>
          </p:cNvSpPr>
          <p:nvPr/>
        </p:nvSpPr>
        <p:spPr>
          <a:xfrm xmlns:a="http://schemas.openxmlformats.org/drawingml/2006/main">
            <a:off x="8058150" y="3257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0B1220"/>
                </a:solidFill>
                <a:latin typeface="Helvetica Neue"/>
                <a:ea typeface="Helvetica Neue"/>
                <a:cs typeface="Helvetica Neue"/>
              </a:defRPr>
            </a:pPr>
            <a:r>
              <a:rPr sz="1575" b="1">
                <a:solidFill>
                  <a:srgbClr val="0B1220"/>
                </a:solidFill>
                <a:latin typeface="Helvetica Neue"/>
                <a:ea typeface="Helvetica Neue"/>
                <a:cs typeface="Helvetica Neue"/>
              </a:rPr>
              <a:t>Betalende winkels</a:t>
            </a:r>
          </a:p>
        </p:txBody>
      </p:sp>
      <p:sp>
        <p:nvSpPr>
          <p:cNvPr id="17" name="">
            <a:extLst xmlns:a="http://schemas.openxmlformats.org/drawingml/2006/main">
              <a:ext uri="{FF2B5EF4-FFF2-40B4-BE49-F238E27FC236}">
                <a16:creationId xmlns:a16="http://schemas.microsoft.com/office/drawing/2014/main" id="{67838DFD-5CEE-4C6E-B429-1BEDEB9F2604}"/>
              </a:ext>
            </a:extLst>
          </p:cNvPr>
          <p:cNvSpPr>
            <a:spLocks xmlns:a="http://schemas.openxmlformats.org/drawingml/2006/main" noGrp="1"/>
          </p:cNvSpPr>
          <p:nvPr/>
        </p:nvSpPr>
        <p:spPr>
          <a:xfrm xmlns:a="http://schemas.openxmlformats.org/drawingml/2006/main">
            <a:off x="8058150" y="373380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a:solidFill>
                  <a:srgbClr val="5E6878"/>
                </a:solidFill>
                <a:latin typeface="Helvetica Neue"/>
                <a:ea typeface="Helvetica Neue"/>
                <a:cs typeface="Helvetica Neue"/>
              </a:defRPr>
            </a:pPr>
            <a:r>
              <a:rPr sz="1275">
                <a:solidFill>
                  <a:srgbClr val="5E6878"/>
                </a:solidFill>
                <a:latin typeface="Helvetica Neue"/>
                <a:ea typeface="Helvetica Neue"/>
                <a:cs typeface="Helvetica Neue"/>
              </a:rPr>
              <a:t>Dat is het commerciële doel voor de eerste 18 maanden, niet de hele markt.</a:t>
            </a:r>
          </a:p>
        </p:txBody>
      </p:sp>
      <p:sp>
        <p:nvSpPr>
          <p:cNvPr id="18" name="">
            <a:extLst xmlns:a="http://schemas.openxmlformats.org/drawingml/2006/main">
              <a:ext uri="{FF2B5EF4-FFF2-40B4-BE49-F238E27FC236}">
                <a16:creationId xmlns:a16="http://schemas.microsoft.com/office/drawing/2014/main" id="{79257645-84E3-4303-972B-533B607B1779}"/>
              </a:ext>
            </a:extLst>
          </p:cNvPr>
          <p:cNvSpPr>
            <a:spLocks xmlns:a="http://schemas.openxmlformats.org/drawingml/2006/main" noGrp="1"/>
          </p:cNvSpPr>
          <p:nvPr/>
        </p:nvSpPr>
        <p:spPr>
          <a:xfrm xmlns:a="http://schemas.openxmlformats.org/drawingml/2006/main">
            <a:off x="400050" y="5067300"/>
            <a:ext cx="10763250" cy="68580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E4C72B-6E6C-4AF9-B6D3-1889DD72E933}"/>
              </a:ext>
            </a:extLst>
          </p:cNvPr>
          <p:cNvSpPr>
            <a:spLocks xmlns:a="http://schemas.openxmlformats.org/drawingml/2006/main" noGrp="1"/>
          </p:cNvSpPr>
          <p:nvPr/>
        </p:nvSpPr>
        <p:spPr>
          <a:xfrm xmlns:a="http://schemas.openxmlformats.org/drawingml/2006/main">
            <a:off x="647700" y="52768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Eerste focus: elektronica, fiets, outdoor, fashion en vergelijkbare speciaalzaken.</a:t>
            </a:r>
          </a:p>
        </p:txBody>
      </p:sp>
    </p:spTree>
    <p:extLst>
      <p:ext uri="{BB962C8B-B14F-4D97-AF65-F5344CB8AC3E}">
        <p14:creationId xmlns:p14="http://schemas.microsoft.com/office/powerpoint/2010/main" val="19967090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6805D6F-3978-4130-B7DD-234697CC8277}"/>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GROEIPLAN</a:t>
            </a:r>
          </a:p>
        </p:txBody>
      </p:sp>
      <p:sp>
        <p:nvSpPr>
          <p:cNvPr id="2" name="">
            <a:extLst xmlns:a="http://schemas.openxmlformats.org/drawingml/2006/main">
              <a:ext uri="{FF2B5EF4-FFF2-40B4-BE49-F238E27FC236}">
                <a16:creationId xmlns:a16="http://schemas.microsoft.com/office/drawing/2014/main" id="{95A56584-39BF-48FD-BEBE-2568FB6A21E4}"/>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33"/>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In 18 maanden bewijzen we dat we winkels kunnen winnen en vlot opstarten.</a:t>
            </a:r>
          </a:p>
        </p:txBody>
      </p:sp>
      <p:sp>
        <p:nvSpPr>
          <p:cNvPr id="3" name="">
            <a:extLst xmlns:a="http://schemas.openxmlformats.org/drawingml/2006/main">
              <a:ext uri="{FF2B5EF4-FFF2-40B4-BE49-F238E27FC236}">
                <a16:creationId xmlns:a16="http://schemas.microsoft.com/office/drawing/2014/main" id="{4B165B9F-4123-4AE7-9239-B23B2AB7862F}"/>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C270234F-E2AF-4EA1-AE54-BEA9845FA7D2}"/>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8CF8F74A-2006-4946-A67C-3CC140FB7EE1}"/>
              </a:ext>
            </a:extLst>
          </p:cNvPr>
          <p:cNvSpPr>
            <a:spLocks xmlns:a="http://schemas.openxmlformats.org/drawingml/2006/main" noGrp="1"/>
          </p:cNvSpPr>
          <p:nvPr/>
        </p:nvSpPr>
        <p:spPr>
          <a:xfrm xmlns:a="http://schemas.openxmlformats.org/drawingml/2006/main">
            <a:off x="400050" y="3333750"/>
            <a:ext cx="11087100" cy="190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8F8655-A53E-436A-9988-64F91EB0C494}"/>
              </a:ext>
            </a:extLst>
          </p:cNvPr>
          <p:cNvSpPr>
            <a:spLocks xmlns:a="http://schemas.openxmlformats.org/drawingml/2006/main" noGrp="1"/>
          </p:cNvSpPr>
          <p:nvPr/>
        </p:nvSpPr>
        <p:spPr>
          <a:xfrm xmlns:a="http://schemas.openxmlformats.org/drawingml/2006/main">
            <a:off x="40005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Eerste 3 maanden</a:t>
            </a:r>
          </a:p>
        </p:txBody>
      </p:sp>
      <p:sp>
        <p:nvSpPr>
          <p:cNvPr id="7" name="">
            <a:extLst xmlns:a="http://schemas.openxmlformats.org/drawingml/2006/main">
              <a:ext uri="{FF2B5EF4-FFF2-40B4-BE49-F238E27FC236}">
                <a16:creationId xmlns:a16="http://schemas.microsoft.com/office/drawing/2014/main" id="{A9E2C9DA-CC25-4B06-AF6F-D14B27EF15F3}"/>
              </a:ext>
            </a:extLst>
          </p:cNvPr>
          <p:cNvSpPr>
            <a:spLocks xmlns:a="http://schemas.openxmlformats.org/drawingml/2006/main" noGrp="1"/>
          </p:cNvSpPr>
          <p:nvPr/>
        </p:nvSpPr>
        <p:spPr>
          <a:xfrm xmlns:a="http://schemas.openxmlformats.org/drawingml/2006/main">
            <a:off x="40005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022389-8268-40EE-B7B5-31234521E4B3}"/>
              </a:ext>
            </a:extLst>
          </p:cNvPr>
          <p:cNvSpPr>
            <a:spLocks xmlns:a="http://schemas.openxmlformats.org/drawingml/2006/main" noGrp="1"/>
          </p:cNvSpPr>
          <p:nvPr/>
        </p:nvSpPr>
        <p:spPr>
          <a:xfrm xmlns:a="http://schemas.openxmlformats.org/drawingml/2006/main">
            <a:off x="40005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Verkoopklaar</a:t>
            </a:r>
          </a:p>
        </p:txBody>
      </p:sp>
      <p:sp>
        <p:nvSpPr>
          <p:cNvPr id="9" name="">
            <a:extLst xmlns:a="http://schemas.openxmlformats.org/drawingml/2006/main">
              <a:ext uri="{FF2B5EF4-FFF2-40B4-BE49-F238E27FC236}">
                <a16:creationId xmlns:a16="http://schemas.microsoft.com/office/drawing/2014/main" id="{DF251CB0-7DF6-4580-8A89-A26D0BFC05BE}"/>
              </a:ext>
            </a:extLst>
          </p:cNvPr>
          <p:cNvSpPr>
            <a:spLocks xmlns:a="http://schemas.openxmlformats.org/drawingml/2006/main" noGrp="1"/>
          </p:cNvSpPr>
          <p:nvPr/>
        </p:nvSpPr>
        <p:spPr>
          <a:xfrm xmlns:a="http://schemas.openxmlformats.org/drawingml/2006/main">
            <a:off x="40005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Product aanscherpen</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5–10 testwinkels</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Opstartproces testen</a:t>
            </a:r>
          </a:p>
        </p:txBody>
      </p:sp>
      <p:sp>
        <p:nvSpPr>
          <p:cNvPr id="10" name="">
            <a:extLst xmlns:a="http://schemas.openxmlformats.org/drawingml/2006/main">
              <a:ext uri="{FF2B5EF4-FFF2-40B4-BE49-F238E27FC236}">
                <a16:creationId xmlns:a16="http://schemas.microsoft.com/office/drawing/2014/main" id="{911B0523-1BE4-43D4-9361-14F54769B707}"/>
              </a:ext>
            </a:extLst>
          </p:cNvPr>
          <p:cNvSpPr>
            <a:spLocks xmlns:a="http://schemas.openxmlformats.org/drawingml/2006/main" noGrp="1"/>
          </p:cNvSpPr>
          <p:nvPr/>
        </p:nvSpPr>
        <p:spPr>
          <a:xfrm xmlns:a="http://schemas.openxmlformats.org/drawingml/2006/main">
            <a:off x="400050" y="5257800"/>
            <a:ext cx="3333750" cy="400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FD382E8-74E2-4978-A219-6317D978D805}"/>
              </a:ext>
            </a:extLst>
          </p:cNvPr>
          <p:cNvSpPr>
            <a:spLocks xmlns:a="http://schemas.openxmlformats.org/drawingml/2006/main" noGrp="1"/>
          </p:cNvSpPr>
          <p:nvPr/>
        </p:nvSpPr>
        <p:spPr>
          <a:xfrm xmlns:a="http://schemas.openxmlformats.org/drawingml/2006/main">
            <a:off x="53340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B1220"/>
                </a:solidFill>
                <a:latin typeface="Helvetica Neue"/>
                <a:ea typeface="Helvetica Neue"/>
                <a:cs typeface="Helvetica Neue"/>
              </a:defRPr>
            </a:pPr>
            <a:r>
              <a:rPr sz="1050" b="1">
                <a:solidFill>
                  <a:srgbClr val="0B1220"/>
                </a:solidFill>
                <a:latin typeface="Helvetica Neue"/>
                <a:ea typeface="Helvetica Neue"/>
                <a:cs typeface="Helvetica Neue"/>
              </a:rPr>
              <a:t>Bewijs: een winkel kan vlot starten</a:t>
            </a:r>
          </a:p>
        </p:txBody>
      </p:sp>
      <p:sp>
        <p:nvSpPr>
          <p:cNvPr id="12" name="">
            <a:extLst xmlns:a="http://schemas.openxmlformats.org/drawingml/2006/main">
              <a:ext uri="{FF2B5EF4-FFF2-40B4-BE49-F238E27FC236}">
                <a16:creationId xmlns:a16="http://schemas.microsoft.com/office/drawing/2014/main" id="{A3B29128-0739-42E7-9D92-613C3C2DE2B3}"/>
              </a:ext>
            </a:extLst>
          </p:cNvPr>
          <p:cNvSpPr>
            <a:spLocks xmlns:a="http://schemas.openxmlformats.org/drawingml/2006/main" noGrp="1"/>
          </p:cNvSpPr>
          <p:nvPr/>
        </p:nvSpPr>
        <p:spPr>
          <a:xfrm xmlns:a="http://schemas.openxmlformats.org/drawingml/2006/main">
            <a:off x="422910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Maand 4 tot 9</a:t>
            </a:r>
          </a:p>
        </p:txBody>
      </p:sp>
      <p:sp>
        <p:nvSpPr>
          <p:cNvPr id="13" name="">
            <a:extLst xmlns:a="http://schemas.openxmlformats.org/drawingml/2006/main">
              <a:ext uri="{FF2B5EF4-FFF2-40B4-BE49-F238E27FC236}">
                <a16:creationId xmlns:a16="http://schemas.microsoft.com/office/drawing/2014/main" id="{EC0E4D5B-E602-4BD6-A108-0D8C935FDA26}"/>
              </a:ext>
            </a:extLst>
          </p:cNvPr>
          <p:cNvSpPr>
            <a:spLocks xmlns:a="http://schemas.openxmlformats.org/drawingml/2006/main" noGrp="1"/>
          </p:cNvSpPr>
          <p:nvPr/>
        </p:nvSpPr>
        <p:spPr>
          <a:xfrm xmlns:a="http://schemas.openxmlformats.org/drawingml/2006/main">
            <a:off x="422910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F4F8B2F-EC85-4EB8-B9FF-FC4E51D0F154}"/>
              </a:ext>
            </a:extLst>
          </p:cNvPr>
          <p:cNvSpPr>
            <a:spLocks xmlns:a="http://schemas.openxmlformats.org/drawingml/2006/main" noGrp="1"/>
          </p:cNvSpPr>
          <p:nvPr/>
        </p:nvSpPr>
        <p:spPr>
          <a:xfrm xmlns:a="http://schemas.openxmlformats.org/drawingml/2006/main">
            <a:off x="422910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Eerste groei</a:t>
            </a:r>
          </a:p>
        </p:txBody>
      </p:sp>
      <p:sp>
        <p:nvSpPr>
          <p:cNvPr id="15" name="">
            <a:extLst xmlns:a="http://schemas.openxmlformats.org/drawingml/2006/main">
              <a:ext uri="{FF2B5EF4-FFF2-40B4-BE49-F238E27FC236}">
                <a16:creationId xmlns:a16="http://schemas.microsoft.com/office/drawing/2014/main" id="{C375E11D-29D3-4F1D-8D7E-EA0E7FB6CE21}"/>
              </a:ext>
            </a:extLst>
          </p:cNvPr>
          <p:cNvSpPr>
            <a:spLocks xmlns:a="http://schemas.openxmlformats.org/drawingml/2006/main" noGrp="1"/>
          </p:cNvSpPr>
          <p:nvPr/>
        </p:nvSpPr>
        <p:spPr>
          <a:xfrm xmlns:a="http://schemas.openxmlformats.org/drawingml/2006/main">
            <a:off x="422910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30 betalende winkels</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Eerste succesverhalen</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Vaste verkoopaanpak</a:t>
            </a:r>
          </a:p>
        </p:txBody>
      </p:sp>
      <p:sp>
        <p:nvSpPr>
          <p:cNvPr id="16" name="">
            <a:extLst xmlns:a="http://schemas.openxmlformats.org/drawingml/2006/main">
              <a:ext uri="{FF2B5EF4-FFF2-40B4-BE49-F238E27FC236}">
                <a16:creationId xmlns:a16="http://schemas.microsoft.com/office/drawing/2014/main" id="{803B83DA-587F-4F81-813C-6A1FDFBAFFDB}"/>
              </a:ext>
            </a:extLst>
          </p:cNvPr>
          <p:cNvSpPr>
            <a:spLocks xmlns:a="http://schemas.openxmlformats.org/drawingml/2006/main" noGrp="1"/>
          </p:cNvSpPr>
          <p:nvPr/>
        </p:nvSpPr>
        <p:spPr>
          <a:xfrm xmlns:a="http://schemas.openxmlformats.org/drawingml/2006/main">
            <a:off x="4229100" y="5257800"/>
            <a:ext cx="3333750" cy="400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87C3B5A-E649-4C7F-AD50-9D69F155432D}"/>
              </a:ext>
            </a:extLst>
          </p:cNvPr>
          <p:cNvSpPr>
            <a:spLocks xmlns:a="http://schemas.openxmlformats.org/drawingml/2006/main" noGrp="1"/>
          </p:cNvSpPr>
          <p:nvPr/>
        </p:nvSpPr>
        <p:spPr>
          <a:xfrm xmlns:a="http://schemas.openxmlformats.org/drawingml/2006/main">
            <a:off x="436245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B1220"/>
                </a:solidFill>
                <a:latin typeface="Helvetica Neue"/>
                <a:ea typeface="Helvetica Neue"/>
                <a:cs typeface="Helvetica Neue"/>
              </a:defRPr>
            </a:pPr>
            <a:r>
              <a:rPr sz="1050" b="1">
                <a:solidFill>
                  <a:srgbClr val="0B1220"/>
                </a:solidFill>
                <a:latin typeface="Helvetica Neue"/>
                <a:ea typeface="Helvetica Neue"/>
                <a:cs typeface="Helvetica Neue"/>
              </a:rPr>
              <a:t>Bewijs: winkels betalen en blijven</a:t>
            </a:r>
          </a:p>
        </p:txBody>
      </p:sp>
      <p:sp>
        <p:nvSpPr>
          <p:cNvPr id="18" name="">
            <a:extLst xmlns:a="http://schemas.openxmlformats.org/drawingml/2006/main">
              <a:ext uri="{FF2B5EF4-FFF2-40B4-BE49-F238E27FC236}">
                <a16:creationId xmlns:a16="http://schemas.microsoft.com/office/drawing/2014/main" id="{6E515313-C8C9-427F-8C28-1FD144A54E5E}"/>
              </a:ext>
            </a:extLst>
          </p:cNvPr>
          <p:cNvSpPr>
            <a:spLocks xmlns:a="http://schemas.openxmlformats.org/drawingml/2006/main" noGrp="1"/>
          </p:cNvSpPr>
          <p:nvPr/>
        </p:nvSpPr>
        <p:spPr>
          <a:xfrm xmlns:a="http://schemas.openxmlformats.org/drawingml/2006/main">
            <a:off x="8058150" y="2419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186F3"/>
                </a:solidFill>
                <a:latin typeface="Helvetica Neue"/>
                <a:ea typeface="Helvetica Neue"/>
                <a:cs typeface="Helvetica Neue"/>
              </a:defRPr>
            </a:pPr>
            <a:r>
              <a:rPr sz="1425" b="1">
                <a:solidFill>
                  <a:srgbClr val="2186F3"/>
                </a:solidFill>
                <a:latin typeface="Helvetica Neue"/>
                <a:ea typeface="Helvetica Neue"/>
                <a:cs typeface="Helvetica Neue"/>
              </a:rPr>
              <a:t>Maand 10 tot 18</a:t>
            </a:r>
          </a:p>
        </p:txBody>
      </p:sp>
      <p:sp>
        <p:nvSpPr>
          <p:cNvPr id="19" name="">
            <a:extLst xmlns:a="http://schemas.openxmlformats.org/drawingml/2006/main">
              <a:ext uri="{FF2B5EF4-FFF2-40B4-BE49-F238E27FC236}">
                <a16:creationId xmlns:a16="http://schemas.microsoft.com/office/drawing/2014/main" id="{4E79422E-68DE-4AED-8E2C-7D324A8361FA}"/>
              </a:ext>
            </a:extLst>
          </p:cNvPr>
          <p:cNvSpPr>
            <a:spLocks xmlns:a="http://schemas.openxmlformats.org/drawingml/2006/main" noGrp="1"/>
          </p:cNvSpPr>
          <p:nvPr/>
        </p:nvSpPr>
        <p:spPr>
          <a:xfrm xmlns:a="http://schemas.openxmlformats.org/drawingml/2006/main">
            <a:off x="8058150" y="3276600"/>
            <a:ext cx="152400" cy="152400"/>
          </a:xfrm>
          <a:prstGeom xmlns:a="http://schemas.openxmlformats.org/drawingml/2006/main" prst="roundRect">
            <a:avLst>
              <a:gd name="adj" fmla="val 50000"/>
            </a:avLst>
          </a:prstGeom>
          <a:solidFill xmlns:a="http://schemas.openxmlformats.org/drawingml/2006/main">
            <a:srgbClr val="2186F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48F98FC-8139-4A49-A459-35289AF31A87}"/>
              </a:ext>
            </a:extLst>
          </p:cNvPr>
          <p:cNvSpPr>
            <a:spLocks xmlns:a="http://schemas.openxmlformats.org/drawingml/2006/main" noGrp="1"/>
          </p:cNvSpPr>
          <p:nvPr/>
        </p:nvSpPr>
        <p:spPr>
          <a:xfrm xmlns:a="http://schemas.openxmlformats.org/drawingml/2006/main">
            <a:off x="8058150" y="373380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a:solidFill>
                  <a:srgbClr val="0B1220"/>
                </a:solidFill>
                <a:latin typeface="Helvetica Neue"/>
                <a:ea typeface="Helvetica Neue"/>
                <a:cs typeface="Helvetica Neue"/>
              </a:defRPr>
            </a:pPr>
            <a:r>
              <a:rPr sz="2025" b="1">
                <a:solidFill>
                  <a:srgbClr val="0B1220"/>
                </a:solidFill>
                <a:latin typeface="Helvetica Neue"/>
                <a:ea typeface="Helvetica Neue"/>
                <a:cs typeface="Helvetica Neue"/>
              </a:rPr>
              <a:t>Klaar om groter te worden</a:t>
            </a:r>
          </a:p>
        </p:txBody>
      </p:sp>
      <p:sp>
        <p:nvSpPr>
          <p:cNvPr id="21" name="">
            <a:extLst xmlns:a="http://schemas.openxmlformats.org/drawingml/2006/main">
              <a:ext uri="{FF2B5EF4-FFF2-40B4-BE49-F238E27FC236}">
                <a16:creationId xmlns:a16="http://schemas.microsoft.com/office/drawing/2014/main" id="{32CD8062-3AE4-4166-8457-C67D9AF31838}"/>
              </a:ext>
            </a:extLst>
          </p:cNvPr>
          <p:cNvSpPr>
            <a:spLocks xmlns:a="http://schemas.openxmlformats.org/drawingml/2006/main" noGrp="1"/>
          </p:cNvSpPr>
          <p:nvPr/>
        </p:nvSpPr>
        <p:spPr>
          <a:xfrm xmlns:a="http://schemas.openxmlformats.org/drawingml/2006/main">
            <a:off x="8058150" y="426720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100 betalende winkels</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Partners brengen klanten</a:t>
            </a:r>
          </a:p>
          <a:p xmlns:a="http://schemas.openxmlformats.org/drawingml/2006/main">
            <a:pPr algn="l">
              <a:buNone/>
              <a:defRPr sz="1350">
                <a:solidFill>
                  <a:srgbClr val="5E6878"/>
                </a:solidFill>
                <a:latin typeface="Helvetica Neue"/>
                <a:ea typeface="Helvetica Neue"/>
                <a:cs typeface="Helvetica Neue"/>
              </a:defRPr>
            </a:pPr>
            <a:r>
              <a:rPr sz="1350">
                <a:solidFill>
                  <a:srgbClr val="5E6878"/>
                </a:solidFill>
                <a:latin typeface="Helvetica Neue"/>
                <a:ea typeface="Helvetica Neue"/>
                <a:cs typeface="Helvetica Neue"/>
              </a:rPr>
              <a:t>Snellere winkelopstart</a:t>
            </a:r>
          </a:p>
        </p:txBody>
      </p:sp>
      <p:sp>
        <p:nvSpPr>
          <p:cNvPr id="22" name="">
            <a:extLst xmlns:a="http://schemas.openxmlformats.org/drawingml/2006/main">
              <a:ext uri="{FF2B5EF4-FFF2-40B4-BE49-F238E27FC236}">
                <a16:creationId xmlns:a16="http://schemas.microsoft.com/office/drawing/2014/main" id="{60E36D0B-EAF7-494B-878A-71AE40242082}"/>
              </a:ext>
            </a:extLst>
          </p:cNvPr>
          <p:cNvSpPr>
            <a:spLocks xmlns:a="http://schemas.openxmlformats.org/drawingml/2006/main" noGrp="1"/>
          </p:cNvSpPr>
          <p:nvPr/>
        </p:nvSpPr>
        <p:spPr>
          <a:xfrm xmlns:a="http://schemas.openxmlformats.org/drawingml/2006/main">
            <a:off x="8058150" y="5257800"/>
            <a:ext cx="3333750" cy="400050"/>
          </a:xfrm>
          <a:prstGeom xmlns:a="http://schemas.openxmlformats.org/drawingml/2006/main" prst="rect">
            <a:avLst/>
          </a:prstGeom>
          <a:solidFill xmlns:a="http://schemas.openxmlformats.org/drawingml/2006/main">
            <a:srgbClr val="2186F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3813F8-BF9A-416E-BCE9-8CAFAC9FBD90}"/>
              </a:ext>
            </a:extLst>
          </p:cNvPr>
          <p:cNvSpPr>
            <a:spLocks xmlns:a="http://schemas.openxmlformats.org/drawingml/2006/main" noGrp="1"/>
          </p:cNvSpPr>
          <p:nvPr/>
        </p:nvSpPr>
        <p:spPr>
          <a:xfrm xmlns:a="http://schemas.openxmlformats.org/drawingml/2006/main">
            <a:off x="8191500" y="5381625"/>
            <a:ext cx="3067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Bewijs: groei zonder alles zelf te doen</a:t>
            </a:r>
          </a:p>
        </p:txBody>
      </p:sp>
    </p:spTree>
    <p:extLst>
      <p:ext uri="{BB962C8B-B14F-4D97-AF65-F5344CB8AC3E}">
        <p14:creationId xmlns:p14="http://schemas.microsoft.com/office/powerpoint/2010/main" val="2151308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4017EC9-8D62-4B87-B00B-770D82C9E0D1}"/>
              </a:ext>
            </a:extLst>
          </p:cNvPr>
          <p:cNvSpPr>
            <a:spLocks xmlns:a="http://schemas.openxmlformats.org/drawingml/2006/main" noGrp="1"/>
          </p:cNvSpPr>
          <p:nvPr/>
        </p:nvSpPr>
        <p:spPr>
          <a:xfrm xmlns:a="http://schemas.openxmlformats.org/drawingml/2006/main">
            <a:off x="400050" y="3238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00" b="1">
                <a:solidFill>
                  <a:srgbClr val="2186F3"/>
                </a:solidFill>
                <a:latin typeface="Helvetica Neue"/>
                <a:ea typeface="Helvetica Neue"/>
                <a:cs typeface="Helvetica Neue"/>
              </a:defRPr>
            </a:pPr>
            <a:r>
              <a:rPr sz="900" b="1">
                <a:solidFill>
                  <a:srgbClr val="2186F3"/>
                </a:solidFill>
                <a:latin typeface="Helvetica Neue"/>
                <a:ea typeface="Helvetica Neue"/>
                <a:cs typeface="Helvetica Neue"/>
              </a:rPr>
              <a:t>WAAR GAAT HET GELD NAARTOE?</a:t>
            </a:r>
          </a:p>
        </p:txBody>
      </p:sp>
      <p:sp>
        <p:nvSpPr>
          <p:cNvPr id="2" name="">
            <a:extLst xmlns:a="http://schemas.openxmlformats.org/drawingml/2006/main">
              <a:ext uri="{FF2B5EF4-FFF2-40B4-BE49-F238E27FC236}">
                <a16:creationId xmlns:a16="http://schemas.microsoft.com/office/drawing/2014/main" id="{E258843E-ED14-44C3-80B5-B687D1A5B055}"/>
              </a:ext>
            </a:extLst>
          </p:cNvPr>
          <p:cNvSpPr>
            <a:spLocks xmlns:a="http://schemas.openxmlformats.org/drawingml/2006/main" noGrp="1"/>
          </p:cNvSpPr>
          <p:nvPr/>
        </p:nvSpPr>
        <p:spPr>
          <a:xfrm xmlns:a="http://schemas.openxmlformats.org/drawingml/2006/main">
            <a:off x="400050" y="600075"/>
            <a:ext cx="113919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0B1220"/>
                </a:solidFill>
                <a:latin typeface="Helvetica Neue"/>
                <a:ea typeface="Helvetica Neue"/>
                <a:cs typeface="Helvetica Neue"/>
              </a:defRPr>
            </a:pPr>
            <a:r>
              <a:rPr sz="3000" b="1">
                <a:solidFill>
                  <a:srgbClr val="0B1220"/>
                </a:solidFill>
                <a:latin typeface="Helvetica Neue"/>
                <a:ea typeface="Helvetica Neue"/>
                <a:cs typeface="Helvetica Neue"/>
              </a:rPr>
              <a:t>€ 250.000 koopt 18 maanden om verkoop te bewijzen.</a:t>
            </a:r>
          </a:p>
        </p:txBody>
      </p:sp>
      <p:sp>
        <p:nvSpPr>
          <p:cNvPr id="3" name="">
            <a:extLst xmlns:a="http://schemas.openxmlformats.org/drawingml/2006/main">
              <a:ext uri="{FF2B5EF4-FFF2-40B4-BE49-F238E27FC236}">
                <a16:creationId xmlns:a16="http://schemas.microsoft.com/office/drawing/2014/main" id="{D605CA54-52BB-42E7-B052-008754DB7CD6}"/>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 · SEPTEMBER 2026</a:t>
            </a:r>
          </a:p>
        </p:txBody>
      </p:sp>
      <p:sp>
        <p:nvSpPr>
          <p:cNvPr id="4" name="">
            <a:extLst xmlns:a="http://schemas.openxmlformats.org/drawingml/2006/main">
              <a:ext uri="{FF2B5EF4-FFF2-40B4-BE49-F238E27FC236}">
                <a16:creationId xmlns:a16="http://schemas.microsoft.com/office/drawing/2014/main" id="{C2C5211F-C401-437E-8DF5-2254AD9B9E8B}"/>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10</a:t>
            </a:r>
          </a:p>
        </p:txBody>
      </p:sp>
      <p:graphicFrame>
        <p:nvGraphicFramePr>
          <p:cNvPr id="25" name="Chart"/>
          <p:cNvGraphicFramePr/>
          <p:nvPr/>
        </p:nvGraphicFramePr>
        <p:xfrm>
          <a:off xmlns:a="http://schemas.openxmlformats.org/drawingml/2006/main" x="400050" y="1581150"/>
          <a:ext xmlns:a="http://schemas.openxmlformats.org/drawingml/2006/main" cx="6191250" cy="4267200"/>
        </p:xfrm>
        <a:graphic xmlns:a="http://schemas.openxmlformats.org/drawingml/2006/main">
          <a:graphicData uri="http://schemas.openxmlformats.org/drawingml/2006/chart">
            <c:chart xmlns:r="http://schemas.openxmlformats.org/officeDocument/2006/relationships" xmlns:c="http://schemas.openxmlformats.org/drawingml/2006/chart" r:id="R7139c8df57184bad"/>
          </a:graphicData>
        </a:graphic>
      </p:graphicFrame>
      <p:sp>
        <p:nvSpPr>
          <p:cNvPr id="6" name="">
            <a:extLst xmlns:a="http://schemas.openxmlformats.org/drawingml/2006/main">
              <a:ext uri="{FF2B5EF4-FFF2-40B4-BE49-F238E27FC236}">
                <a16:creationId xmlns:a16="http://schemas.microsoft.com/office/drawing/2014/main" id="{ADBE69B1-EADD-4998-97AC-D3225DEB4643}"/>
              </a:ext>
            </a:extLst>
          </p:cNvPr>
          <p:cNvSpPr>
            <a:spLocks xmlns:a="http://schemas.openxmlformats.org/drawingml/2006/main" noGrp="1"/>
          </p:cNvSpPr>
          <p:nvPr/>
        </p:nvSpPr>
        <p:spPr>
          <a:xfrm xmlns:a="http://schemas.openxmlformats.org/drawingml/2006/main">
            <a:off x="7143750" y="1619250"/>
            <a:ext cx="4343400" cy="1162050"/>
          </a:xfrm>
          <a:prstGeom xmlns:a="http://schemas.openxmlformats.org/drawingml/2006/main" prst="rect">
            <a:avLst/>
          </a:prstGeom>
          <a:solidFill xmlns:a="http://schemas.openxmlformats.org/drawingml/2006/main">
            <a:srgbClr val="EAF6F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28059F-1B3E-4A21-AB4D-47CDFB1A3FD9}"/>
              </a:ext>
            </a:extLst>
          </p:cNvPr>
          <p:cNvSpPr>
            <a:spLocks xmlns:a="http://schemas.openxmlformats.org/drawingml/2006/main" noGrp="1"/>
          </p:cNvSpPr>
          <p:nvPr/>
        </p:nvSpPr>
        <p:spPr>
          <a:xfrm xmlns:a="http://schemas.openxmlformats.org/drawingml/2006/main">
            <a:off x="7372350" y="182880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€ 90k</a:t>
            </a:r>
          </a:p>
        </p:txBody>
      </p:sp>
      <p:sp>
        <p:nvSpPr>
          <p:cNvPr id="8" name="">
            <a:extLst xmlns:a="http://schemas.openxmlformats.org/drawingml/2006/main">
              <a:ext uri="{FF2B5EF4-FFF2-40B4-BE49-F238E27FC236}">
                <a16:creationId xmlns:a16="http://schemas.microsoft.com/office/drawing/2014/main" id="{DFCBF676-3F5D-4A50-8421-E01D7A4309DC}"/>
              </a:ext>
            </a:extLst>
          </p:cNvPr>
          <p:cNvSpPr>
            <a:spLocks xmlns:a="http://schemas.openxmlformats.org/drawingml/2006/main" noGrp="1"/>
          </p:cNvSpPr>
          <p:nvPr/>
        </p:nvSpPr>
        <p:spPr>
          <a:xfrm xmlns:a="http://schemas.openxmlformats.org/drawingml/2006/main">
            <a:off x="8515350" y="1809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Product</a:t>
            </a:r>
          </a:p>
        </p:txBody>
      </p:sp>
      <p:sp>
        <p:nvSpPr>
          <p:cNvPr id="9" name="">
            <a:extLst xmlns:a="http://schemas.openxmlformats.org/drawingml/2006/main">
              <a:ext uri="{FF2B5EF4-FFF2-40B4-BE49-F238E27FC236}">
                <a16:creationId xmlns:a16="http://schemas.microsoft.com/office/drawing/2014/main" id="{28865FFD-43EE-4881-8676-F700BE4D31C6}"/>
              </a:ext>
            </a:extLst>
          </p:cNvPr>
          <p:cNvSpPr>
            <a:spLocks xmlns:a="http://schemas.openxmlformats.org/drawingml/2006/main" noGrp="1"/>
          </p:cNvSpPr>
          <p:nvPr/>
        </p:nvSpPr>
        <p:spPr>
          <a:xfrm xmlns:a="http://schemas.openxmlformats.org/drawingml/2006/main">
            <a:off x="8515350" y="21717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Betrouwbaarheid, eenvoud, PACE en verkoopklare afwerking.</a:t>
            </a:r>
          </a:p>
        </p:txBody>
      </p:sp>
      <p:sp>
        <p:nvSpPr>
          <p:cNvPr id="10" name="">
            <a:extLst xmlns:a="http://schemas.openxmlformats.org/drawingml/2006/main">
              <a:ext uri="{FF2B5EF4-FFF2-40B4-BE49-F238E27FC236}">
                <a16:creationId xmlns:a16="http://schemas.microsoft.com/office/drawing/2014/main" id="{18F8482B-5729-4CC3-B440-B716A4A12B23}"/>
              </a:ext>
            </a:extLst>
          </p:cNvPr>
          <p:cNvSpPr>
            <a:spLocks xmlns:a="http://schemas.openxmlformats.org/drawingml/2006/main" noGrp="1"/>
          </p:cNvSpPr>
          <p:nvPr/>
        </p:nvSpPr>
        <p:spPr>
          <a:xfrm xmlns:a="http://schemas.openxmlformats.org/drawingml/2006/main">
            <a:off x="7143750" y="3009900"/>
            <a:ext cx="4343400" cy="1162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218D1F-EDDE-4469-A515-FF064DA12D79}"/>
              </a:ext>
            </a:extLst>
          </p:cNvPr>
          <p:cNvSpPr>
            <a:spLocks xmlns:a="http://schemas.openxmlformats.org/drawingml/2006/main" noGrp="1"/>
          </p:cNvSpPr>
          <p:nvPr/>
        </p:nvSpPr>
        <p:spPr>
          <a:xfrm xmlns:a="http://schemas.openxmlformats.org/drawingml/2006/main">
            <a:off x="7372350" y="321945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€ 60k</a:t>
            </a:r>
          </a:p>
        </p:txBody>
      </p:sp>
      <p:sp>
        <p:nvSpPr>
          <p:cNvPr id="12" name="">
            <a:extLst xmlns:a="http://schemas.openxmlformats.org/drawingml/2006/main">
              <a:ext uri="{FF2B5EF4-FFF2-40B4-BE49-F238E27FC236}">
                <a16:creationId xmlns:a16="http://schemas.microsoft.com/office/drawing/2014/main" id="{29C10BE2-DB99-45C0-B6D8-6666F7BEB0FB}"/>
              </a:ext>
            </a:extLst>
          </p:cNvPr>
          <p:cNvSpPr>
            <a:spLocks xmlns:a="http://schemas.openxmlformats.org/drawingml/2006/main" noGrp="1"/>
          </p:cNvSpPr>
          <p:nvPr/>
        </p:nvSpPr>
        <p:spPr>
          <a:xfrm xmlns:a="http://schemas.openxmlformats.org/drawingml/2006/main">
            <a:off x="8515350" y="32004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Verkoop</a:t>
            </a:r>
          </a:p>
        </p:txBody>
      </p:sp>
      <p:sp>
        <p:nvSpPr>
          <p:cNvPr id="13" name="">
            <a:extLst xmlns:a="http://schemas.openxmlformats.org/drawingml/2006/main">
              <a:ext uri="{FF2B5EF4-FFF2-40B4-BE49-F238E27FC236}">
                <a16:creationId xmlns:a16="http://schemas.microsoft.com/office/drawing/2014/main" id="{37206D11-9C90-459A-A506-0334C2AE156D}"/>
              </a:ext>
            </a:extLst>
          </p:cNvPr>
          <p:cNvSpPr>
            <a:spLocks xmlns:a="http://schemas.openxmlformats.org/drawingml/2006/main" noGrp="1"/>
          </p:cNvSpPr>
          <p:nvPr/>
        </p:nvSpPr>
        <p:spPr>
          <a:xfrm xmlns:a="http://schemas.openxmlformats.org/drawingml/2006/main">
            <a:off x="8515350" y="356235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Winkels bereiken, demo’s geven en de eerste klanten winnen.</a:t>
            </a:r>
          </a:p>
        </p:txBody>
      </p:sp>
      <p:sp>
        <p:nvSpPr>
          <p:cNvPr id="14" name="">
            <a:extLst xmlns:a="http://schemas.openxmlformats.org/drawingml/2006/main">
              <a:ext uri="{FF2B5EF4-FFF2-40B4-BE49-F238E27FC236}">
                <a16:creationId xmlns:a16="http://schemas.microsoft.com/office/drawing/2014/main" id="{1AD471E2-C96C-411D-938D-ED43683F2705}"/>
              </a:ext>
            </a:extLst>
          </p:cNvPr>
          <p:cNvSpPr>
            <a:spLocks xmlns:a="http://schemas.openxmlformats.org/drawingml/2006/main" noGrp="1"/>
          </p:cNvSpPr>
          <p:nvPr/>
        </p:nvSpPr>
        <p:spPr>
          <a:xfrm xmlns:a="http://schemas.openxmlformats.org/drawingml/2006/main">
            <a:off x="7143750" y="4400550"/>
            <a:ext cx="4343400" cy="1162050"/>
          </a:xfrm>
          <a:prstGeom xmlns:a="http://schemas.openxmlformats.org/drawingml/2006/main" prst="rect">
            <a:avLst/>
          </a:prstGeom>
          <a:solidFill xmlns:a="http://schemas.openxmlformats.org/drawingml/2006/main">
            <a:srgbClr val="EDEF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1B8B20C-4D65-4D40-92FD-8BDA141E6F23}"/>
              </a:ext>
            </a:extLst>
          </p:cNvPr>
          <p:cNvSpPr>
            <a:spLocks xmlns:a="http://schemas.openxmlformats.org/drawingml/2006/main" noGrp="1"/>
          </p:cNvSpPr>
          <p:nvPr/>
        </p:nvSpPr>
        <p:spPr>
          <a:xfrm xmlns:a="http://schemas.openxmlformats.org/drawingml/2006/main">
            <a:off x="7372350" y="461010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a:solidFill>
                  <a:srgbClr val="2186F3"/>
                </a:solidFill>
                <a:latin typeface="Helvetica Neue"/>
                <a:ea typeface="Helvetica Neue"/>
                <a:cs typeface="Helvetica Neue"/>
              </a:defRPr>
            </a:pPr>
            <a:r>
              <a:rPr sz="2550" b="1">
                <a:solidFill>
                  <a:srgbClr val="2186F3"/>
                </a:solidFill>
                <a:latin typeface="Helvetica Neue"/>
                <a:ea typeface="Helvetica Neue"/>
                <a:cs typeface="Helvetica Neue"/>
              </a:rPr>
              <a:t>€ 20k</a:t>
            </a:r>
          </a:p>
        </p:txBody>
      </p:sp>
      <p:sp>
        <p:nvSpPr>
          <p:cNvPr id="16" name="">
            <a:extLst xmlns:a="http://schemas.openxmlformats.org/drawingml/2006/main">
              <a:ext uri="{FF2B5EF4-FFF2-40B4-BE49-F238E27FC236}">
                <a16:creationId xmlns:a16="http://schemas.microsoft.com/office/drawing/2014/main" id="{BD5939F1-939A-4BA2-944E-713535F46E12}"/>
              </a:ext>
            </a:extLst>
          </p:cNvPr>
          <p:cNvSpPr>
            <a:spLocks xmlns:a="http://schemas.openxmlformats.org/drawingml/2006/main" noGrp="1"/>
          </p:cNvSpPr>
          <p:nvPr/>
        </p:nvSpPr>
        <p:spPr>
          <a:xfrm xmlns:a="http://schemas.openxmlformats.org/drawingml/2006/main">
            <a:off x="8515350" y="45910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Buffer</a:t>
            </a:r>
          </a:p>
        </p:txBody>
      </p:sp>
      <p:sp>
        <p:nvSpPr>
          <p:cNvPr id="17" name="">
            <a:extLst xmlns:a="http://schemas.openxmlformats.org/drawingml/2006/main">
              <a:ext uri="{FF2B5EF4-FFF2-40B4-BE49-F238E27FC236}">
                <a16:creationId xmlns:a16="http://schemas.microsoft.com/office/drawing/2014/main" id="{D3345096-7B3D-4927-A02D-B61346281BDF}"/>
              </a:ext>
            </a:extLst>
          </p:cNvPr>
          <p:cNvSpPr>
            <a:spLocks xmlns:a="http://schemas.openxmlformats.org/drawingml/2006/main" noGrp="1"/>
          </p:cNvSpPr>
          <p:nvPr/>
        </p:nvSpPr>
        <p:spPr>
          <a:xfrm xmlns:a="http://schemas.openxmlformats.org/drawingml/2006/main">
            <a:off x="8515350" y="4953000"/>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a:solidFill>
                  <a:srgbClr val="5E6878"/>
                </a:solidFill>
                <a:latin typeface="Helvetica Neue"/>
                <a:ea typeface="Helvetica Neue"/>
                <a:cs typeface="Helvetica Neue"/>
              </a:defRPr>
            </a:pPr>
            <a:r>
              <a:rPr sz="1125">
                <a:solidFill>
                  <a:srgbClr val="5E6878"/>
                </a:solidFill>
                <a:latin typeface="Helvetica Neue"/>
                <a:ea typeface="Helvetica Neue"/>
                <a:cs typeface="Helvetica Neue"/>
              </a:rPr>
              <a:t>Reserve voor een tragere verkoopstart of onverwachte kosten.</a:t>
            </a:r>
          </a:p>
        </p:txBody>
      </p:sp>
      <p:sp>
        <p:nvSpPr>
          <p:cNvPr id="18" name="">
            <a:extLst xmlns:a="http://schemas.openxmlformats.org/drawingml/2006/main">
              <a:ext uri="{FF2B5EF4-FFF2-40B4-BE49-F238E27FC236}">
                <a16:creationId xmlns:a16="http://schemas.microsoft.com/office/drawing/2014/main" id="{AB08D4F0-6075-44A2-BE09-3B6000D920DE}"/>
              </a:ext>
            </a:extLst>
          </p:cNvPr>
          <p:cNvSpPr>
            <a:spLocks xmlns:a="http://schemas.openxmlformats.org/drawingml/2006/main" noGrp="1"/>
          </p:cNvSpPr>
          <p:nvPr/>
        </p:nvSpPr>
        <p:spPr>
          <a:xfrm xmlns:a="http://schemas.openxmlformats.org/drawingml/2006/main">
            <a:off x="7143750" y="5715000"/>
            <a:ext cx="434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00" b="1">
                <a:solidFill>
                  <a:srgbClr val="0B1220"/>
                </a:solidFill>
                <a:latin typeface="Helvetica Neue"/>
                <a:ea typeface="Helvetica Neue"/>
                <a:cs typeface="Helvetica Neue"/>
              </a:defRPr>
            </a:pPr>
            <a:r>
              <a:rPr sz="1200" b="1">
                <a:solidFill>
                  <a:srgbClr val="0B1220"/>
                </a:solidFill>
                <a:latin typeface="Helvetica Neue"/>
                <a:ea typeface="Helvetica Neue"/>
                <a:cs typeface="Helvetica Neue"/>
              </a:rPr>
              <a:t>Daarnaast: €35k winkelopstart, €30k koppelingen en veiligheid, €15k hosting en materiaal. Totaal: €250k.</a:t>
            </a:r>
          </a:p>
        </p:txBody>
      </p:sp>
    </p:spTree>
    <p:extLst>
      <p:ext uri="{BB962C8B-B14F-4D97-AF65-F5344CB8AC3E}">
        <p14:creationId xmlns:p14="http://schemas.microsoft.com/office/powerpoint/2010/main" val="9306091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3754DB5-D56A-4479-B9DB-C554B75B0D12}"/>
              </a:ext>
            </a:extLst>
          </p:cNvPr>
          <p:cNvSpPr>
            <a:spLocks xmlns:a="http://schemas.openxmlformats.org/drawingml/2006/main" noGrp="1"/>
          </p:cNvSpPr>
          <p:nvPr/>
        </p:nvSpPr>
        <p:spPr>
          <a:xfrm xmlns:a="http://schemas.openxmlformats.org/drawingml/2006/main">
            <a:off x="400050" y="3619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1">
                <a:solidFill>
                  <a:srgbClr val="2186F3"/>
                </a:solidFill>
                <a:latin typeface="Helvetica Neue"/>
                <a:ea typeface="Helvetica Neue"/>
                <a:cs typeface="Helvetica Neue"/>
              </a:defRPr>
            </a:pPr>
            <a:r>
              <a:rPr sz="975" b="1">
                <a:solidFill>
                  <a:srgbClr val="2186F3"/>
                </a:solidFill>
                <a:latin typeface="Helvetica Neue"/>
                <a:ea typeface="Helvetica Neue"/>
                <a:cs typeface="Helvetica Neue"/>
              </a:rPr>
              <a:t>DE INVESTERINGSVRAAG</a:t>
            </a:r>
          </a:p>
        </p:txBody>
      </p:sp>
      <p:sp>
        <p:nvSpPr>
          <p:cNvPr id="2" name="">
            <a:extLst xmlns:a="http://schemas.openxmlformats.org/drawingml/2006/main">
              <a:ext uri="{FF2B5EF4-FFF2-40B4-BE49-F238E27FC236}">
                <a16:creationId xmlns:a16="http://schemas.microsoft.com/office/drawing/2014/main" id="{F9E91F17-7665-476A-86D2-AE4490240CB4}"/>
              </a:ext>
            </a:extLst>
          </p:cNvPr>
          <p:cNvSpPr>
            <a:spLocks xmlns:a="http://schemas.openxmlformats.org/drawingml/2006/main" noGrp="1"/>
          </p:cNvSpPr>
          <p:nvPr/>
        </p:nvSpPr>
        <p:spPr>
          <a:xfrm xmlns:a="http://schemas.openxmlformats.org/drawingml/2006/main">
            <a:off x="400050" y="1371600"/>
            <a:ext cx="704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5861"/>
          </a:bodyPr>
          <a:lstStyle xmlns:a="http://schemas.openxmlformats.org/drawingml/2006/main"/>
          <a:p xmlns:a="http://schemas.openxmlformats.org/drawingml/2006/main">
            <a:pPr algn="l">
              <a:buNone/>
              <a:defRPr sz="4350" b="1">
                <a:solidFill>
                  <a:srgbClr val="0B1220"/>
                </a:solidFill>
                <a:latin typeface="Helvetica Neue"/>
                <a:ea typeface="Helvetica Neue"/>
                <a:cs typeface="Helvetica Neue"/>
              </a:defRPr>
            </a:pPr>
            <a:r>
              <a:rPr sz="4350" b="1">
                <a:solidFill>
                  <a:srgbClr val="0B1220"/>
                </a:solidFill>
                <a:latin typeface="Helvetica Neue"/>
                <a:ea typeface="Helvetica Neue"/>
                <a:cs typeface="Helvetica Neue"/>
              </a:rPr>
              <a:t>Ongeveer € 250.000 investering</a:t>
            </a:r>
          </a:p>
        </p:txBody>
      </p:sp>
      <p:sp>
        <p:nvSpPr>
          <p:cNvPr id="3" name="">
            <a:extLst xmlns:a="http://schemas.openxmlformats.org/drawingml/2006/main">
              <a:ext uri="{FF2B5EF4-FFF2-40B4-BE49-F238E27FC236}">
                <a16:creationId xmlns:a16="http://schemas.microsoft.com/office/drawing/2014/main" id="{8D4CBF82-16FA-413A-AAAD-E8F66D97E558}"/>
              </a:ext>
            </a:extLst>
          </p:cNvPr>
          <p:cNvSpPr>
            <a:spLocks xmlns:a="http://schemas.openxmlformats.org/drawingml/2006/main" noGrp="1"/>
          </p:cNvSpPr>
          <p:nvPr/>
        </p:nvSpPr>
        <p:spPr>
          <a:xfrm xmlns:a="http://schemas.openxmlformats.org/drawingml/2006/main">
            <a:off x="400050" y="2381250"/>
            <a:ext cx="657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Om te bewijzen dat winkels vlot starten, betalen en blijven.</a:t>
            </a:r>
          </a:p>
        </p:txBody>
      </p:sp>
      <p:sp>
        <p:nvSpPr>
          <p:cNvPr id="4" name="">
            <a:extLst xmlns:a="http://schemas.openxmlformats.org/drawingml/2006/main">
              <a:ext uri="{FF2B5EF4-FFF2-40B4-BE49-F238E27FC236}">
                <a16:creationId xmlns:a16="http://schemas.microsoft.com/office/drawing/2014/main" id="{582B7E82-6FAA-4752-B4B9-48CAC098ACE5}"/>
              </a:ext>
            </a:extLst>
          </p:cNvPr>
          <p:cNvSpPr>
            <a:spLocks xmlns:a="http://schemas.openxmlformats.org/drawingml/2006/main" noGrp="1"/>
          </p:cNvSpPr>
          <p:nvPr/>
        </p:nvSpPr>
        <p:spPr>
          <a:xfrm xmlns:a="http://schemas.openxmlformats.org/drawingml/2006/main">
            <a:off x="400050" y="3600450"/>
            <a:ext cx="6572250" cy="1504950"/>
          </a:xfrm>
          <a:prstGeom xmlns:a="http://schemas.openxmlformats.org/drawingml/2006/main" prst="rect">
            <a:avLst/>
          </a:prstGeom>
          <a:solidFill xmlns:a="http://schemas.openxmlformats.org/drawingml/2006/main">
            <a:srgbClr val="0B12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A09DE7-6BBF-477E-940D-73CC7B6616B9}"/>
              </a:ext>
            </a:extLst>
          </p:cNvPr>
          <p:cNvSpPr>
            <a:spLocks xmlns:a="http://schemas.openxmlformats.org/drawingml/2006/main" noGrp="1"/>
          </p:cNvSpPr>
          <p:nvPr/>
        </p:nvSpPr>
        <p:spPr>
          <a:xfrm xmlns:a="http://schemas.openxmlformats.org/drawingml/2006/main">
            <a:off x="647700" y="3867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1">
                <a:solidFill>
                  <a:srgbClr val="55CFF7"/>
                </a:solidFill>
                <a:latin typeface="Helvetica Neue"/>
                <a:ea typeface="Helvetica Neue"/>
                <a:cs typeface="Helvetica Neue"/>
              </a:defRPr>
            </a:pPr>
            <a:r>
              <a:rPr sz="1050" b="1">
                <a:solidFill>
                  <a:srgbClr val="55CFF7"/>
                </a:solidFill>
                <a:latin typeface="Helvetica Neue"/>
                <a:ea typeface="Helvetica Neue"/>
                <a:cs typeface="Helvetica Neue"/>
              </a:rPr>
              <a:t>Heldere samenwerking</a:t>
            </a:r>
          </a:p>
        </p:txBody>
      </p:sp>
      <p:sp>
        <p:nvSpPr>
          <p:cNvPr id="6" name="">
            <a:extLst xmlns:a="http://schemas.openxmlformats.org/drawingml/2006/main">
              <a:ext uri="{FF2B5EF4-FFF2-40B4-BE49-F238E27FC236}">
                <a16:creationId xmlns:a16="http://schemas.microsoft.com/office/drawing/2014/main" id="{48122D1A-67A0-4FC3-8640-8B3C1AC3562F}"/>
              </a:ext>
            </a:extLst>
          </p:cNvPr>
          <p:cNvSpPr>
            <a:spLocks xmlns:a="http://schemas.openxmlformats.org/drawingml/2006/main" noGrp="1"/>
          </p:cNvSpPr>
          <p:nvPr/>
        </p:nvSpPr>
        <p:spPr>
          <a:xfrm xmlns:a="http://schemas.openxmlformats.org/drawingml/2006/main">
            <a:off x="647700" y="4286250"/>
            <a:ext cx="590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Maandelijkse rapportering over winkels, inkomsten, uitgaven en de afgesproken bewijzen.</a:t>
            </a:r>
          </a:p>
        </p:txBody>
      </p:sp>
      <p:sp>
        <p:nvSpPr>
          <p:cNvPr id="7" name="">
            <a:extLst xmlns:a="http://schemas.openxmlformats.org/drawingml/2006/main">
              <a:ext uri="{FF2B5EF4-FFF2-40B4-BE49-F238E27FC236}">
                <a16:creationId xmlns:a16="http://schemas.microsoft.com/office/drawing/2014/main" id="{C6D004DB-101D-44FD-AEBC-A842CCA2D50B}"/>
              </a:ext>
            </a:extLst>
          </p:cNvPr>
          <p:cNvSpPr>
            <a:spLocks xmlns:a="http://schemas.openxmlformats.org/drawingml/2006/main" noGrp="1"/>
          </p:cNvSpPr>
          <p:nvPr/>
        </p:nvSpPr>
        <p:spPr>
          <a:xfrm xmlns:a="http://schemas.openxmlformats.org/drawingml/2006/main">
            <a:off x="7753350" y="1200150"/>
            <a:ext cx="3733800" cy="4114800"/>
          </a:xfrm>
          <a:prstGeom xmlns:a="http://schemas.openxmlformats.org/drawingml/2006/main" prst="rect">
            <a:avLst/>
          </a:prstGeom>
          <a:solidFill xmlns:a="http://schemas.openxmlformats.org/drawingml/2006/main">
            <a:srgbClr val="2186F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1FCE73D-EAE3-400A-8BBA-9CD3AAC872E4}"/>
              </a:ext>
            </a:extLst>
          </p:cNvPr>
          <p:cNvSpPr>
            <a:spLocks xmlns:a="http://schemas.openxmlformats.org/drawingml/2006/main" noGrp="1"/>
          </p:cNvSpPr>
          <p:nvPr/>
        </p:nvSpPr>
        <p:spPr>
          <a:xfrm xmlns:a="http://schemas.openxmlformats.org/drawingml/2006/main">
            <a:off x="8039100" y="1524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 volgende stap</a:t>
            </a:r>
          </a:p>
        </p:txBody>
      </p:sp>
      <p:sp>
        <p:nvSpPr>
          <p:cNvPr id="9" name="">
            <a:extLst xmlns:a="http://schemas.openxmlformats.org/drawingml/2006/main">
              <a:ext uri="{FF2B5EF4-FFF2-40B4-BE49-F238E27FC236}">
                <a16:creationId xmlns:a16="http://schemas.microsoft.com/office/drawing/2014/main" id="{9EF7C080-B38B-4DEE-A9F4-51955E4CCEAA}"/>
              </a:ext>
            </a:extLst>
          </p:cNvPr>
          <p:cNvSpPr>
            <a:spLocks xmlns:a="http://schemas.openxmlformats.org/drawingml/2006/main" noGrp="1"/>
          </p:cNvSpPr>
          <p:nvPr/>
        </p:nvSpPr>
        <p:spPr>
          <a:xfrm xmlns:a="http://schemas.openxmlformats.org/drawingml/2006/main">
            <a:off x="8039100" y="2190750"/>
            <a:ext cx="304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Demo en bewijs</a:t>
            </a:r>
          </a:p>
          <a:p xmlns:a="http://schemas.openxmlformats.org/drawingml/2006/main">
            <a:pPr algn="l">
              <a:buNone/>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samen bekijken.</a:t>
            </a:r>
          </a:p>
        </p:txBody>
      </p:sp>
      <p:sp>
        <p:nvSpPr>
          <p:cNvPr id="10" name="">
            <a:extLst xmlns:a="http://schemas.openxmlformats.org/drawingml/2006/main">
              <a:ext uri="{FF2B5EF4-FFF2-40B4-BE49-F238E27FC236}">
                <a16:creationId xmlns:a16="http://schemas.microsoft.com/office/drawing/2014/main" id="{B1464CC0-764A-419B-8AF1-90861C4FC05A}"/>
              </a:ext>
            </a:extLst>
          </p:cNvPr>
          <p:cNvSpPr>
            <a:spLocks xmlns:a="http://schemas.openxmlformats.org/drawingml/2006/main" noGrp="1"/>
          </p:cNvSpPr>
          <p:nvPr/>
        </p:nvSpPr>
        <p:spPr>
          <a:xfrm xmlns:a="http://schemas.openxmlformats.org/drawingml/2006/main">
            <a:off x="8039100" y="3390900"/>
            <a:ext cx="3048000" cy="9525"/>
          </a:xfrm>
          <a:prstGeom xmlns:a="http://schemas.openxmlformats.org/drawingml/2006/main" prst="rect">
            <a:avLst/>
          </a:prstGeom>
          <a:solidFill xmlns:a="http://schemas.openxmlformats.org/drawingml/2006/main">
            <a:srgbClr val="89C5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999BDA-F8EE-41BA-BF39-FCCD3FAB2767}"/>
              </a:ext>
            </a:extLst>
          </p:cNvPr>
          <p:cNvSpPr>
            <a:spLocks xmlns:a="http://schemas.openxmlformats.org/drawingml/2006/main" noGrp="1"/>
          </p:cNvSpPr>
          <p:nvPr/>
        </p:nvSpPr>
        <p:spPr>
          <a:xfrm xmlns:a="http://schemas.openxmlformats.org/drawingml/2006/main">
            <a:off x="8039100" y="37338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47"/>
          </a:bodyPr>
          <a:lstStyle xmlns:a="http://schemas.openxmlformats.org/drawingml/2006/main"/>
          <a:p xmlns:a="http://schemas.openxmlformats.org/drawingml/2006/main">
            <a:pPr algn="l">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1.  Live demo van PWAYMENT en PACE</a:t>
            </a:r>
          </a:p>
          <a:p xmlns:a="http://schemas.openxmlformats.org/drawingml/2006/main">
            <a:pPr algn="l">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2.  Testwinkels, prijs en cijfers controleren</a:t>
            </a:r>
          </a:p>
          <a:p xmlns:a="http://schemas.openxmlformats.org/drawingml/2006/main">
            <a:pPr algn="l">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3.  Investeringsvorm en voorwaarden bespreken</a:t>
            </a:r>
          </a:p>
        </p:txBody>
      </p:sp>
      <p:sp>
        <p:nvSpPr>
          <p:cNvPr id="12" name="">
            <a:extLst xmlns:a="http://schemas.openxmlformats.org/drawingml/2006/main">
              <a:ext uri="{FF2B5EF4-FFF2-40B4-BE49-F238E27FC236}">
                <a16:creationId xmlns:a16="http://schemas.microsoft.com/office/drawing/2014/main" id="{C3592AC0-DC32-4FBE-A04A-951903ED1C25}"/>
              </a:ext>
            </a:extLst>
          </p:cNvPr>
          <p:cNvSpPr>
            <a:spLocks xmlns:a="http://schemas.openxmlformats.org/drawingml/2006/main" noGrp="1"/>
          </p:cNvSpPr>
          <p:nvPr/>
        </p:nvSpPr>
        <p:spPr>
          <a:xfrm xmlns:a="http://schemas.openxmlformats.org/drawingml/2006/main">
            <a:off x="400050" y="57150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0B1220"/>
                </a:solidFill>
                <a:latin typeface="Helvetica Neue"/>
                <a:ea typeface="Helvetica Neue"/>
                <a:cs typeface="Helvetica Neue"/>
              </a:defRPr>
            </a:pPr>
            <a:r>
              <a:rPr sz="1725" b="1">
                <a:solidFill>
                  <a:srgbClr val="0B1220"/>
                </a:solidFill>
                <a:latin typeface="Helvetica Neue"/>
                <a:ea typeface="Helvetica Neue"/>
                <a:cs typeface="Helvetica Neue"/>
              </a:rPr>
              <a:t>Ik zoek kapitaal én ervaring om sneller de juiste winkels te winnen.</a:t>
            </a:r>
          </a:p>
        </p:txBody>
      </p:sp>
      <p:sp>
        <p:nvSpPr>
          <p:cNvPr id="13" name="">
            <a:extLst xmlns:a="http://schemas.openxmlformats.org/drawingml/2006/main">
              <a:ext uri="{FF2B5EF4-FFF2-40B4-BE49-F238E27FC236}">
                <a16:creationId xmlns:a16="http://schemas.microsoft.com/office/drawing/2014/main" id="{1E424972-26B8-4E36-BADB-9C855179D85E}"/>
              </a:ext>
            </a:extLst>
          </p:cNvPr>
          <p:cNvSpPr>
            <a:spLocks xmlns:a="http://schemas.openxmlformats.org/drawingml/2006/main" noGrp="1"/>
          </p:cNvSpPr>
          <p:nvPr/>
        </p:nvSpPr>
        <p:spPr>
          <a:xfrm xmlns:a="http://schemas.openxmlformats.org/drawingml/2006/main">
            <a:off x="400050" y="64770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750" b="1">
                <a:solidFill>
                  <a:srgbClr val="5E6878"/>
                </a:solidFill>
                <a:latin typeface="Helvetica Neue"/>
                <a:ea typeface="Helvetica Neue"/>
                <a:cs typeface="Helvetica Neue"/>
              </a:defRPr>
            </a:pPr>
            <a:r>
              <a:rPr sz="750" b="1">
                <a:solidFill>
                  <a:srgbClr val="5E6878"/>
                </a:solidFill>
                <a:latin typeface="Helvetica Neue"/>
                <a:ea typeface="Helvetica Neue"/>
                <a:cs typeface="Helvetica Neue"/>
              </a:rPr>
              <a:t>PWAYMENT · INVESTEERDERSPITCH</a:t>
            </a:r>
          </a:p>
        </p:txBody>
      </p:sp>
      <p:sp>
        <p:nvSpPr>
          <p:cNvPr id="14" name="">
            <a:extLst xmlns:a="http://schemas.openxmlformats.org/drawingml/2006/main">
              <a:ext uri="{FF2B5EF4-FFF2-40B4-BE49-F238E27FC236}">
                <a16:creationId xmlns:a16="http://schemas.microsoft.com/office/drawing/2014/main" id="{7307FB16-4EEA-4FD9-A34C-E1260226302F}"/>
              </a:ext>
            </a:extLst>
          </p:cNvPr>
          <p:cNvSpPr>
            <a:spLocks xmlns:a="http://schemas.openxmlformats.org/drawingml/2006/main" noGrp="1"/>
          </p:cNvSpPr>
          <p:nvPr/>
        </p:nvSpPr>
        <p:spPr>
          <a:xfrm xmlns:a="http://schemas.openxmlformats.org/drawingml/2006/main">
            <a:off x="11201400" y="6477000"/>
            <a:ext cx="590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825" b="1">
                <a:solidFill>
                  <a:srgbClr val="5E6878"/>
                </a:solidFill>
                <a:latin typeface="Helvetica Neue"/>
                <a:ea typeface="Helvetica Neue"/>
                <a:cs typeface="Helvetica Neue"/>
              </a:defRPr>
            </a:pPr>
            <a:r>
              <a:rPr sz="825" b="1">
                <a:solidFill>
                  <a:srgbClr val="5E6878"/>
                </a:solidFill>
                <a:latin typeface="Helvetica Neue"/>
                <a:ea typeface="Helvetica Neue"/>
                <a:cs typeface="Helvetica Neue"/>
              </a:rPr>
              <a:t>11</a:t>
            </a:r>
          </a:p>
        </p:txBody>
      </p:sp>
    </p:spTree>
    <p:extLst>
      <p:ext uri="{BB962C8B-B14F-4D97-AF65-F5344CB8AC3E}">
        <p14:creationId xmlns:p14="http://schemas.microsoft.com/office/powerpoint/2010/main" val="923085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2026-08-30T16:26:23.6120000Z</dcterms:created>
  <dcterms:modified xsi:type="dcterms:W3CDTF">2026-08-30T16:26:23.6120000Z</dcterms:modified>
</coreProperties>
</file>