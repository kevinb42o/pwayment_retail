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2bfc511db2471a" /><Relationship Type="http://schemas.openxmlformats.org/officeDocument/2006/relationships/extended-properties" Target="/docProps/app.xml" Id="R9db58a8b27d24e33" /><Relationship Type="http://schemas.openxmlformats.org/officeDocument/2006/relationships/officeDocument" Target="/ppt/presentation.xml" Id="Ra2785a71c78b48ed" /></Relationships>
</file>

<file path=ppt/presentation.xml><?xml version="1.0" encoding="utf-8"?>
<p:presentation xmlns:p="http://schemas.openxmlformats.org/presentationml/2006/main">
  <p:sldMasterIdLst>
    <p:sldMasterId xmlns:r="http://schemas.openxmlformats.org/officeDocument/2006/relationships" id="2147483648" r:id="Raea9e3db1a834db6"/>
  </p:sldMasterIdLst>
  <p:notesMasterIdLst>
    <p:notesMasterId xmlns:r="http://schemas.openxmlformats.org/officeDocument/2006/relationships" r:id="Re814abffee354a32"/>
  </p:notesMasterIdLst>
  <p:sldIdLst>
    <p:sldId xmlns:r="http://schemas.openxmlformats.org/officeDocument/2006/relationships" id="256" r:id="R92a63e748bdb4cc5"/>
    <p:sldId xmlns:r="http://schemas.openxmlformats.org/officeDocument/2006/relationships" id="257" r:id="R852063ddf01e4179"/>
    <p:sldId xmlns:r="http://schemas.openxmlformats.org/officeDocument/2006/relationships" id="258" r:id="R1a9b5ef058924662"/>
    <p:sldId xmlns:r="http://schemas.openxmlformats.org/officeDocument/2006/relationships" id="259" r:id="Rf52d91ca8b274ebe"/>
    <p:sldId xmlns:r="http://schemas.openxmlformats.org/officeDocument/2006/relationships" id="260" r:id="R6f47fdef41ce4c84"/>
    <p:sldId xmlns:r="http://schemas.openxmlformats.org/officeDocument/2006/relationships" id="261" r:id="Rc2131349d1bb4747"/>
    <p:sldId xmlns:r="http://schemas.openxmlformats.org/officeDocument/2006/relationships" id="262" r:id="Ra8a94371dd44433c"/>
    <p:sldId xmlns:r="http://schemas.openxmlformats.org/officeDocument/2006/relationships" id="263" r:id="Rc7d23e71a3324d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42321175bc44ed" /><Relationship Type="http://schemas.openxmlformats.org/officeDocument/2006/relationships/slideMaster" Target="/ppt/slideMasters/slideMaster1.xml" Id="Raea9e3db1a834db6" /><Relationship Type="http://schemas.openxmlformats.org/officeDocument/2006/relationships/notesMaster" Target="/ppt/notesMasters/notesMaster1.xml" Id="Re814abffee354a32" /><Relationship Type="http://schemas.openxmlformats.org/officeDocument/2006/relationships/presProps" Target="/ppt/presProps.xml" Id="R1694c3f66d434b74" /><Relationship Type="http://schemas.openxmlformats.org/officeDocument/2006/relationships/tableStyles" Target="/ppt/tableStyles.xml" Id="R49f4f885aaa34f45" /><Relationship Type="http://schemas.openxmlformats.org/officeDocument/2006/relationships/slide" Target="/ppt/slides/slide1.xml" Id="R92a63e748bdb4cc5" /><Relationship Type="http://schemas.openxmlformats.org/officeDocument/2006/relationships/slide" Target="/ppt/slides/slide2.xml" Id="R852063ddf01e4179" /><Relationship Type="http://schemas.openxmlformats.org/officeDocument/2006/relationships/slide" Target="/ppt/slides/slide3.xml" Id="R1a9b5ef058924662" /><Relationship Type="http://schemas.openxmlformats.org/officeDocument/2006/relationships/slide" Target="/ppt/slides/slide4.xml" Id="Rf52d91ca8b274ebe" /><Relationship Type="http://schemas.openxmlformats.org/officeDocument/2006/relationships/slide" Target="/ppt/slides/slide5.xml" Id="R6f47fdef41ce4c84" /><Relationship Type="http://schemas.openxmlformats.org/officeDocument/2006/relationships/slide" Target="/ppt/slides/slide6.xml" Id="Rc2131349d1bb4747" /><Relationship Type="http://schemas.openxmlformats.org/officeDocument/2006/relationships/slide" Target="/ppt/slides/slide7.xml" Id="Ra8a94371dd44433c" /><Relationship Type="http://schemas.openxmlformats.org/officeDocument/2006/relationships/slide" Target="/ppt/slides/slide8.xml" Id="Rc7d23e71a3324d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53d36e866d4c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1ff3089b4e4e10" /><Relationship Type="http://schemas.openxmlformats.org/officeDocument/2006/relationships/notesMaster" Target="/ppt/notesMasters/notesMaster1.xml" Id="R0e1daa9b6fbb44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3ed2f5734649aa" /><Relationship Type="http://schemas.openxmlformats.org/officeDocument/2006/relationships/notesMaster" Target="/ppt/notesMasters/notesMaster1.xml" Id="R409f70ddb80246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f1a8238c234d9e" /><Relationship Type="http://schemas.openxmlformats.org/officeDocument/2006/relationships/notesMaster" Target="/ppt/notesMasters/notesMaster1.xml" Id="R02821c0a777a48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d4b58a4da64f49" /><Relationship Type="http://schemas.openxmlformats.org/officeDocument/2006/relationships/notesMaster" Target="/ppt/notesMasters/notesMaster1.xml" Id="Refa704a8a14248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d1240c81c7481c" /><Relationship Type="http://schemas.openxmlformats.org/officeDocument/2006/relationships/notesMaster" Target="/ppt/notesMasters/notesMaster1.xml" Id="R6196d71dce8443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a784d643894675" /><Relationship Type="http://schemas.openxmlformats.org/officeDocument/2006/relationships/notesMaster" Target="/ppt/notesMasters/notesMaster1.xml" Id="R6a1c1dbd402b41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3fdc2b2f8f44dd" /><Relationship Type="http://schemas.openxmlformats.org/officeDocument/2006/relationships/notesMaster" Target="/ppt/notesMasters/notesMaster1.xml" Id="R37518755dc3e4f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def96e39904c9c" /><Relationship Type="http://schemas.openxmlformats.org/officeDocument/2006/relationships/notesMaster" Target="/ppt/notesMasters/notesMaster1.xml" Id="R77ab7cfe2e1241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Zeg gewoon: “PWAYMENT brengt alles wat een winkel dagelijks gebruikt samen in één systeem. Ik zoek €250.000 om het product verder af te werken en er een echt groeiend bedrijf van te maken.”</a:t>
            </a:r>
          </a:p>
          <a:p xmlns:a="http://schemas.openxmlformats.org/drawingml/2006/main">
            <a:r>
              <a:t/>
            </a:r>
          </a:p>
          <a:p xmlns:a="http://schemas.openxmlformats.org/drawingml/2006/main">
            <a:r>
              <a:t>[Sources]</a:t>
            </a:r>
          </a:p>
          <a:p xmlns:a="http://schemas.openxmlformats.org/drawingml/2006/main">
            <a:r>
              <a:t>/Users/kevin/PROJECTS/pwayment RETAIL/README.md</a:t>
            </a:r>
          </a:p>
          <a:p xmlns:a="http://schemas.openxmlformats.org/drawingml/2006/main">
            <a:r>
              <a:t>/Users/kevin/PROJECTS/pwayment RETAIL/public/website/pwayment-pos-current.jpg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Vertel één herkenbaar voorbeeld. Bijvoorbeeld: “Een winkel past een product aan in de kassa, daarna nog eens in de webshop en soms ook nog in een apart voorraadbestand.” Meer uitleg is niet nodig.</a:t>
            </a:r>
          </a:p>
          <a:p xmlns:a="http://schemas.openxmlformats.org/drawingml/2006/main">
            <a:r>
              <a:t/>
            </a:r>
          </a:p>
          <a:p xmlns:a="http://schemas.openxmlformats.org/drawingml/2006/main">
            <a:r>
              <a:t>[Sources]</a:t>
            </a:r>
          </a:p>
          <a:p xmlns:a="http://schemas.openxmlformats.org/drawingml/2006/main">
            <a:r>
              <a:t>Interne PWAYMENT-informatie en eenvoudige managementdoelen.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Laat het scherm zien en zeg: “Dit is het echte product. Links ziet u de verschillende onderdelen van de winkel. De gegevens worden maar één keer ingevoerd en daarna overal gebruikt.”</a:t>
            </a:r>
          </a:p>
          <a:p xmlns:a="http://schemas.openxmlformats.org/drawingml/2006/main">
            <a:r>
              <a:t/>
            </a:r>
          </a:p>
          <a:p xmlns:a="http://schemas.openxmlformats.org/drawingml/2006/main">
            <a:r>
              <a:t>[Sources]</a:t>
            </a:r>
          </a:p>
          <a:p xmlns:a="http://schemas.openxmlformats.org/drawingml/2006/main">
            <a:r>
              <a:t>/Users/kevin/PROJECTS/pwayment RETAIL/README.md</a:t>
            </a:r>
          </a:p>
          <a:p xmlns:a="http://schemas.openxmlformats.org/drawingml/2006/main">
            <a:r>
              <a:t>/Users/kevin/PROJECTS/pwayment RETAIL/public/website/pwayment-insights-current.jpg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Dit is je geloofwaardigheidsslide. Zeg: “Ik vraag geen geld om eerst een idee uit te proberen. Het product bestaat. Het geld dient vooral om het verkoopbaar, betrouwbaar en bekend te maken.”</a:t>
            </a:r>
          </a:p>
          <a:p xmlns:a="http://schemas.openxmlformats.org/drawingml/2006/main">
            <a:r>
              <a:t/>
            </a:r>
          </a:p>
          <a:p xmlns:a="http://schemas.openxmlformats.org/drawingml/2006/main">
            <a:r>
              <a:t>[Sources]</a:t>
            </a:r>
          </a:p>
          <a:p xmlns:a="http://schemas.openxmlformats.org/drawingml/2006/main">
            <a:r>
              <a:t>/Users/kevin/PROJECTS/pwayment RETAIL/README.md</a:t>
            </a:r>
          </a:p>
          <a:p xmlns:a="http://schemas.openxmlformats.org/drawingml/2006/main">
            <a:r>
              <a:t>/Users/kevin/PROJECTS/pwayment RETAIL/FEATURE-AUDIT-2026-08-22.md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 het zonder formules uit: “Een actieve winkel betaalt meestal €69 per maand. Grotere winkels betalen meer. Met een mix van abonnementen brengen 100 betalende winkels ongeveer €9.000 per maand op.”</a:t>
            </a:r>
          </a:p>
          <a:p xmlns:a="http://schemas.openxmlformats.org/drawingml/2006/main">
            <a:r>
              <a:t/>
            </a:r>
          </a:p>
          <a:p xmlns:a="http://schemas.openxmlformats.org/drawingml/2006/main">
            <a:r>
              <a:t>[Sources]</a:t>
            </a:r>
          </a:p>
          <a:p xmlns:a="http://schemas.openxmlformats.org/drawingml/2006/main">
            <a:r>
              <a:t>/Users/kevin/PROJECTS/pwayment RETAIL/src/billing/planCatalog.ts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Loop de bedragen rustig af. De kern: €90.000 voor het product, €60.000 om klanten te vinden, €35.000 om nieuwe winkels goed op te starten, €30.000 voor koppelingen en veiligheid, €15.000 voor gewone kosten en €20.000 reserve. Samen is dat exact €250.000.</a:t>
            </a:r>
          </a:p>
          <a:p xmlns:a="http://schemas.openxmlformats.org/drawingml/2006/main">
            <a:r>
              <a:t/>
            </a:r>
          </a:p>
          <a:p xmlns:a="http://schemas.openxmlformats.org/drawingml/2006/main">
            <a:r>
              <a:t>[Sources]</a:t>
            </a:r>
          </a:p>
          <a:p xmlns:a="http://schemas.openxmlformats.org/drawingml/2006/main">
            <a:r>
              <a:t>Interne PWAYMENT-informatie en eenvoudige managementdoelen.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Zeg: “De eerste maanden maken we het product klaar voor een vlotte verkoop. Daarna bewijzen we dat winkels willen betalen. Tegen het einde willen we 100 betalende winkels en een manier van werken die we kunnen blijven herhalen.”</a:t>
            </a:r>
          </a:p>
          <a:p xmlns:a="http://schemas.openxmlformats.org/drawingml/2006/main">
            <a:r>
              <a:t/>
            </a:r>
          </a:p>
          <a:p xmlns:a="http://schemas.openxmlformats.org/drawingml/2006/main">
            <a:r>
              <a:t>[Sources]</a:t>
            </a:r>
          </a:p>
          <a:p xmlns:a="http://schemas.openxmlformats.org/drawingml/2006/main">
            <a:r>
              <a:t>Interne PWAYMENT-informatie en eenvoudige managementdoelen.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Sluit af met: “Mijn voorstel is €250.000 voor 15% van PWAYMENT. Dat percentage is mijn vertrekpunt. Ik wil vooral dat de afspraken voor beide kanten eerlijk en duidelijk zijn. Als u interesse hebt, stel ik voor dat we nu een productdemo en een controle van de cijfers plannen.” Daarna stop je met praten.</a:t>
            </a:r>
          </a:p>
          <a:p xmlns:a="http://schemas.openxmlformats.org/drawingml/2006/main">
            <a:r>
              <a:t/>
            </a:r>
          </a:p>
          <a:p xmlns:a="http://schemas.openxmlformats.org/drawingml/2006/main">
            <a:r>
              <a:t>[Sources]</a:t>
            </a:r>
          </a:p>
          <a:p xmlns:a="http://schemas.openxmlformats.org/drawingml/2006/main">
            <a:r>
              <a:t>Interne PWAYMENT-informatie en eenvoudige managementdoelen.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5e141d1c5447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2e210f1cc94a83" /><Relationship Type="http://schemas.openxmlformats.org/officeDocument/2006/relationships/slideLayout" Target="/ppt/slideLayouts/slideLayout1.xml" Id="Rfd60de9f119045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60de9f119045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6456d762e049bd" /><Relationship Type="http://schemas.openxmlformats.org/officeDocument/2006/relationships/image" Target="/ppt/media/image.jpeg" Id="R4e4208ce1fba43bc" /><Relationship Type="http://schemas.openxmlformats.org/officeDocument/2006/relationships/notesSlide" Target="/ppt/notesSlides/notesSlide1.xml" Id="Rc6cfcdbd03fd4d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2eada11aac4c6d" /><Relationship Type="http://schemas.openxmlformats.org/officeDocument/2006/relationships/notesSlide" Target="/ppt/notesSlides/notesSlide2.xml" Id="Rdc227df10fcf4b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d3d965390a4182" /><Relationship Type="http://schemas.openxmlformats.org/officeDocument/2006/relationships/image" Target="/ppt/media/image2.jpeg" Id="R96599576eec44a23" /><Relationship Type="http://schemas.openxmlformats.org/officeDocument/2006/relationships/notesSlide" Target="/ppt/notesSlides/notesSlide3.xml" Id="R8feec30bf0294f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28b73f6e654ea5" /><Relationship Type="http://schemas.openxmlformats.org/officeDocument/2006/relationships/notesSlide" Target="/ppt/notesSlides/notesSlide4.xml" Id="R9e46ddf2433e44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d2ebbade5a4414" /><Relationship Type="http://schemas.openxmlformats.org/officeDocument/2006/relationships/notesSlide" Target="/ppt/notesSlides/notesSlide5.xml" Id="Rabf51ea3ed1049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78f7739eaf45ee" /><Relationship Type="http://schemas.openxmlformats.org/officeDocument/2006/relationships/chart" Target="/ppt/slides/charts/chart1.xml" Id="R746ed2680aaa4545" /><Relationship Type="http://schemas.openxmlformats.org/officeDocument/2006/relationships/notesSlide" Target="/ppt/notesSlides/notesSlide6.xml" Id="R39ba72a20c634d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e9b23e492c4e56" /><Relationship Type="http://schemas.openxmlformats.org/officeDocument/2006/relationships/notesSlide" Target="/ppt/notesSlides/notesSlide7.xml" Id="R84c501825cf042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3924c5fa8e4e3f" /><Relationship Type="http://schemas.openxmlformats.org/officeDocument/2006/relationships/notesSlide" Target="/ppt/notesSlides/notesSlide8.xml" Id="R90fa8456ac164902" /></Relationships>
</file>

<file path=ppt/slides/charts/chart1.xml><?xml version="1.0" encoding="utf-8"?>
<c:chartSpace xmlns:c="http://schemas.openxmlformats.org/drawingml/2006/chart">
  <c:lang val="en-US"/>
  <c:chart>
    <c:plotArea>
      <c:barChart>
        <c:barDir val="col"/>
        <c:varyColors val="0"/>
        <c:ser>
          <c:idx val="0"/>
          <c:order val="0"/>
          <c:tx>
            <c:v>€k</c:v>
          </c:tx>
          <c:spPr>
            <a:solidFill xmlns:a="http://schemas.openxmlformats.org/drawingml/2006/main">
              <a:srgbClr val="2186F3"/>
            </a:solidFill>
          </c:spPr>
          <c:cat>
            <c:strLit>
              <c:ptCount val="6"/>
              <c:pt idx="0">
                <c:v>Product afwerken</c:v>
              </c:pt>
              <c:pt idx="1">
                <c:v>Verkoop</c:v>
              </c:pt>
              <c:pt idx="2">
                <c:v>Winkels opstarten</c:v>
              </c:pt>
              <c:pt idx="3">
                <c:v>Koppelingen &amp; veiligheid</c:v>
              </c:pt>
              <c:pt idx="4">
                <c:v>Hosting &amp; materiaal</c:v>
              </c:pt>
              <c:pt idx="5">
                <c:v>Buffer</c:v>
              </c:pt>
            </c:strLit>
          </c:cat>
          <c:val>
            <c:numLit>
              <c:formatCode>General</c:formatCode>
              <c:ptCount val="6"/>
              <c:pt idx="0">
                <c:v>90</c:v>
              </c:pt>
              <c:pt idx="1">
                <c:v>60</c:v>
              </c:pt>
              <c:pt idx="2">
                <c:v>35</c:v>
              </c:pt>
              <c:pt idx="3">
                <c:v>30</c:v>
              </c:pt>
              <c:pt idx="4">
                <c:v>15</c:v>
              </c:pt>
              <c:pt idx="5">
                <c:v>20</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majorGridlines>
          <c:spPr>
            <a:ln xmlns:a="http://schemas.openxmlformats.org/drawingml/2006/main" w="9525">
              <a:solidFill>
                <a:srgbClr val="EDEFF2"/>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878"/>
                </a:solidFill>
                <a:latin typeface="Helvetica Neue"/>
                <a:ea typeface="Helvetica Neue"/>
                <a:cs typeface="Helvetica Neue"/>
              </a:defRPr>
            </a:pPr>
          </a:p>
        </c:txPr>
        <c:crossAx val="48672768"/>
      </c:catAx>
      <c:valAx>
        <c:axId val="48672768"/>
        <c:scaling>
          <c:orientation val="minMax"/>
        </c:scaling>
        <c:delete val="0"/>
        <c:axPos val="l"/>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0B1220"/>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9F3728-6AF2-4755-AA90-A5BA0C52D4F2}"/>
              </a:ext>
            </a:extLst>
          </p:cNvPr>
          <p:cNvSpPr>
            <a:spLocks xmlns:a="http://schemas.openxmlformats.org/drawingml/2006/main" noGrp="1"/>
          </p:cNvSpPr>
          <p:nvPr/>
        </p:nvSpPr>
        <p:spPr>
          <a:xfrm xmlns:a="http://schemas.openxmlformats.org/drawingml/2006/main">
            <a:off x="400050" y="3429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2186F3"/>
                </a:solidFill>
                <a:latin typeface="Helvetica Neue"/>
                <a:ea typeface="Helvetica Neue"/>
                <a:cs typeface="Helvetica Neue"/>
              </a:defRPr>
            </a:pPr>
            <a:r>
              <a:rPr sz="1125" b="1">
                <a:solidFill>
                  <a:srgbClr val="2186F3"/>
                </a:solidFill>
                <a:latin typeface="Helvetica Neue"/>
                <a:ea typeface="Helvetica Neue"/>
                <a:cs typeface="Helvetica Neue"/>
              </a:rPr>
              <a:t>PWAYMENT</a:t>
            </a:r>
          </a:p>
        </p:txBody>
      </p:sp>
      <p:sp>
        <p:nvSpPr>
          <p:cNvPr id="2" name="">
            <a:extLst xmlns:a="http://schemas.openxmlformats.org/drawingml/2006/main">
              <a:ext uri="{FF2B5EF4-FFF2-40B4-BE49-F238E27FC236}">
                <a16:creationId xmlns:a16="http://schemas.microsoft.com/office/drawing/2014/main" id="{8D2860CC-B95C-4EEF-93AE-F39E1230794D}"/>
              </a:ext>
            </a:extLst>
          </p:cNvPr>
          <p:cNvSpPr>
            <a:spLocks xmlns:a="http://schemas.openxmlformats.org/drawingml/2006/main" noGrp="1"/>
          </p:cNvSpPr>
          <p:nvPr/>
        </p:nvSpPr>
        <p:spPr>
          <a:xfrm xmlns:a="http://schemas.openxmlformats.org/drawingml/2006/main">
            <a:off x="400050" y="1504950"/>
            <a:ext cx="563880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061"/>
          </a:bodyPr>
          <a:lstStyle xmlns:a="http://schemas.openxmlformats.org/drawingml/2006/main"/>
          <a:p xmlns:a="http://schemas.openxmlformats.org/drawingml/2006/main">
            <a:pPr algn="l">
              <a:buNone/>
              <a:defRPr sz="4650" b="1">
                <a:solidFill>
                  <a:srgbClr val="0B1220"/>
                </a:solidFill>
                <a:latin typeface="Helvetica Neue"/>
                <a:ea typeface="Helvetica Neue"/>
                <a:cs typeface="Helvetica Neue"/>
              </a:defRPr>
            </a:pPr>
            <a:r>
              <a:rPr sz="4650" b="1">
                <a:solidFill>
                  <a:srgbClr val="0B1220"/>
                </a:solidFill>
                <a:latin typeface="Helvetica Neue"/>
                <a:ea typeface="Helvetica Neue"/>
                <a:cs typeface="Helvetica Neue"/>
              </a:rPr>
              <a:t>Alles wat een winkel nodig heeft.</a:t>
            </a:r>
          </a:p>
          <a:p xmlns:a="http://schemas.openxmlformats.org/drawingml/2006/main">
            <a:pPr algn="l">
              <a:buNone/>
              <a:defRPr sz="4650" b="1">
                <a:solidFill>
                  <a:srgbClr val="0B1220"/>
                </a:solidFill>
                <a:latin typeface="Helvetica Neue"/>
                <a:ea typeface="Helvetica Neue"/>
                <a:cs typeface="Helvetica Neue"/>
              </a:defRPr>
            </a:pPr>
            <a:r>
              <a:rPr sz="4650" b="1">
                <a:solidFill>
                  <a:srgbClr val="0B1220"/>
                </a:solidFill>
                <a:latin typeface="Helvetica Neue"/>
                <a:ea typeface="Helvetica Neue"/>
                <a:cs typeface="Helvetica Neue"/>
              </a:rPr>
              <a:t>In één systeem.</a:t>
            </a:r>
          </a:p>
        </p:txBody>
      </p:sp>
      <p:sp>
        <p:nvSpPr>
          <p:cNvPr id="3" name="">
            <a:extLst xmlns:a="http://schemas.openxmlformats.org/drawingml/2006/main">
              <a:ext uri="{FF2B5EF4-FFF2-40B4-BE49-F238E27FC236}">
                <a16:creationId xmlns:a16="http://schemas.microsoft.com/office/drawing/2014/main" id="{2FA21192-4DFF-4257-B0D1-984640D612A7}"/>
              </a:ext>
            </a:extLst>
          </p:cNvPr>
          <p:cNvSpPr>
            <a:spLocks xmlns:a="http://schemas.openxmlformats.org/drawingml/2006/main" noGrp="1"/>
          </p:cNvSpPr>
          <p:nvPr/>
        </p:nvSpPr>
        <p:spPr>
          <a:xfrm xmlns:a="http://schemas.openxmlformats.org/drawingml/2006/main">
            <a:off x="400050" y="3409950"/>
            <a:ext cx="533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a:solidFill>
                  <a:srgbClr val="5E6878"/>
                </a:solidFill>
                <a:latin typeface="Helvetica Neue"/>
                <a:ea typeface="Helvetica Neue"/>
                <a:cs typeface="Helvetica Neue"/>
              </a:defRPr>
            </a:pPr>
            <a:r>
              <a:rPr sz="1875">
                <a:solidFill>
                  <a:srgbClr val="5E6878"/>
                </a:solidFill>
                <a:latin typeface="Helvetica Neue"/>
                <a:ea typeface="Helvetica Neue"/>
                <a:cs typeface="Helvetica Neue"/>
              </a:rPr>
              <a:t>Kassa, voorraad, klanten, webshop en slimme hulp voor de winkelier.</a:t>
            </a:r>
          </a:p>
        </p:txBody>
      </p:sp>
      <p:sp>
        <p:nvSpPr>
          <p:cNvPr id="4" name="">
            <a:extLst xmlns:a="http://schemas.openxmlformats.org/drawingml/2006/main">
              <a:ext uri="{FF2B5EF4-FFF2-40B4-BE49-F238E27FC236}">
                <a16:creationId xmlns:a16="http://schemas.microsoft.com/office/drawing/2014/main" id="{C81D3585-D549-44A6-831F-02A70297C807}"/>
              </a:ext>
            </a:extLst>
          </p:cNvPr>
          <p:cNvSpPr>
            <a:spLocks xmlns:a="http://schemas.openxmlformats.org/drawingml/2006/main" noGrp="1"/>
          </p:cNvSpPr>
          <p:nvPr/>
        </p:nvSpPr>
        <p:spPr>
          <a:xfrm xmlns:a="http://schemas.openxmlformats.org/drawingml/2006/main">
            <a:off x="400050" y="4762500"/>
            <a:ext cx="3162300" cy="323850"/>
          </a:xfrm>
          <a:prstGeom xmlns:a="http://schemas.openxmlformats.org/drawingml/2006/main" prst="roundRect">
            <a:avLst>
              <a:gd name="adj" fmla="val 35294"/>
            </a:avLst>
          </a:prstGeom>
          <a:solidFill xmlns:a="http://schemas.openxmlformats.org/drawingml/2006/main">
            <a:srgbClr val="2186F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47F8DE-D15E-432D-8A18-53B4696AC713}"/>
              </a:ext>
            </a:extLst>
          </p:cNvPr>
          <p:cNvSpPr>
            <a:spLocks xmlns:a="http://schemas.openxmlformats.org/drawingml/2006/main" noGrp="1"/>
          </p:cNvSpPr>
          <p:nvPr/>
        </p:nvSpPr>
        <p:spPr>
          <a:xfrm xmlns:a="http://schemas.openxmlformats.org/drawingml/2006/main">
            <a:off x="514350" y="4848225"/>
            <a:ext cx="2933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GEZOCHTE INVESTERING · € 250.000</a:t>
            </a:r>
          </a:p>
        </p:txBody>
      </p:sp>
      <p:sp>
        <p:nvSpPr>
          <p:cNvPr id="6" name="">
            <a:extLst xmlns:a="http://schemas.openxmlformats.org/drawingml/2006/main">
              <a:ext uri="{FF2B5EF4-FFF2-40B4-BE49-F238E27FC236}">
                <a16:creationId xmlns:a16="http://schemas.microsoft.com/office/drawing/2014/main" id="{D85F99C6-3251-4B3E-AB9C-ECF41AC40C83}"/>
              </a:ext>
            </a:extLst>
          </p:cNvPr>
          <p:cNvSpPr>
            <a:spLocks xmlns:a="http://schemas.openxmlformats.org/drawingml/2006/main" noGrp="1"/>
          </p:cNvSpPr>
          <p:nvPr/>
        </p:nvSpPr>
        <p:spPr>
          <a:xfrm xmlns:a="http://schemas.openxmlformats.org/drawingml/2006/main">
            <a:off x="400050" y="529590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0B1220"/>
                </a:solidFill>
                <a:latin typeface="Helvetica Neue"/>
                <a:ea typeface="Helvetica Neue"/>
                <a:cs typeface="Helvetica Neue"/>
              </a:defRPr>
            </a:pPr>
            <a:r>
              <a:rPr sz="1350" b="1">
                <a:solidFill>
                  <a:srgbClr val="0B1220"/>
                </a:solidFill>
                <a:latin typeface="Helvetica Neue"/>
                <a:ea typeface="Helvetica Neue"/>
                <a:cs typeface="Helvetica Neue"/>
              </a:rPr>
              <a:t>Met dat geld wil ik PWAYMENT afwerken en doorgroeien naar 100 betalende winkels.</a:t>
            </a:r>
          </a:p>
        </p:txBody>
      </p:sp>
      <p:sp>
        <p:nvSpPr>
          <p:cNvPr id="7" name="">
            <a:extLst xmlns:a="http://schemas.openxmlformats.org/drawingml/2006/main">
              <a:ext uri="{FF2B5EF4-FFF2-40B4-BE49-F238E27FC236}">
                <a16:creationId xmlns:a16="http://schemas.microsoft.com/office/drawing/2014/main" id="{D3C4962F-78F7-47F8-90C9-F1527411760C}"/>
              </a:ext>
            </a:extLst>
          </p:cNvPr>
          <p:cNvSpPr>
            <a:spLocks xmlns:a="http://schemas.openxmlformats.org/drawingml/2006/main" noGrp="1"/>
          </p:cNvSpPr>
          <p:nvPr/>
        </p:nvSpPr>
        <p:spPr>
          <a:xfrm xmlns:a="http://schemas.openxmlformats.org/drawingml/2006/main">
            <a:off x="6276975" y="676275"/>
            <a:ext cx="5524500" cy="4895850"/>
          </a:xfrm>
          <a:prstGeom xmlns:a="http://schemas.openxmlformats.org/drawingml/2006/main" prst="roundRect">
            <a:avLst>
              <a:gd name="adj" fmla="val 2335"/>
            </a:avLst>
          </a:prstGeom>
          <a:solidFill xmlns:a="http://schemas.openxmlformats.org/drawingml/2006/main">
            <a:srgbClr val="FFFFFF"/>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e4208ce1fba43bc"/>
          <a:srcRect xmlns:a="http://schemas.openxmlformats.org/drawingml/2006/main" l="18250" t="0" r="18250" b="0"/>
          <a:stretch xmlns:a="http://schemas.openxmlformats.org/drawingml/2006/main">
            <a:fillRect l="0" t="0" r="0" b="0"/>
          </a:stretch>
        </p:blipFill>
        <p:spPr>
          <a:xfrm xmlns:a="http://schemas.openxmlformats.org/drawingml/2006/main">
            <a:off x="6286500" y="685800"/>
            <a:ext cx="5505450" cy="4876800"/>
          </a:xfrm>
          <a:prstGeom xmlns:a="http://schemas.openxmlformats.org/drawingml/2006/main" prst="roundRect">
            <a:avLst>
              <a:gd name="adj" fmla="val 2344"/>
            </a:avLst>
          </a:prstGeom>
        </p:spPr>
      </p:pic>
      <p:sp>
        <p:nvSpPr>
          <p:cNvPr id="9" name="">
            <a:extLst xmlns:a="http://schemas.openxmlformats.org/drawingml/2006/main">
              <a:ext uri="{FF2B5EF4-FFF2-40B4-BE49-F238E27FC236}">
                <a16:creationId xmlns:a16="http://schemas.microsoft.com/office/drawing/2014/main" id="{6D7D1D61-A868-4E13-9878-B3DC0C3292B0}"/>
              </a:ext>
            </a:extLst>
          </p:cNvPr>
          <p:cNvSpPr>
            <a:spLocks xmlns:a="http://schemas.openxmlformats.org/drawingml/2006/main" noGrp="1"/>
          </p:cNvSpPr>
          <p:nvPr/>
        </p:nvSpPr>
        <p:spPr>
          <a:xfrm xmlns:a="http://schemas.openxmlformats.org/drawingml/2006/main">
            <a:off x="400050" y="6115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a:solidFill>
                  <a:srgbClr val="5E6878"/>
                </a:solidFill>
                <a:latin typeface="Helvetica Neue"/>
                <a:ea typeface="Helvetica Neue"/>
                <a:cs typeface="Helvetica Neue"/>
              </a:defRPr>
            </a:pPr>
            <a:r>
              <a:rPr sz="975">
                <a:solidFill>
                  <a:srgbClr val="5E6878"/>
                </a:solidFill>
                <a:latin typeface="Helvetica Neue"/>
                <a:ea typeface="Helvetica Neue"/>
                <a:cs typeface="Helvetica Neue"/>
              </a:rPr>
              <a:t>België · september 2026</a:t>
            </a:r>
          </a:p>
        </p:txBody>
      </p:sp>
      <p:sp>
        <p:nvSpPr>
          <p:cNvPr id="10" name="">
            <a:extLst xmlns:a="http://schemas.openxmlformats.org/drawingml/2006/main">
              <a:ext uri="{FF2B5EF4-FFF2-40B4-BE49-F238E27FC236}">
                <a16:creationId xmlns:a16="http://schemas.microsoft.com/office/drawing/2014/main" id="{C567E997-B52E-4FB1-846E-EF8875A3372D}"/>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a:t>
            </a:r>
          </a:p>
        </p:txBody>
      </p:sp>
      <p:sp>
        <p:nvSpPr>
          <p:cNvPr id="11" name="">
            <a:extLst xmlns:a="http://schemas.openxmlformats.org/drawingml/2006/main">
              <a:ext uri="{FF2B5EF4-FFF2-40B4-BE49-F238E27FC236}">
                <a16:creationId xmlns:a16="http://schemas.microsoft.com/office/drawing/2014/main" id="{05690810-121C-43F1-BC13-4E5DF1AF5FF2}"/>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01</a:t>
            </a:r>
          </a:p>
        </p:txBody>
      </p:sp>
    </p:spTree>
    <p:extLst>
      <p:ext uri="{BB962C8B-B14F-4D97-AF65-F5344CB8AC3E}">
        <p14:creationId xmlns:p14="http://schemas.microsoft.com/office/powerpoint/2010/main" val="17366384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C3331A4-9396-4D7E-B06B-0C684BBDBC24}"/>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HET PROBLEEM</a:t>
            </a:r>
          </a:p>
        </p:txBody>
      </p:sp>
      <p:sp>
        <p:nvSpPr>
          <p:cNvPr id="2" name="">
            <a:extLst xmlns:a="http://schemas.openxmlformats.org/drawingml/2006/main">
              <a:ext uri="{FF2B5EF4-FFF2-40B4-BE49-F238E27FC236}">
                <a16:creationId xmlns:a16="http://schemas.microsoft.com/office/drawing/2014/main" id="{882F96E1-BCB7-4407-9579-714C02F8F9F4}"/>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879"/>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Winkeliers verliezen tijd omdat hun systemen niet samenwerken.</a:t>
            </a:r>
          </a:p>
        </p:txBody>
      </p:sp>
      <p:sp>
        <p:nvSpPr>
          <p:cNvPr id="3" name="">
            <a:extLst xmlns:a="http://schemas.openxmlformats.org/drawingml/2006/main">
              <a:ext uri="{FF2B5EF4-FFF2-40B4-BE49-F238E27FC236}">
                <a16:creationId xmlns:a16="http://schemas.microsoft.com/office/drawing/2014/main" id="{6E32B748-60C7-4131-ACFF-4BE935C882AD}"/>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8EF87BCB-9BA0-4FE2-8901-F8FC48883DCF}"/>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D6AC38F-C532-46E3-9B12-B447AC824FA7}"/>
              </a:ext>
            </a:extLst>
          </p:cNvPr>
          <p:cNvSpPr>
            <a:spLocks xmlns:a="http://schemas.openxmlformats.org/drawingml/2006/main" noGrp="1"/>
          </p:cNvSpPr>
          <p:nvPr/>
        </p:nvSpPr>
        <p:spPr>
          <a:xfrm xmlns:a="http://schemas.openxmlformats.org/drawingml/2006/main">
            <a:off x="400050" y="16954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Wat er vandaag gebeurt</a:t>
            </a:r>
          </a:p>
        </p:txBody>
      </p:sp>
      <p:sp>
        <p:nvSpPr>
          <p:cNvPr id="6" name="">
            <a:extLst xmlns:a="http://schemas.openxmlformats.org/drawingml/2006/main">
              <a:ext uri="{FF2B5EF4-FFF2-40B4-BE49-F238E27FC236}">
                <a16:creationId xmlns:a16="http://schemas.microsoft.com/office/drawing/2014/main" id="{905C6C67-7E5D-4343-A9ED-FE75453491D7}"/>
              </a:ext>
            </a:extLst>
          </p:cNvPr>
          <p:cNvSpPr>
            <a:spLocks xmlns:a="http://schemas.openxmlformats.org/drawingml/2006/main" noGrp="1"/>
          </p:cNvSpPr>
          <p:nvPr/>
        </p:nvSpPr>
        <p:spPr>
          <a:xfrm xmlns:a="http://schemas.openxmlformats.org/drawingml/2006/main">
            <a:off x="400050" y="2209800"/>
            <a:ext cx="4953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5E6878"/>
                </a:solidFill>
                <a:latin typeface="Helvetica Neue"/>
                <a:ea typeface="Helvetica Neue"/>
                <a:cs typeface="Helvetica Neue"/>
              </a:defRPr>
            </a:pPr>
            <a:r>
              <a:rPr sz="1650">
                <a:solidFill>
                  <a:srgbClr val="5E6878"/>
                </a:solidFill>
                <a:latin typeface="Helvetica Neue"/>
                <a:ea typeface="Helvetica Neue"/>
                <a:cs typeface="Helvetica Neue"/>
              </a:rPr>
              <a:t>De kassa, voorraad, webshop en klantgegevens zitten vaak op verschillende plaatsen. Daardoor moet de winkelier hetzelfde werk meerdere keren doen.</a:t>
            </a:r>
          </a:p>
        </p:txBody>
      </p:sp>
      <p:sp>
        <p:nvSpPr>
          <p:cNvPr id="7" name="">
            <a:extLst xmlns:a="http://schemas.openxmlformats.org/drawingml/2006/main">
              <a:ext uri="{FF2B5EF4-FFF2-40B4-BE49-F238E27FC236}">
                <a16:creationId xmlns:a16="http://schemas.microsoft.com/office/drawing/2014/main" id="{73A09156-29AA-4965-9FDA-0AA7C098A78B}"/>
              </a:ext>
            </a:extLst>
          </p:cNvPr>
          <p:cNvSpPr>
            <a:spLocks xmlns:a="http://schemas.openxmlformats.org/drawingml/2006/main" noGrp="1"/>
          </p:cNvSpPr>
          <p:nvPr/>
        </p:nvSpPr>
        <p:spPr>
          <a:xfrm xmlns:a="http://schemas.openxmlformats.org/drawingml/2006/main">
            <a:off x="400050" y="4000500"/>
            <a:ext cx="4953000" cy="13525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121D31-9962-4CEA-AB14-E8EB2EBCB478}"/>
              </a:ext>
            </a:extLst>
          </p:cNvPr>
          <p:cNvSpPr>
            <a:spLocks xmlns:a="http://schemas.openxmlformats.org/drawingml/2006/main" noGrp="1"/>
          </p:cNvSpPr>
          <p:nvPr/>
        </p:nvSpPr>
        <p:spPr>
          <a:xfrm xmlns:a="http://schemas.openxmlformats.org/drawingml/2006/main">
            <a:off x="647700" y="42672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a:solidFill>
                  <a:srgbClr val="55CFF7"/>
                </a:solidFill>
                <a:latin typeface="Helvetica Neue"/>
                <a:ea typeface="Helvetica Neue"/>
                <a:cs typeface="Helvetica Neue"/>
              </a:defRPr>
            </a:pPr>
            <a:r>
              <a:rPr sz="975" b="1">
                <a:solidFill>
                  <a:srgbClr val="55CFF7"/>
                </a:solidFill>
                <a:latin typeface="Helvetica Neue"/>
                <a:ea typeface="Helvetica Neue"/>
                <a:cs typeface="Helvetica Neue"/>
              </a:rPr>
              <a:t>De eenvoudige vraag</a:t>
            </a:r>
          </a:p>
        </p:txBody>
      </p:sp>
      <p:sp>
        <p:nvSpPr>
          <p:cNvPr id="9" name="">
            <a:extLst xmlns:a="http://schemas.openxmlformats.org/drawingml/2006/main">
              <a:ext uri="{FF2B5EF4-FFF2-40B4-BE49-F238E27FC236}">
                <a16:creationId xmlns:a16="http://schemas.microsoft.com/office/drawing/2014/main" id="{93C6D4F8-6676-4D9F-AF52-88448C716BEB}"/>
              </a:ext>
            </a:extLst>
          </p:cNvPr>
          <p:cNvSpPr>
            <a:spLocks xmlns:a="http://schemas.openxmlformats.org/drawingml/2006/main" noGrp="1"/>
          </p:cNvSpPr>
          <p:nvPr/>
        </p:nvSpPr>
        <p:spPr>
          <a:xfrm xmlns:a="http://schemas.openxmlformats.org/drawingml/2006/main">
            <a:off x="647700" y="4638675"/>
            <a:ext cx="4267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“Kan dit niet allemaal in één duidelijk systeem?”</a:t>
            </a:r>
          </a:p>
        </p:txBody>
      </p:sp>
      <p:sp>
        <p:nvSpPr>
          <p:cNvPr id="10" name="">
            <a:extLst xmlns:a="http://schemas.openxmlformats.org/drawingml/2006/main">
              <a:ext uri="{FF2B5EF4-FFF2-40B4-BE49-F238E27FC236}">
                <a16:creationId xmlns:a16="http://schemas.microsoft.com/office/drawing/2014/main" id="{79458ADC-205B-4647-BEA5-D3BFDD49517E}"/>
              </a:ext>
            </a:extLst>
          </p:cNvPr>
          <p:cNvSpPr>
            <a:spLocks xmlns:a="http://schemas.openxmlformats.org/drawingml/2006/main" noGrp="1"/>
          </p:cNvSpPr>
          <p:nvPr/>
        </p:nvSpPr>
        <p:spPr>
          <a:xfrm xmlns:a="http://schemas.openxmlformats.org/drawingml/2006/main">
            <a:off x="6324600" y="16573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1</a:t>
            </a:r>
          </a:p>
        </p:txBody>
      </p:sp>
      <p:sp>
        <p:nvSpPr>
          <p:cNvPr id="11" name="">
            <a:extLst xmlns:a="http://schemas.openxmlformats.org/drawingml/2006/main">
              <a:ext uri="{FF2B5EF4-FFF2-40B4-BE49-F238E27FC236}">
                <a16:creationId xmlns:a16="http://schemas.microsoft.com/office/drawing/2014/main" id="{EED0EBED-B3E3-40E8-B3E1-F67E2EC3596A}"/>
              </a:ext>
            </a:extLst>
          </p:cNvPr>
          <p:cNvSpPr>
            <a:spLocks xmlns:a="http://schemas.openxmlformats.org/drawingml/2006/main" noGrp="1"/>
          </p:cNvSpPr>
          <p:nvPr/>
        </p:nvSpPr>
        <p:spPr>
          <a:xfrm xmlns:a="http://schemas.openxmlformats.org/drawingml/2006/main">
            <a:off x="7010400" y="16764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Te veel programma’s</a:t>
            </a:r>
          </a:p>
        </p:txBody>
      </p:sp>
      <p:sp>
        <p:nvSpPr>
          <p:cNvPr id="12" name="">
            <a:extLst xmlns:a="http://schemas.openxmlformats.org/drawingml/2006/main">
              <a:ext uri="{FF2B5EF4-FFF2-40B4-BE49-F238E27FC236}">
                <a16:creationId xmlns:a16="http://schemas.microsoft.com/office/drawing/2014/main" id="{9D4C7630-F818-4663-9F28-0F5D37750A2F}"/>
              </a:ext>
            </a:extLst>
          </p:cNvPr>
          <p:cNvSpPr>
            <a:spLocks xmlns:a="http://schemas.openxmlformats.org/drawingml/2006/main" noGrp="1"/>
          </p:cNvSpPr>
          <p:nvPr/>
        </p:nvSpPr>
        <p:spPr>
          <a:xfrm xmlns:a="http://schemas.openxmlformats.org/drawingml/2006/main">
            <a:off x="7010400" y="209550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De winkelier moet voortdurend wisselen tussen verschillende systemen.</a:t>
            </a:r>
          </a:p>
        </p:txBody>
      </p:sp>
      <p:sp>
        <p:nvSpPr>
          <p:cNvPr id="13" name="">
            <a:extLst xmlns:a="http://schemas.openxmlformats.org/drawingml/2006/main">
              <a:ext uri="{FF2B5EF4-FFF2-40B4-BE49-F238E27FC236}">
                <a16:creationId xmlns:a16="http://schemas.microsoft.com/office/drawing/2014/main" id="{C27B528A-CC65-4493-85FE-1A5D57F85A43}"/>
              </a:ext>
            </a:extLst>
          </p:cNvPr>
          <p:cNvSpPr>
            <a:spLocks xmlns:a="http://schemas.openxmlformats.org/drawingml/2006/main" noGrp="1"/>
          </p:cNvSpPr>
          <p:nvPr/>
        </p:nvSpPr>
        <p:spPr>
          <a:xfrm xmlns:a="http://schemas.openxmlformats.org/drawingml/2006/main">
            <a:off x="6324600" y="2819400"/>
            <a:ext cx="5181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381B336-56BD-4D78-A19E-69880066F9BA}"/>
              </a:ext>
            </a:extLst>
          </p:cNvPr>
          <p:cNvSpPr>
            <a:spLocks xmlns:a="http://schemas.openxmlformats.org/drawingml/2006/main" noGrp="1"/>
          </p:cNvSpPr>
          <p:nvPr/>
        </p:nvSpPr>
        <p:spPr>
          <a:xfrm xmlns:a="http://schemas.openxmlformats.org/drawingml/2006/main">
            <a:off x="6324600" y="30480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DBE45BA8-B8D7-43D4-997E-6BBCED35DFBA}"/>
              </a:ext>
            </a:extLst>
          </p:cNvPr>
          <p:cNvSpPr>
            <a:spLocks xmlns:a="http://schemas.openxmlformats.org/drawingml/2006/main" noGrp="1"/>
          </p:cNvSpPr>
          <p:nvPr/>
        </p:nvSpPr>
        <p:spPr>
          <a:xfrm xmlns:a="http://schemas.openxmlformats.org/drawingml/2006/main">
            <a:off x="7010400" y="3067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Werk wordt herhaald</a:t>
            </a:r>
          </a:p>
        </p:txBody>
      </p:sp>
      <p:sp>
        <p:nvSpPr>
          <p:cNvPr id="16" name="">
            <a:extLst xmlns:a="http://schemas.openxmlformats.org/drawingml/2006/main">
              <a:ext uri="{FF2B5EF4-FFF2-40B4-BE49-F238E27FC236}">
                <a16:creationId xmlns:a16="http://schemas.microsoft.com/office/drawing/2014/main" id="{559485C0-0B20-487C-BEA0-168AB5F0E332}"/>
              </a:ext>
            </a:extLst>
          </p:cNvPr>
          <p:cNvSpPr>
            <a:spLocks xmlns:a="http://schemas.openxmlformats.org/drawingml/2006/main" noGrp="1"/>
          </p:cNvSpPr>
          <p:nvPr/>
        </p:nvSpPr>
        <p:spPr>
          <a:xfrm xmlns:a="http://schemas.openxmlformats.org/drawingml/2006/main">
            <a:off x="7010400" y="348615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Producten, klanten en bestellingen worden meer dan één keer ingevoerd.</a:t>
            </a:r>
          </a:p>
        </p:txBody>
      </p:sp>
      <p:sp>
        <p:nvSpPr>
          <p:cNvPr id="17" name="">
            <a:extLst xmlns:a="http://schemas.openxmlformats.org/drawingml/2006/main">
              <a:ext uri="{FF2B5EF4-FFF2-40B4-BE49-F238E27FC236}">
                <a16:creationId xmlns:a16="http://schemas.microsoft.com/office/drawing/2014/main" id="{8127AA42-E2F4-4E62-B784-66B52419D6E4}"/>
              </a:ext>
            </a:extLst>
          </p:cNvPr>
          <p:cNvSpPr>
            <a:spLocks xmlns:a="http://schemas.openxmlformats.org/drawingml/2006/main" noGrp="1"/>
          </p:cNvSpPr>
          <p:nvPr/>
        </p:nvSpPr>
        <p:spPr>
          <a:xfrm xmlns:a="http://schemas.openxmlformats.org/drawingml/2006/main">
            <a:off x="6324600" y="4210050"/>
            <a:ext cx="5181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EE89ED-456E-4E47-8C6F-5FF9EDB12209}"/>
              </a:ext>
            </a:extLst>
          </p:cNvPr>
          <p:cNvSpPr>
            <a:spLocks xmlns:a="http://schemas.openxmlformats.org/drawingml/2006/main" noGrp="1"/>
          </p:cNvSpPr>
          <p:nvPr/>
        </p:nvSpPr>
        <p:spPr>
          <a:xfrm xmlns:a="http://schemas.openxmlformats.org/drawingml/2006/main">
            <a:off x="6324600" y="44386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1F229141-E124-4222-B5AD-D08F778C9F02}"/>
              </a:ext>
            </a:extLst>
          </p:cNvPr>
          <p:cNvSpPr>
            <a:spLocks xmlns:a="http://schemas.openxmlformats.org/drawingml/2006/main" noGrp="1"/>
          </p:cNvSpPr>
          <p:nvPr/>
        </p:nvSpPr>
        <p:spPr>
          <a:xfrm xmlns:a="http://schemas.openxmlformats.org/drawingml/2006/main">
            <a:off x="7010400" y="4457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Te weinig overzicht</a:t>
            </a:r>
          </a:p>
        </p:txBody>
      </p:sp>
      <p:sp>
        <p:nvSpPr>
          <p:cNvPr id="20" name="">
            <a:extLst xmlns:a="http://schemas.openxmlformats.org/drawingml/2006/main">
              <a:ext uri="{FF2B5EF4-FFF2-40B4-BE49-F238E27FC236}">
                <a16:creationId xmlns:a16="http://schemas.microsoft.com/office/drawing/2014/main" id="{220D5FA4-079D-43BE-869F-5CEFB978E8AE}"/>
              </a:ext>
            </a:extLst>
          </p:cNvPr>
          <p:cNvSpPr>
            <a:spLocks xmlns:a="http://schemas.openxmlformats.org/drawingml/2006/main" noGrp="1"/>
          </p:cNvSpPr>
          <p:nvPr/>
        </p:nvSpPr>
        <p:spPr>
          <a:xfrm xmlns:a="http://schemas.openxmlformats.org/drawingml/2006/main">
            <a:off x="7010400" y="487680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De eigenaar ziet te laat wat goed gaat en waar geld verloren gaat.</a:t>
            </a:r>
          </a:p>
        </p:txBody>
      </p:sp>
    </p:spTree>
    <p:extLst>
      <p:ext uri="{BB962C8B-B14F-4D97-AF65-F5344CB8AC3E}">
        <p14:creationId xmlns:p14="http://schemas.microsoft.com/office/powerpoint/2010/main" val="3404050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152D60F-1536-4CF8-BF06-FAB6B49C6DDC}"/>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DE OPLOSSING</a:t>
            </a:r>
          </a:p>
        </p:txBody>
      </p:sp>
      <p:sp>
        <p:nvSpPr>
          <p:cNvPr id="2" name="">
            <a:extLst xmlns:a="http://schemas.openxmlformats.org/drawingml/2006/main">
              <a:ext uri="{FF2B5EF4-FFF2-40B4-BE49-F238E27FC236}">
                <a16:creationId xmlns:a16="http://schemas.microsoft.com/office/drawing/2014/main" id="{9AD88B76-EE8C-4127-9834-C34CFFDCB5A5}"/>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PWAYMENT brengt de hele winkel samen.</a:t>
            </a:r>
          </a:p>
        </p:txBody>
      </p:sp>
      <p:sp>
        <p:nvSpPr>
          <p:cNvPr id="3" name="">
            <a:extLst xmlns:a="http://schemas.openxmlformats.org/drawingml/2006/main">
              <a:ext uri="{FF2B5EF4-FFF2-40B4-BE49-F238E27FC236}">
                <a16:creationId xmlns:a16="http://schemas.microsoft.com/office/drawing/2014/main" id="{34E74774-AC51-4580-A42A-93E667AAEF4E}"/>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1D1CCC91-9DCB-4DF2-B1E5-DAF6170A8C0A}"/>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08C1854-F2B6-48E1-A6DD-85CF70345607}"/>
              </a:ext>
            </a:extLst>
          </p:cNvPr>
          <p:cNvSpPr>
            <a:spLocks xmlns:a="http://schemas.openxmlformats.org/drawingml/2006/main" noGrp="1"/>
          </p:cNvSpPr>
          <p:nvPr/>
        </p:nvSpPr>
        <p:spPr>
          <a:xfrm xmlns:a="http://schemas.openxmlformats.org/drawingml/2006/main">
            <a:off x="390525" y="1590675"/>
            <a:ext cx="6838950" cy="428625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B8BCC4"/>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6599576eec44a23"/>
          <a:stretch xmlns:a="http://schemas.openxmlformats.org/drawingml/2006/main"/>
        </p:blipFill>
        <p:spPr>
          <a:xfrm xmlns:a="http://schemas.openxmlformats.org/drawingml/2006/main">
            <a:off x="400050" y="1815703"/>
            <a:ext cx="6819900" cy="3836194"/>
          </a:xfrm>
          <a:prstGeom xmlns:a="http://schemas.openxmlformats.org/drawingml/2006/main" prst="roundRect">
            <a:avLst>
              <a:gd name="adj" fmla="val 2679"/>
            </a:avLst>
          </a:prstGeom>
        </p:spPr>
      </p:pic>
      <p:sp>
        <p:nvSpPr>
          <p:cNvPr id="7" name="">
            <a:extLst xmlns:a="http://schemas.openxmlformats.org/drawingml/2006/main">
              <a:ext uri="{FF2B5EF4-FFF2-40B4-BE49-F238E27FC236}">
                <a16:creationId xmlns:a16="http://schemas.microsoft.com/office/drawing/2014/main" id="{616FC60A-3C6F-4F02-84D3-E1166CBB34B1}"/>
              </a:ext>
            </a:extLst>
          </p:cNvPr>
          <p:cNvSpPr>
            <a:spLocks xmlns:a="http://schemas.openxmlformats.org/drawingml/2006/main" noGrp="1"/>
          </p:cNvSpPr>
          <p:nvPr/>
        </p:nvSpPr>
        <p:spPr>
          <a:xfrm xmlns:a="http://schemas.openxmlformats.org/drawingml/2006/main">
            <a:off x="7753350" y="16573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29"/>
          </a:bodyPr>
          <a:lstStyle xmlns:a="http://schemas.openxmlformats.org/drawingml/2006/main"/>
          <a:p xmlns:a="http://schemas.openxmlformats.org/drawingml/2006/main">
            <a:pPr algn="l">
              <a:buNone/>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Eén platform voor de hele winkel</a:t>
            </a:r>
          </a:p>
        </p:txBody>
      </p:sp>
      <p:sp>
        <p:nvSpPr>
          <p:cNvPr id="8" name="">
            <a:extLst xmlns:a="http://schemas.openxmlformats.org/drawingml/2006/main">
              <a:ext uri="{FF2B5EF4-FFF2-40B4-BE49-F238E27FC236}">
                <a16:creationId xmlns:a16="http://schemas.microsoft.com/office/drawing/2014/main" id="{AA7FBD33-7724-40C0-8014-A25B7A20BE1F}"/>
              </a:ext>
            </a:extLst>
          </p:cNvPr>
          <p:cNvSpPr>
            <a:spLocks xmlns:a="http://schemas.openxmlformats.org/drawingml/2006/main" noGrp="1"/>
          </p:cNvSpPr>
          <p:nvPr/>
        </p:nvSpPr>
        <p:spPr>
          <a:xfrm xmlns:a="http://schemas.openxmlformats.org/drawingml/2006/main">
            <a:off x="7753350" y="27717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9DAD7E-7CB8-4E96-B3C4-3FFD3CA667E3}"/>
              </a:ext>
            </a:extLst>
          </p:cNvPr>
          <p:cNvSpPr>
            <a:spLocks xmlns:a="http://schemas.openxmlformats.org/drawingml/2006/main" noGrp="1"/>
          </p:cNvSpPr>
          <p:nvPr/>
        </p:nvSpPr>
        <p:spPr>
          <a:xfrm xmlns:a="http://schemas.openxmlformats.org/drawingml/2006/main">
            <a:off x="7753350" y="22479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Kassa</a:t>
            </a:r>
          </a:p>
        </p:txBody>
      </p:sp>
      <p:sp>
        <p:nvSpPr>
          <p:cNvPr id="10" name="">
            <a:extLst xmlns:a="http://schemas.openxmlformats.org/drawingml/2006/main">
              <a:ext uri="{FF2B5EF4-FFF2-40B4-BE49-F238E27FC236}">
                <a16:creationId xmlns:a16="http://schemas.microsoft.com/office/drawing/2014/main" id="{D9303796-38B4-4064-BF8F-6E85D71F0486}"/>
              </a:ext>
            </a:extLst>
          </p:cNvPr>
          <p:cNvSpPr>
            <a:spLocks xmlns:a="http://schemas.openxmlformats.org/drawingml/2006/main" noGrp="1"/>
          </p:cNvSpPr>
          <p:nvPr/>
        </p:nvSpPr>
        <p:spPr>
          <a:xfrm xmlns:a="http://schemas.openxmlformats.org/drawingml/2006/main">
            <a:off x="9010650" y="22479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Snel producten verkopen en betalen</a:t>
            </a:r>
          </a:p>
        </p:txBody>
      </p:sp>
      <p:sp>
        <p:nvSpPr>
          <p:cNvPr id="11" name="">
            <a:extLst xmlns:a="http://schemas.openxmlformats.org/drawingml/2006/main">
              <a:ext uri="{FF2B5EF4-FFF2-40B4-BE49-F238E27FC236}">
                <a16:creationId xmlns:a16="http://schemas.microsoft.com/office/drawing/2014/main" id="{7768B5AC-8BCC-4887-8EC7-0C22B101151A}"/>
              </a:ext>
            </a:extLst>
          </p:cNvPr>
          <p:cNvSpPr>
            <a:spLocks xmlns:a="http://schemas.openxmlformats.org/drawingml/2006/main" noGrp="1"/>
          </p:cNvSpPr>
          <p:nvPr/>
        </p:nvSpPr>
        <p:spPr>
          <a:xfrm xmlns:a="http://schemas.openxmlformats.org/drawingml/2006/main">
            <a:off x="7753350" y="34575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AEBA62-5906-41C5-BEB1-048D2D79BF89}"/>
              </a:ext>
            </a:extLst>
          </p:cNvPr>
          <p:cNvSpPr>
            <a:spLocks xmlns:a="http://schemas.openxmlformats.org/drawingml/2006/main" noGrp="1"/>
          </p:cNvSpPr>
          <p:nvPr/>
        </p:nvSpPr>
        <p:spPr>
          <a:xfrm xmlns:a="http://schemas.openxmlformats.org/drawingml/2006/main">
            <a:off x="7753350" y="29337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Voorraad</a:t>
            </a:r>
          </a:p>
        </p:txBody>
      </p:sp>
      <p:sp>
        <p:nvSpPr>
          <p:cNvPr id="13" name="">
            <a:extLst xmlns:a="http://schemas.openxmlformats.org/drawingml/2006/main">
              <a:ext uri="{FF2B5EF4-FFF2-40B4-BE49-F238E27FC236}">
                <a16:creationId xmlns:a16="http://schemas.microsoft.com/office/drawing/2014/main" id="{F882E364-0D73-4134-8259-8208AB0958D4}"/>
              </a:ext>
            </a:extLst>
          </p:cNvPr>
          <p:cNvSpPr>
            <a:spLocks xmlns:a="http://schemas.openxmlformats.org/drawingml/2006/main" noGrp="1"/>
          </p:cNvSpPr>
          <p:nvPr/>
        </p:nvSpPr>
        <p:spPr>
          <a:xfrm xmlns:a="http://schemas.openxmlformats.org/drawingml/2006/main">
            <a:off x="9010650" y="29337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Altijd weten wat er nog aanwezig is</a:t>
            </a:r>
          </a:p>
        </p:txBody>
      </p:sp>
      <p:sp>
        <p:nvSpPr>
          <p:cNvPr id="14" name="">
            <a:extLst xmlns:a="http://schemas.openxmlformats.org/drawingml/2006/main">
              <a:ext uri="{FF2B5EF4-FFF2-40B4-BE49-F238E27FC236}">
                <a16:creationId xmlns:a16="http://schemas.microsoft.com/office/drawing/2014/main" id="{E8924B79-10BE-4F9D-9923-94B8786C5B87}"/>
              </a:ext>
            </a:extLst>
          </p:cNvPr>
          <p:cNvSpPr>
            <a:spLocks xmlns:a="http://schemas.openxmlformats.org/drawingml/2006/main" noGrp="1"/>
          </p:cNvSpPr>
          <p:nvPr/>
        </p:nvSpPr>
        <p:spPr>
          <a:xfrm xmlns:a="http://schemas.openxmlformats.org/drawingml/2006/main">
            <a:off x="7753350" y="41433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488FAA3-812D-46F6-9FA3-39AB35ED3FD7}"/>
              </a:ext>
            </a:extLst>
          </p:cNvPr>
          <p:cNvSpPr>
            <a:spLocks xmlns:a="http://schemas.openxmlformats.org/drawingml/2006/main" noGrp="1"/>
          </p:cNvSpPr>
          <p:nvPr/>
        </p:nvSpPr>
        <p:spPr>
          <a:xfrm xmlns:a="http://schemas.openxmlformats.org/drawingml/2006/main">
            <a:off x="7753350" y="36195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Klanten</a:t>
            </a:r>
          </a:p>
        </p:txBody>
      </p:sp>
      <p:sp>
        <p:nvSpPr>
          <p:cNvPr id="16" name="">
            <a:extLst xmlns:a="http://schemas.openxmlformats.org/drawingml/2006/main">
              <a:ext uri="{FF2B5EF4-FFF2-40B4-BE49-F238E27FC236}">
                <a16:creationId xmlns:a16="http://schemas.microsoft.com/office/drawing/2014/main" id="{49E641E6-3F4C-4F75-B90E-F2E31B4A10CA}"/>
              </a:ext>
            </a:extLst>
          </p:cNvPr>
          <p:cNvSpPr>
            <a:spLocks xmlns:a="http://schemas.openxmlformats.org/drawingml/2006/main" noGrp="1"/>
          </p:cNvSpPr>
          <p:nvPr/>
        </p:nvSpPr>
        <p:spPr>
          <a:xfrm xmlns:a="http://schemas.openxmlformats.org/drawingml/2006/main">
            <a:off x="9010650" y="36195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Aankopen, loyaliteit en contactgegevens</a:t>
            </a:r>
          </a:p>
        </p:txBody>
      </p:sp>
      <p:sp>
        <p:nvSpPr>
          <p:cNvPr id="17" name="">
            <a:extLst xmlns:a="http://schemas.openxmlformats.org/drawingml/2006/main">
              <a:ext uri="{FF2B5EF4-FFF2-40B4-BE49-F238E27FC236}">
                <a16:creationId xmlns:a16="http://schemas.microsoft.com/office/drawing/2014/main" id="{C5B9206E-81E8-40B0-97A2-45DEF2368335}"/>
              </a:ext>
            </a:extLst>
          </p:cNvPr>
          <p:cNvSpPr>
            <a:spLocks xmlns:a="http://schemas.openxmlformats.org/drawingml/2006/main" noGrp="1"/>
          </p:cNvSpPr>
          <p:nvPr/>
        </p:nvSpPr>
        <p:spPr>
          <a:xfrm xmlns:a="http://schemas.openxmlformats.org/drawingml/2006/main">
            <a:off x="7753350" y="48291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341A44-266F-4154-8EB3-8DCA863C9956}"/>
              </a:ext>
            </a:extLst>
          </p:cNvPr>
          <p:cNvSpPr>
            <a:spLocks xmlns:a="http://schemas.openxmlformats.org/drawingml/2006/main" noGrp="1"/>
          </p:cNvSpPr>
          <p:nvPr/>
        </p:nvSpPr>
        <p:spPr>
          <a:xfrm xmlns:a="http://schemas.openxmlformats.org/drawingml/2006/main">
            <a:off x="7753350" y="43053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Webshop</a:t>
            </a:r>
          </a:p>
        </p:txBody>
      </p:sp>
      <p:sp>
        <p:nvSpPr>
          <p:cNvPr id="19" name="">
            <a:extLst xmlns:a="http://schemas.openxmlformats.org/drawingml/2006/main">
              <a:ext uri="{FF2B5EF4-FFF2-40B4-BE49-F238E27FC236}">
                <a16:creationId xmlns:a16="http://schemas.microsoft.com/office/drawing/2014/main" id="{57069A0A-C2D5-4B0D-A69F-EA9690675385}"/>
              </a:ext>
            </a:extLst>
          </p:cNvPr>
          <p:cNvSpPr>
            <a:spLocks xmlns:a="http://schemas.openxmlformats.org/drawingml/2006/main" noGrp="1"/>
          </p:cNvSpPr>
          <p:nvPr/>
        </p:nvSpPr>
        <p:spPr>
          <a:xfrm xmlns:a="http://schemas.openxmlformats.org/drawingml/2006/main">
            <a:off x="9010650" y="43053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Dezelfde producten en voorraad online</a:t>
            </a:r>
          </a:p>
        </p:txBody>
      </p:sp>
      <p:sp>
        <p:nvSpPr>
          <p:cNvPr id="20" name="">
            <a:extLst xmlns:a="http://schemas.openxmlformats.org/drawingml/2006/main">
              <a:ext uri="{FF2B5EF4-FFF2-40B4-BE49-F238E27FC236}">
                <a16:creationId xmlns:a16="http://schemas.microsoft.com/office/drawing/2014/main" id="{6F2EF21C-288F-42DA-A15A-B468587055D9}"/>
              </a:ext>
            </a:extLst>
          </p:cNvPr>
          <p:cNvSpPr>
            <a:spLocks xmlns:a="http://schemas.openxmlformats.org/drawingml/2006/main" noGrp="1"/>
          </p:cNvSpPr>
          <p:nvPr/>
        </p:nvSpPr>
        <p:spPr>
          <a:xfrm xmlns:a="http://schemas.openxmlformats.org/drawingml/2006/main">
            <a:off x="7753350" y="5514975"/>
            <a:ext cx="365760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741061D-D901-43FC-9F33-F2F18A26520F}"/>
              </a:ext>
            </a:extLst>
          </p:cNvPr>
          <p:cNvSpPr>
            <a:spLocks xmlns:a="http://schemas.openxmlformats.org/drawingml/2006/main" noGrp="1"/>
          </p:cNvSpPr>
          <p:nvPr/>
        </p:nvSpPr>
        <p:spPr>
          <a:xfrm xmlns:a="http://schemas.openxmlformats.org/drawingml/2006/main">
            <a:off x="7753350" y="49911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Pace</a:t>
            </a:r>
          </a:p>
        </p:txBody>
      </p:sp>
      <p:sp>
        <p:nvSpPr>
          <p:cNvPr id="22" name="">
            <a:extLst xmlns:a="http://schemas.openxmlformats.org/drawingml/2006/main">
              <a:ext uri="{FF2B5EF4-FFF2-40B4-BE49-F238E27FC236}">
                <a16:creationId xmlns:a16="http://schemas.microsoft.com/office/drawing/2014/main" id="{5FD8F9E9-62CD-448A-8B8B-9A8A210EFF0C}"/>
              </a:ext>
            </a:extLst>
          </p:cNvPr>
          <p:cNvSpPr>
            <a:spLocks xmlns:a="http://schemas.openxmlformats.org/drawingml/2006/main" noGrp="1"/>
          </p:cNvSpPr>
          <p:nvPr/>
        </p:nvSpPr>
        <p:spPr>
          <a:xfrm xmlns:a="http://schemas.openxmlformats.org/drawingml/2006/main">
            <a:off x="9010650" y="49911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Digitale assistent die acties voorstelt</a:t>
            </a:r>
          </a:p>
        </p:txBody>
      </p:sp>
    </p:spTree>
    <p:extLst>
      <p:ext uri="{BB962C8B-B14F-4D97-AF65-F5344CB8AC3E}">
        <p14:creationId xmlns:p14="http://schemas.microsoft.com/office/powerpoint/2010/main" val="2285409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36C0876-F537-4D75-ADD9-191F61753A54}"/>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WAT ER AL STAAT</a:t>
            </a:r>
          </a:p>
        </p:txBody>
      </p:sp>
      <p:sp>
        <p:nvSpPr>
          <p:cNvPr id="2" name="">
            <a:extLst xmlns:a="http://schemas.openxmlformats.org/drawingml/2006/main">
              <a:ext uri="{FF2B5EF4-FFF2-40B4-BE49-F238E27FC236}">
                <a16:creationId xmlns:a16="http://schemas.microsoft.com/office/drawing/2014/main" id="{624E0BE0-17F1-4766-8DC8-76D24C64A6AA}"/>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We beginnen niet van nul: het product is al gebouwd.</a:t>
            </a:r>
          </a:p>
        </p:txBody>
      </p:sp>
      <p:sp>
        <p:nvSpPr>
          <p:cNvPr id="3" name="">
            <a:extLst xmlns:a="http://schemas.openxmlformats.org/drawingml/2006/main">
              <a:ext uri="{FF2B5EF4-FFF2-40B4-BE49-F238E27FC236}">
                <a16:creationId xmlns:a16="http://schemas.microsoft.com/office/drawing/2014/main" id="{35EC0F52-42C7-4B3E-813C-CB47F048F88F}"/>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D6C4C518-5A8B-460A-93AD-895649017567}"/>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5192FEFE-568B-40D2-BFAC-B94F4F4B1A47}"/>
              </a:ext>
            </a:extLst>
          </p:cNvPr>
          <p:cNvSpPr>
            <a:spLocks xmlns:a="http://schemas.openxmlformats.org/drawingml/2006/main" noGrp="1"/>
          </p:cNvSpPr>
          <p:nvPr/>
        </p:nvSpPr>
        <p:spPr>
          <a:xfrm xmlns:a="http://schemas.openxmlformats.org/drawingml/2006/main">
            <a:off x="400050" y="161925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54"/>
          </a:bodyPr>
          <a:lstStyle xmlns:a="http://schemas.openxmlformats.org/drawingml/2006/main"/>
          <a:p xmlns:a="http://schemas.openxmlformats.org/drawingml/2006/main">
            <a:pPr algn="l">
              <a:buNone/>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De belangrijkste onderdelen werken</a:t>
            </a:r>
          </a:p>
        </p:txBody>
      </p:sp>
      <p:sp>
        <p:nvSpPr>
          <p:cNvPr id="6" name="">
            <a:extLst xmlns:a="http://schemas.openxmlformats.org/drawingml/2006/main">
              <a:ext uri="{FF2B5EF4-FFF2-40B4-BE49-F238E27FC236}">
                <a16:creationId xmlns:a16="http://schemas.microsoft.com/office/drawing/2014/main" id="{EB4DBC72-D4CC-4AE7-9B10-3FF8853753BD}"/>
              </a:ext>
            </a:extLst>
          </p:cNvPr>
          <p:cNvSpPr>
            <a:spLocks xmlns:a="http://schemas.openxmlformats.org/drawingml/2006/main" noGrp="1"/>
          </p:cNvSpPr>
          <p:nvPr/>
        </p:nvSpPr>
        <p:spPr>
          <a:xfrm xmlns:a="http://schemas.openxmlformats.org/drawingml/2006/main">
            <a:off x="400050" y="2247900"/>
            <a:ext cx="3333750" cy="23812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89A5C61-0370-4C13-AE3D-4DCF24121943}"/>
              </a:ext>
            </a:extLst>
          </p:cNvPr>
          <p:cNvSpPr>
            <a:spLocks xmlns:a="http://schemas.openxmlformats.org/drawingml/2006/main" noGrp="1"/>
          </p:cNvSpPr>
          <p:nvPr/>
        </p:nvSpPr>
        <p:spPr>
          <a:xfrm xmlns:a="http://schemas.openxmlformats.org/drawingml/2006/main">
            <a:off x="6286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POS</a:t>
            </a:r>
          </a:p>
        </p:txBody>
      </p:sp>
      <p:sp>
        <p:nvSpPr>
          <p:cNvPr id="8" name="">
            <a:extLst xmlns:a="http://schemas.openxmlformats.org/drawingml/2006/main">
              <a:ext uri="{FF2B5EF4-FFF2-40B4-BE49-F238E27FC236}">
                <a16:creationId xmlns:a16="http://schemas.microsoft.com/office/drawing/2014/main" id="{3258C4B5-84D5-4FC5-832C-F5141A31FC3C}"/>
              </a:ext>
            </a:extLst>
          </p:cNvPr>
          <p:cNvSpPr>
            <a:spLocks xmlns:a="http://schemas.openxmlformats.org/drawingml/2006/main" noGrp="1"/>
          </p:cNvSpPr>
          <p:nvPr/>
        </p:nvSpPr>
        <p:spPr>
          <a:xfrm xmlns:a="http://schemas.openxmlformats.org/drawingml/2006/main">
            <a:off x="6286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De kassa werkt</a:t>
            </a:r>
          </a:p>
        </p:txBody>
      </p:sp>
      <p:sp>
        <p:nvSpPr>
          <p:cNvPr id="9" name="">
            <a:extLst xmlns:a="http://schemas.openxmlformats.org/drawingml/2006/main">
              <a:ext uri="{FF2B5EF4-FFF2-40B4-BE49-F238E27FC236}">
                <a16:creationId xmlns:a16="http://schemas.microsoft.com/office/drawing/2014/main" id="{1E5B677E-8494-48DF-873D-D170C8B0339D}"/>
              </a:ext>
            </a:extLst>
          </p:cNvPr>
          <p:cNvSpPr>
            <a:spLocks xmlns:a="http://schemas.openxmlformats.org/drawingml/2006/main" noGrp="1"/>
          </p:cNvSpPr>
          <p:nvPr/>
        </p:nvSpPr>
        <p:spPr>
          <a:xfrm xmlns:a="http://schemas.openxmlformats.org/drawingml/2006/main">
            <a:off x="6286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Verkoop, betalingen, retouren, bonnen en dagafsluiting zijn aanwezig.</a:t>
            </a:r>
          </a:p>
        </p:txBody>
      </p:sp>
      <p:sp>
        <p:nvSpPr>
          <p:cNvPr id="10" name="">
            <a:extLst xmlns:a="http://schemas.openxmlformats.org/drawingml/2006/main">
              <a:ext uri="{FF2B5EF4-FFF2-40B4-BE49-F238E27FC236}">
                <a16:creationId xmlns:a16="http://schemas.microsoft.com/office/drawing/2014/main" id="{F387FF7A-51C8-4610-8BE7-216391BD3725}"/>
              </a:ext>
            </a:extLst>
          </p:cNvPr>
          <p:cNvSpPr>
            <a:spLocks xmlns:a="http://schemas.openxmlformats.org/drawingml/2006/main" noGrp="1"/>
          </p:cNvSpPr>
          <p:nvPr/>
        </p:nvSpPr>
        <p:spPr>
          <a:xfrm xmlns:a="http://schemas.openxmlformats.org/drawingml/2006/main">
            <a:off x="411480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3CAB9A3-AE1E-472A-95FC-084CDD0C51E1}"/>
              </a:ext>
            </a:extLst>
          </p:cNvPr>
          <p:cNvSpPr>
            <a:spLocks xmlns:a="http://schemas.openxmlformats.org/drawingml/2006/main" noGrp="1"/>
          </p:cNvSpPr>
          <p:nvPr/>
        </p:nvSpPr>
        <p:spPr>
          <a:xfrm xmlns:a="http://schemas.openxmlformats.org/drawingml/2006/main">
            <a:off x="434340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RETAIL</a:t>
            </a:r>
          </a:p>
        </p:txBody>
      </p:sp>
      <p:sp>
        <p:nvSpPr>
          <p:cNvPr id="12" name="">
            <a:extLst xmlns:a="http://schemas.openxmlformats.org/drawingml/2006/main">
              <a:ext uri="{FF2B5EF4-FFF2-40B4-BE49-F238E27FC236}">
                <a16:creationId xmlns:a16="http://schemas.microsoft.com/office/drawing/2014/main" id="{F092A347-0981-4429-990E-2E1AE6E2892F}"/>
              </a:ext>
            </a:extLst>
          </p:cNvPr>
          <p:cNvSpPr>
            <a:spLocks xmlns:a="http://schemas.openxmlformats.org/drawingml/2006/main" noGrp="1"/>
          </p:cNvSpPr>
          <p:nvPr/>
        </p:nvSpPr>
        <p:spPr>
          <a:xfrm xmlns:a="http://schemas.openxmlformats.org/drawingml/2006/main">
            <a:off x="434340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De winkel wordt beheerd</a:t>
            </a:r>
          </a:p>
        </p:txBody>
      </p:sp>
      <p:sp>
        <p:nvSpPr>
          <p:cNvPr id="13" name="">
            <a:extLst xmlns:a="http://schemas.openxmlformats.org/drawingml/2006/main">
              <a:ext uri="{FF2B5EF4-FFF2-40B4-BE49-F238E27FC236}">
                <a16:creationId xmlns:a16="http://schemas.microsoft.com/office/drawing/2014/main" id="{F57DF5E8-C82C-46D2-84CA-7CCC4347B751}"/>
              </a:ext>
            </a:extLst>
          </p:cNvPr>
          <p:cNvSpPr>
            <a:spLocks xmlns:a="http://schemas.openxmlformats.org/drawingml/2006/main" noGrp="1"/>
          </p:cNvSpPr>
          <p:nvPr/>
        </p:nvSpPr>
        <p:spPr>
          <a:xfrm xmlns:a="http://schemas.openxmlformats.org/drawingml/2006/main">
            <a:off x="434340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Producten, voorraad, klanten, webshop en rapporten zitten in het platform.</a:t>
            </a:r>
          </a:p>
        </p:txBody>
      </p:sp>
      <p:sp>
        <p:nvSpPr>
          <p:cNvPr id="14" name="">
            <a:extLst xmlns:a="http://schemas.openxmlformats.org/drawingml/2006/main">
              <a:ext uri="{FF2B5EF4-FFF2-40B4-BE49-F238E27FC236}">
                <a16:creationId xmlns:a16="http://schemas.microsoft.com/office/drawing/2014/main" id="{E1C866C4-4D67-4022-9009-E3BA5168BD2E}"/>
              </a:ext>
            </a:extLst>
          </p:cNvPr>
          <p:cNvSpPr>
            <a:spLocks xmlns:a="http://schemas.openxmlformats.org/drawingml/2006/main" noGrp="1"/>
          </p:cNvSpPr>
          <p:nvPr/>
        </p:nvSpPr>
        <p:spPr>
          <a:xfrm xmlns:a="http://schemas.openxmlformats.org/drawingml/2006/main">
            <a:off x="782955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536FB05-7224-4833-9ACF-0D99174B5937}"/>
              </a:ext>
            </a:extLst>
          </p:cNvPr>
          <p:cNvSpPr>
            <a:spLocks xmlns:a="http://schemas.openxmlformats.org/drawingml/2006/main" noGrp="1"/>
          </p:cNvSpPr>
          <p:nvPr/>
        </p:nvSpPr>
        <p:spPr>
          <a:xfrm xmlns:a="http://schemas.openxmlformats.org/drawingml/2006/main">
            <a:off x="80581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ONLINE</a:t>
            </a:r>
          </a:p>
        </p:txBody>
      </p:sp>
      <p:sp>
        <p:nvSpPr>
          <p:cNvPr id="16" name="">
            <a:extLst xmlns:a="http://schemas.openxmlformats.org/drawingml/2006/main">
              <a:ext uri="{FF2B5EF4-FFF2-40B4-BE49-F238E27FC236}">
                <a16:creationId xmlns:a16="http://schemas.microsoft.com/office/drawing/2014/main" id="{E4AFC472-51F0-4B6C-8C56-7CBC02B2A803}"/>
              </a:ext>
            </a:extLst>
          </p:cNvPr>
          <p:cNvSpPr>
            <a:spLocks xmlns:a="http://schemas.openxmlformats.org/drawingml/2006/main" noGrp="1"/>
          </p:cNvSpPr>
          <p:nvPr/>
        </p:nvSpPr>
        <p:spPr>
          <a:xfrm xmlns:a="http://schemas.openxmlformats.org/drawingml/2006/main">
            <a:off x="80581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De technische basis staat</a:t>
            </a:r>
          </a:p>
        </p:txBody>
      </p:sp>
      <p:sp>
        <p:nvSpPr>
          <p:cNvPr id="17" name="">
            <a:extLst xmlns:a="http://schemas.openxmlformats.org/drawingml/2006/main">
              <a:ext uri="{FF2B5EF4-FFF2-40B4-BE49-F238E27FC236}">
                <a16:creationId xmlns:a16="http://schemas.microsoft.com/office/drawing/2014/main" id="{67838DFD-5CEE-4C6E-B429-1BEDEB9F2604}"/>
              </a:ext>
            </a:extLst>
          </p:cNvPr>
          <p:cNvSpPr>
            <a:spLocks xmlns:a="http://schemas.openxmlformats.org/drawingml/2006/main" noGrp="1"/>
          </p:cNvSpPr>
          <p:nvPr/>
        </p:nvSpPr>
        <p:spPr>
          <a:xfrm xmlns:a="http://schemas.openxmlformats.org/drawingml/2006/main">
            <a:off x="80581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Winkels, gebruikers, rechten, gegevens en synchronisatie zijn voorzien.</a:t>
            </a:r>
          </a:p>
        </p:txBody>
      </p:sp>
      <p:sp>
        <p:nvSpPr>
          <p:cNvPr id="18" name="">
            <a:extLst xmlns:a="http://schemas.openxmlformats.org/drawingml/2006/main">
              <a:ext uri="{FF2B5EF4-FFF2-40B4-BE49-F238E27FC236}">
                <a16:creationId xmlns:a16="http://schemas.microsoft.com/office/drawing/2014/main" id="{79257645-84E3-4303-972B-533B607B1779}"/>
              </a:ext>
            </a:extLst>
          </p:cNvPr>
          <p:cNvSpPr>
            <a:spLocks xmlns:a="http://schemas.openxmlformats.org/drawingml/2006/main" noGrp="1"/>
          </p:cNvSpPr>
          <p:nvPr/>
        </p:nvSpPr>
        <p:spPr>
          <a:xfrm xmlns:a="http://schemas.openxmlformats.org/drawingml/2006/main">
            <a:off x="400050" y="5067300"/>
            <a:ext cx="10763250" cy="6858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E4C72B-6E6C-4AF9-B6D3-1889DD72E933}"/>
              </a:ext>
            </a:extLst>
          </p:cNvPr>
          <p:cNvSpPr>
            <a:spLocks xmlns:a="http://schemas.openxmlformats.org/drawingml/2006/main" noGrp="1"/>
          </p:cNvSpPr>
          <p:nvPr/>
        </p:nvSpPr>
        <p:spPr>
          <a:xfrm xmlns:a="http://schemas.openxmlformats.org/drawingml/2006/main">
            <a:off x="647700" y="52768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Het product staat er. De volgende opdracht is eenvoudig: betalende winkels vinden.</a:t>
            </a:r>
          </a:p>
        </p:txBody>
      </p:sp>
    </p:spTree>
    <p:extLst>
      <p:ext uri="{BB962C8B-B14F-4D97-AF65-F5344CB8AC3E}">
        <p14:creationId xmlns:p14="http://schemas.microsoft.com/office/powerpoint/2010/main" val="19967090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70C5614-40D3-4BA4-9595-7C441BDE0326}"/>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HOE PWAYMENT GELD VERDIENT</a:t>
            </a:r>
          </a:p>
        </p:txBody>
      </p:sp>
      <p:sp>
        <p:nvSpPr>
          <p:cNvPr id="2" name="">
            <a:extLst xmlns:a="http://schemas.openxmlformats.org/drawingml/2006/main">
              <a:ext uri="{FF2B5EF4-FFF2-40B4-BE49-F238E27FC236}">
                <a16:creationId xmlns:a16="http://schemas.microsoft.com/office/drawing/2014/main" id="{FF75BC59-0B70-431F-9D50-1FFDB228E762}"/>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Winkels betalen elke maand voor PWAYMENT.</a:t>
            </a:r>
          </a:p>
        </p:txBody>
      </p:sp>
      <p:sp>
        <p:nvSpPr>
          <p:cNvPr id="3" name="">
            <a:extLst xmlns:a="http://schemas.openxmlformats.org/drawingml/2006/main">
              <a:ext uri="{FF2B5EF4-FFF2-40B4-BE49-F238E27FC236}">
                <a16:creationId xmlns:a16="http://schemas.microsoft.com/office/drawing/2014/main" id="{64CE55A7-6499-439F-956C-90DA3914F743}"/>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0DAB6E10-F614-4F40-A46C-92289BC59DFC}"/>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9903A6EE-C4BF-4B92-9997-961FB9077991}"/>
              </a:ext>
            </a:extLst>
          </p:cNvPr>
          <p:cNvSpPr>
            <a:spLocks xmlns:a="http://schemas.openxmlformats.org/drawingml/2006/main" noGrp="1"/>
          </p:cNvSpPr>
          <p:nvPr/>
        </p:nvSpPr>
        <p:spPr>
          <a:xfrm xmlns:a="http://schemas.openxmlformats.org/drawingml/2006/main">
            <a:off x="400050" y="1714500"/>
            <a:ext cx="3429000" cy="31242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345A1F-E0D2-439D-B879-24E7D5B49A1B}"/>
              </a:ext>
            </a:extLst>
          </p:cNvPr>
          <p:cNvSpPr>
            <a:spLocks xmlns:a="http://schemas.openxmlformats.org/drawingml/2006/main" noGrp="1"/>
          </p:cNvSpPr>
          <p:nvPr/>
        </p:nvSpPr>
        <p:spPr>
          <a:xfrm xmlns:a="http://schemas.openxmlformats.org/drawingml/2006/main">
            <a:off x="628650" y="19812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GRATIS STARTEN</a:t>
            </a:r>
          </a:p>
        </p:txBody>
      </p:sp>
      <p:sp>
        <p:nvSpPr>
          <p:cNvPr id="7" name="">
            <a:extLst xmlns:a="http://schemas.openxmlformats.org/drawingml/2006/main">
              <a:ext uri="{FF2B5EF4-FFF2-40B4-BE49-F238E27FC236}">
                <a16:creationId xmlns:a16="http://schemas.microsoft.com/office/drawing/2014/main" id="{327A6D4D-F257-4AD7-BB0B-7B3F86136CD9}"/>
              </a:ext>
            </a:extLst>
          </p:cNvPr>
          <p:cNvSpPr>
            <a:spLocks xmlns:a="http://schemas.openxmlformats.org/drawingml/2006/main" noGrp="1"/>
          </p:cNvSpPr>
          <p:nvPr/>
        </p:nvSpPr>
        <p:spPr>
          <a:xfrm xmlns:a="http://schemas.openxmlformats.org/drawingml/2006/main">
            <a:off x="628650" y="2400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Basis</a:t>
            </a:r>
          </a:p>
        </p:txBody>
      </p:sp>
      <p:sp>
        <p:nvSpPr>
          <p:cNvPr id="8" name="">
            <a:extLst xmlns:a="http://schemas.openxmlformats.org/drawingml/2006/main">
              <a:ext uri="{FF2B5EF4-FFF2-40B4-BE49-F238E27FC236}">
                <a16:creationId xmlns:a16="http://schemas.microsoft.com/office/drawing/2014/main" id="{3BF2D08C-F404-489E-8109-66DAC50A5EC7}"/>
              </a:ext>
            </a:extLst>
          </p:cNvPr>
          <p:cNvSpPr>
            <a:spLocks xmlns:a="http://schemas.openxmlformats.org/drawingml/2006/main" noGrp="1"/>
          </p:cNvSpPr>
          <p:nvPr/>
        </p:nvSpPr>
        <p:spPr>
          <a:xfrm xmlns:a="http://schemas.openxmlformats.org/drawingml/2006/main">
            <a:off x="628650" y="3143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75" b="1">
                <a:solidFill>
                  <a:srgbClr val="0B1220"/>
                </a:solidFill>
                <a:latin typeface="Helvetica Neue"/>
                <a:ea typeface="Helvetica Neue"/>
                <a:cs typeface="Helvetica Neue"/>
              </a:defRPr>
            </a:pPr>
            <a:r>
              <a:rPr sz="2475" b="1">
                <a:solidFill>
                  <a:srgbClr val="0B1220"/>
                </a:solidFill>
                <a:latin typeface="Helvetica Neue"/>
                <a:ea typeface="Helvetica Neue"/>
                <a:cs typeface="Helvetica Neue"/>
              </a:rPr>
              <a:t>€ 0</a:t>
            </a:r>
          </a:p>
        </p:txBody>
      </p:sp>
      <p:sp>
        <p:nvSpPr>
          <p:cNvPr id="9" name="">
            <a:extLst xmlns:a="http://schemas.openxmlformats.org/drawingml/2006/main">
              <a:ext uri="{FF2B5EF4-FFF2-40B4-BE49-F238E27FC236}">
                <a16:creationId xmlns:a16="http://schemas.microsoft.com/office/drawing/2014/main" id="{D9455B74-F1F8-4E0B-B632-3A660C619352}"/>
              </a:ext>
            </a:extLst>
          </p:cNvPr>
          <p:cNvSpPr>
            <a:spLocks xmlns:a="http://schemas.openxmlformats.org/drawingml/2006/main" noGrp="1"/>
          </p:cNvSpPr>
          <p:nvPr/>
        </p:nvSpPr>
        <p:spPr>
          <a:xfrm xmlns:a="http://schemas.openxmlformats.org/drawingml/2006/main">
            <a:off x="628650" y="3867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Voor kleine winkels die PWAYMENT eerst eenvoudig willen proberen.</a:t>
            </a:r>
          </a:p>
        </p:txBody>
      </p:sp>
      <p:sp>
        <p:nvSpPr>
          <p:cNvPr id="10" name="">
            <a:extLst xmlns:a="http://schemas.openxmlformats.org/drawingml/2006/main">
              <a:ext uri="{FF2B5EF4-FFF2-40B4-BE49-F238E27FC236}">
                <a16:creationId xmlns:a16="http://schemas.microsoft.com/office/drawing/2014/main" id="{C8939162-986D-4D27-83CC-86D9C7B6D86C}"/>
              </a:ext>
            </a:extLst>
          </p:cNvPr>
          <p:cNvSpPr>
            <a:spLocks xmlns:a="http://schemas.openxmlformats.org/drawingml/2006/main" noGrp="1"/>
          </p:cNvSpPr>
          <p:nvPr/>
        </p:nvSpPr>
        <p:spPr>
          <a:xfrm xmlns:a="http://schemas.openxmlformats.org/drawingml/2006/main">
            <a:off x="4191000" y="1714500"/>
            <a:ext cx="3429000" cy="312420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171265-0ED8-4DE7-95EF-1C76AE7A9FC4}"/>
              </a:ext>
            </a:extLst>
          </p:cNvPr>
          <p:cNvSpPr>
            <a:spLocks xmlns:a="http://schemas.openxmlformats.org/drawingml/2006/main" noGrp="1"/>
          </p:cNvSpPr>
          <p:nvPr/>
        </p:nvSpPr>
        <p:spPr>
          <a:xfrm xmlns:a="http://schemas.openxmlformats.org/drawingml/2006/main">
            <a:off x="4419600" y="19812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BELANGRIJKSTE FORMULE</a:t>
            </a:r>
          </a:p>
        </p:txBody>
      </p:sp>
      <p:sp>
        <p:nvSpPr>
          <p:cNvPr id="12" name="">
            <a:extLst xmlns:a="http://schemas.openxmlformats.org/drawingml/2006/main">
              <a:ext uri="{FF2B5EF4-FFF2-40B4-BE49-F238E27FC236}">
                <a16:creationId xmlns:a16="http://schemas.microsoft.com/office/drawing/2014/main" id="{4A9D19AD-C129-400A-BBA5-83A21995E0C9}"/>
              </a:ext>
            </a:extLst>
          </p:cNvPr>
          <p:cNvSpPr>
            <a:spLocks xmlns:a="http://schemas.openxmlformats.org/drawingml/2006/main" noGrp="1"/>
          </p:cNvSpPr>
          <p:nvPr/>
        </p:nvSpPr>
        <p:spPr>
          <a:xfrm xmlns:a="http://schemas.openxmlformats.org/drawingml/2006/main">
            <a:off x="4419600" y="2400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Professional</a:t>
            </a:r>
          </a:p>
        </p:txBody>
      </p:sp>
      <p:sp>
        <p:nvSpPr>
          <p:cNvPr id="13" name="">
            <a:extLst xmlns:a="http://schemas.openxmlformats.org/drawingml/2006/main">
              <a:ext uri="{FF2B5EF4-FFF2-40B4-BE49-F238E27FC236}">
                <a16:creationId xmlns:a16="http://schemas.microsoft.com/office/drawing/2014/main" id="{A13B17C5-2557-4253-AB46-77C10B4BA3A5}"/>
              </a:ext>
            </a:extLst>
          </p:cNvPr>
          <p:cNvSpPr>
            <a:spLocks xmlns:a="http://schemas.openxmlformats.org/drawingml/2006/main" noGrp="1"/>
          </p:cNvSpPr>
          <p:nvPr/>
        </p:nvSpPr>
        <p:spPr>
          <a:xfrm xmlns:a="http://schemas.openxmlformats.org/drawingml/2006/main">
            <a:off x="4419600" y="3143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75" b="1">
                <a:solidFill>
                  <a:srgbClr val="0B1220"/>
                </a:solidFill>
                <a:latin typeface="Helvetica Neue"/>
                <a:ea typeface="Helvetica Neue"/>
                <a:cs typeface="Helvetica Neue"/>
              </a:defRPr>
            </a:pPr>
            <a:r>
              <a:rPr sz="2475" b="1">
                <a:solidFill>
                  <a:srgbClr val="0B1220"/>
                </a:solidFill>
                <a:latin typeface="Helvetica Neue"/>
                <a:ea typeface="Helvetica Neue"/>
                <a:cs typeface="Helvetica Neue"/>
              </a:rPr>
              <a:t>€ 69 per maand</a:t>
            </a:r>
          </a:p>
        </p:txBody>
      </p:sp>
      <p:sp>
        <p:nvSpPr>
          <p:cNvPr id="14" name="">
            <a:extLst xmlns:a="http://schemas.openxmlformats.org/drawingml/2006/main">
              <a:ext uri="{FF2B5EF4-FFF2-40B4-BE49-F238E27FC236}">
                <a16:creationId xmlns:a16="http://schemas.microsoft.com/office/drawing/2014/main" id="{2A6CFBA3-8E89-4F1B-A031-93477547BC47}"/>
              </a:ext>
            </a:extLst>
          </p:cNvPr>
          <p:cNvSpPr>
            <a:spLocks xmlns:a="http://schemas.openxmlformats.org/drawingml/2006/main" noGrp="1"/>
          </p:cNvSpPr>
          <p:nvPr/>
        </p:nvSpPr>
        <p:spPr>
          <a:xfrm xmlns:a="http://schemas.openxmlformats.org/drawingml/2006/main">
            <a:off x="4419600" y="3867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Voor actieve winkels die voorraad, klanten en webshop samen willen beheren.</a:t>
            </a:r>
          </a:p>
        </p:txBody>
      </p:sp>
      <p:sp>
        <p:nvSpPr>
          <p:cNvPr id="15" name="">
            <a:extLst xmlns:a="http://schemas.openxmlformats.org/drawingml/2006/main">
              <a:ext uri="{FF2B5EF4-FFF2-40B4-BE49-F238E27FC236}">
                <a16:creationId xmlns:a16="http://schemas.microsoft.com/office/drawing/2014/main" id="{A5B78169-AA84-49F4-AD8A-9AEABF4854E9}"/>
              </a:ext>
            </a:extLst>
          </p:cNvPr>
          <p:cNvSpPr>
            <a:spLocks xmlns:a="http://schemas.openxmlformats.org/drawingml/2006/main" noGrp="1"/>
          </p:cNvSpPr>
          <p:nvPr/>
        </p:nvSpPr>
        <p:spPr>
          <a:xfrm xmlns:a="http://schemas.openxmlformats.org/drawingml/2006/main">
            <a:off x="7981950" y="1714500"/>
            <a:ext cx="3429000" cy="31242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9EF10DE-3E60-4D4D-A9B6-218656DBA8DA}"/>
              </a:ext>
            </a:extLst>
          </p:cNvPr>
          <p:cNvSpPr>
            <a:spLocks xmlns:a="http://schemas.openxmlformats.org/drawingml/2006/main" noGrp="1"/>
          </p:cNvSpPr>
          <p:nvPr/>
        </p:nvSpPr>
        <p:spPr>
          <a:xfrm xmlns:a="http://schemas.openxmlformats.org/drawingml/2006/main">
            <a:off x="8210550" y="19812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GROTERE WINKELS</a:t>
            </a:r>
          </a:p>
        </p:txBody>
      </p:sp>
      <p:sp>
        <p:nvSpPr>
          <p:cNvPr id="17" name="">
            <a:extLst xmlns:a="http://schemas.openxmlformats.org/drawingml/2006/main">
              <a:ext uri="{FF2B5EF4-FFF2-40B4-BE49-F238E27FC236}">
                <a16:creationId xmlns:a16="http://schemas.microsoft.com/office/drawing/2014/main" id="{8E64BA76-EEE8-4475-8FA2-108B00DEC3B5}"/>
              </a:ext>
            </a:extLst>
          </p:cNvPr>
          <p:cNvSpPr>
            <a:spLocks xmlns:a="http://schemas.openxmlformats.org/drawingml/2006/main" noGrp="1"/>
          </p:cNvSpPr>
          <p:nvPr/>
        </p:nvSpPr>
        <p:spPr>
          <a:xfrm xmlns:a="http://schemas.openxmlformats.org/drawingml/2006/main">
            <a:off x="8210550" y="2400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Uitgebreid</a:t>
            </a:r>
          </a:p>
        </p:txBody>
      </p:sp>
      <p:sp>
        <p:nvSpPr>
          <p:cNvPr id="18" name="">
            <a:extLst xmlns:a="http://schemas.openxmlformats.org/drawingml/2006/main">
              <a:ext uri="{FF2B5EF4-FFF2-40B4-BE49-F238E27FC236}">
                <a16:creationId xmlns:a16="http://schemas.microsoft.com/office/drawing/2014/main" id="{C2C42826-E707-459E-AF02-F79B3C206CED}"/>
              </a:ext>
            </a:extLst>
          </p:cNvPr>
          <p:cNvSpPr>
            <a:spLocks xmlns:a="http://schemas.openxmlformats.org/drawingml/2006/main" noGrp="1"/>
          </p:cNvSpPr>
          <p:nvPr/>
        </p:nvSpPr>
        <p:spPr>
          <a:xfrm xmlns:a="http://schemas.openxmlformats.org/drawingml/2006/main">
            <a:off x="8210550" y="3143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314"/>
          </a:bodyPr>
          <a:lstStyle xmlns:a="http://schemas.openxmlformats.org/drawingml/2006/main"/>
          <a:p xmlns:a="http://schemas.openxmlformats.org/drawingml/2006/main">
            <a:pPr algn="l">
              <a:buNone/>
              <a:defRPr sz="2475" b="1">
                <a:solidFill>
                  <a:srgbClr val="0B1220"/>
                </a:solidFill>
                <a:latin typeface="Helvetica Neue"/>
                <a:ea typeface="Helvetica Neue"/>
                <a:cs typeface="Helvetica Neue"/>
              </a:defRPr>
            </a:pPr>
            <a:r>
              <a:rPr sz="2475" b="1">
                <a:solidFill>
                  <a:srgbClr val="0B1220"/>
                </a:solidFill>
                <a:latin typeface="Helvetica Neue"/>
                <a:ea typeface="Helvetica Neue"/>
                <a:cs typeface="Helvetica Neue"/>
              </a:rPr>
              <a:t>vanaf € 149 per maand</a:t>
            </a:r>
          </a:p>
        </p:txBody>
      </p:sp>
      <p:sp>
        <p:nvSpPr>
          <p:cNvPr id="19" name="">
            <a:extLst xmlns:a="http://schemas.openxmlformats.org/drawingml/2006/main">
              <a:ext uri="{FF2B5EF4-FFF2-40B4-BE49-F238E27FC236}">
                <a16:creationId xmlns:a16="http://schemas.microsoft.com/office/drawing/2014/main" id="{C83B84B6-FF7E-4EA3-B06F-726284B00B82}"/>
              </a:ext>
            </a:extLst>
          </p:cNvPr>
          <p:cNvSpPr>
            <a:spLocks xmlns:a="http://schemas.openxmlformats.org/drawingml/2006/main" noGrp="1"/>
          </p:cNvSpPr>
          <p:nvPr/>
        </p:nvSpPr>
        <p:spPr>
          <a:xfrm xmlns:a="http://schemas.openxmlformats.org/drawingml/2006/main">
            <a:off x="8210550" y="3867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Voor meerdere vestigingen, grotere teams en extra koppelingen.</a:t>
            </a:r>
          </a:p>
        </p:txBody>
      </p:sp>
      <p:sp>
        <p:nvSpPr>
          <p:cNvPr id="20" name="">
            <a:extLst xmlns:a="http://schemas.openxmlformats.org/drawingml/2006/main">
              <a:ext uri="{FF2B5EF4-FFF2-40B4-BE49-F238E27FC236}">
                <a16:creationId xmlns:a16="http://schemas.microsoft.com/office/drawing/2014/main" id="{7B8C73C3-677D-4B68-9A29-75BB233DAFAA}"/>
              </a:ext>
            </a:extLst>
          </p:cNvPr>
          <p:cNvSpPr>
            <a:spLocks xmlns:a="http://schemas.openxmlformats.org/drawingml/2006/main" noGrp="1"/>
          </p:cNvSpPr>
          <p:nvPr/>
        </p:nvSpPr>
        <p:spPr>
          <a:xfrm xmlns:a="http://schemas.openxmlformats.org/drawingml/2006/main">
            <a:off x="400050" y="52768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0B1220"/>
                </a:solidFill>
                <a:latin typeface="Helvetica Neue"/>
                <a:ea typeface="Helvetica Neue"/>
                <a:cs typeface="Helvetica Neue"/>
              </a:defRPr>
            </a:pPr>
            <a:r>
              <a:rPr sz="1500" b="1">
                <a:solidFill>
                  <a:srgbClr val="0B1220"/>
                </a:solidFill>
                <a:latin typeface="Helvetica Neue"/>
                <a:ea typeface="Helvetica Neue"/>
                <a:cs typeface="Helvetica Neue"/>
              </a:rPr>
              <a:t>Een duidelijk doel</a:t>
            </a:r>
          </a:p>
        </p:txBody>
      </p:sp>
      <p:sp>
        <p:nvSpPr>
          <p:cNvPr id="21" name="">
            <a:extLst xmlns:a="http://schemas.openxmlformats.org/drawingml/2006/main">
              <a:ext uri="{FF2B5EF4-FFF2-40B4-BE49-F238E27FC236}">
                <a16:creationId xmlns:a16="http://schemas.microsoft.com/office/drawing/2014/main" id="{06817FEE-F4C4-4994-B762-F43256EA34B5}"/>
              </a:ext>
            </a:extLst>
          </p:cNvPr>
          <p:cNvSpPr>
            <a:spLocks xmlns:a="http://schemas.openxmlformats.org/drawingml/2006/main" noGrp="1"/>
          </p:cNvSpPr>
          <p:nvPr/>
        </p:nvSpPr>
        <p:spPr>
          <a:xfrm xmlns:a="http://schemas.openxmlformats.org/drawingml/2006/main">
            <a:off x="2571750" y="52768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100 betalende winkels brengen samen ongeveer € 9.000 per maand op.</a:t>
            </a:r>
          </a:p>
        </p:txBody>
      </p:sp>
    </p:spTree>
    <p:extLst>
      <p:ext uri="{BB962C8B-B14F-4D97-AF65-F5344CB8AC3E}">
        <p14:creationId xmlns:p14="http://schemas.microsoft.com/office/powerpoint/2010/main" val="13249416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4017EC9-8D62-4B87-B00B-770D82C9E0D1}"/>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WAAR GAAT HET GELD NAARTOE?</a:t>
            </a:r>
          </a:p>
        </p:txBody>
      </p:sp>
      <p:sp>
        <p:nvSpPr>
          <p:cNvPr id="2" name="">
            <a:extLst xmlns:a="http://schemas.openxmlformats.org/drawingml/2006/main">
              <a:ext uri="{FF2B5EF4-FFF2-40B4-BE49-F238E27FC236}">
                <a16:creationId xmlns:a16="http://schemas.microsoft.com/office/drawing/2014/main" id="{E258843E-ED14-44C3-80B5-B687D1A5B055}"/>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Zo gebruik ik de € 250.000.</a:t>
            </a:r>
          </a:p>
        </p:txBody>
      </p:sp>
      <p:sp>
        <p:nvSpPr>
          <p:cNvPr id="3" name="">
            <a:extLst xmlns:a="http://schemas.openxmlformats.org/drawingml/2006/main">
              <a:ext uri="{FF2B5EF4-FFF2-40B4-BE49-F238E27FC236}">
                <a16:creationId xmlns:a16="http://schemas.microsoft.com/office/drawing/2014/main" id="{D605CA54-52BB-42E7-B052-008754DB7CD6}"/>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C2C5211F-C401-437E-8DF5-2254AD9B9E8B}"/>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06</a:t>
            </a:r>
          </a:p>
        </p:txBody>
      </p:sp>
      <p:graphicFrame>
        <p:nvGraphicFramePr>
          <p:cNvPr id="25" name="Chart"/>
          <p:cNvGraphicFramePr/>
          <p:nvPr/>
        </p:nvGraphicFramePr>
        <p:xfrm>
          <a:off xmlns:a="http://schemas.openxmlformats.org/drawingml/2006/main" x="400050" y="1581150"/>
          <a:ext xmlns:a="http://schemas.openxmlformats.org/drawingml/2006/main" cx="6191250" cy="4267200"/>
        </p:xfrm>
        <a:graphic xmlns:a="http://schemas.openxmlformats.org/drawingml/2006/main">
          <a:graphicData uri="http://schemas.openxmlformats.org/drawingml/2006/chart">
            <c:chart xmlns:r="http://schemas.openxmlformats.org/officeDocument/2006/relationships" xmlns:c="http://schemas.openxmlformats.org/drawingml/2006/chart" r:id="R746ed2680aaa4545"/>
          </a:graphicData>
        </a:graphic>
      </p:graphicFrame>
      <p:sp>
        <p:nvSpPr>
          <p:cNvPr id="6" name="">
            <a:extLst xmlns:a="http://schemas.openxmlformats.org/drawingml/2006/main">
              <a:ext uri="{FF2B5EF4-FFF2-40B4-BE49-F238E27FC236}">
                <a16:creationId xmlns:a16="http://schemas.microsoft.com/office/drawing/2014/main" id="{ADBE69B1-EADD-4998-97AC-D3225DEB4643}"/>
              </a:ext>
            </a:extLst>
          </p:cNvPr>
          <p:cNvSpPr>
            <a:spLocks xmlns:a="http://schemas.openxmlformats.org/drawingml/2006/main" noGrp="1"/>
          </p:cNvSpPr>
          <p:nvPr/>
        </p:nvSpPr>
        <p:spPr>
          <a:xfrm xmlns:a="http://schemas.openxmlformats.org/drawingml/2006/main">
            <a:off x="7143750" y="1619250"/>
            <a:ext cx="4343400" cy="11620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628059F-1B3E-4A21-AB4D-47CDFB1A3FD9}"/>
              </a:ext>
            </a:extLst>
          </p:cNvPr>
          <p:cNvSpPr>
            <a:spLocks xmlns:a="http://schemas.openxmlformats.org/drawingml/2006/main" noGrp="1"/>
          </p:cNvSpPr>
          <p:nvPr/>
        </p:nvSpPr>
        <p:spPr>
          <a:xfrm xmlns:a="http://schemas.openxmlformats.org/drawingml/2006/main">
            <a:off x="7372350" y="182880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€ 90k</a:t>
            </a:r>
          </a:p>
        </p:txBody>
      </p:sp>
      <p:sp>
        <p:nvSpPr>
          <p:cNvPr id="8" name="">
            <a:extLst xmlns:a="http://schemas.openxmlformats.org/drawingml/2006/main">
              <a:ext uri="{FF2B5EF4-FFF2-40B4-BE49-F238E27FC236}">
                <a16:creationId xmlns:a16="http://schemas.microsoft.com/office/drawing/2014/main" id="{DFCBF676-3F5D-4A50-8421-E01D7A4309DC}"/>
              </a:ext>
            </a:extLst>
          </p:cNvPr>
          <p:cNvSpPr>
            <a:spLocks xmlns:a="http://schemas.openxmlformats.org/drawingml/2006/main" noGrp="1"/>
          </p:cNvSpPr>
          <p:nvPr/>
        </p:nvSpPr>
        <p:spPr>
          <a:xfrm xmlns:a="http://schemas.openxmlformats.org/drawingml/2006/main">
            <a:off x="8515350" y="1809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Product</a:t>
            </a:r>
          </a:p>
        </p:txBody>
      </p:sp>
      <p:sp>
        <p:nvSpPr>
          <p:cNvPr id="9" name="">
            <a:extLst xmlns:a="http://schemas.openxmlformats.org/drawingml/2006/main">
              <a:ext uri="{FF2B5EF4-FFF2-40B4-BE49-F238E27FC236}">
                <a16:creationId xmlns:a16="http://schemas.microsoft.com/office/drawing/2014/main" id="{28865FFD-43EE-4881-8676-F700BE4D31C6}"/>
              </a:ext>
            </a:extLst>
          </p:cNvPr>
          <p:cNvSpPr>
            <a:spLocks xmlns:a="http://schemas.openxmlformats.org/drawingml/2006/main" noGrp="1"/>
          </p:cNvSpPr>
          <p:nvPr/>
        </p:nvSpPr>
        <p:spPr>
          <a:xfrm xmlns:a="http://schemas.openxmlformats.org/drawingml/2006/main">
            <a:off x="8515350" y="21717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Software afwerken, eenvoudiger maken en grondig testen.</a:t>
            </a:r>
          </a:p>
        </p:txBody>
      </p:sp>
      <p:sp>
        <p:nvSpPr>
          <p:cNvPr id="10" name="">
            <a:extLst xmlns:a="http://schemas.openxmlformats.org/drawingml/2006/main">
              <a:ext uri="{FF2B5EF4-FFF2-40B4-BE49-F238E27FC236}">
                <a16:creationId xmlns:a16="http://schemas.microsoft.com/office/drawing/2014/main" id="{18F8482B-5729-4CC3-B440-B716A4A12B23}"/>
              </a:ext>
            </a:extLst>
          </p:cNvPr>
          <p:cNvSpPr>
            <a:spLocks xmlns:a="http://schemas.openxmlformats.org/drawingml/2006/main" noGrp="1"/>
          </p:cNvSpPr>
          <p:nvPr/>
        </p:nvSpPr>
        <p:spPr>
          <a:xfrm xmlns:a="http://schemas.openxmlformats.org/drawingml/2006/main">
            <a:off x="7143750" y="3009900"/>
            <a:ext cx="4343400" cy="1162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218D1F-EDDE-4469-A515-FF064DA12D79}"/>
              </a:ext>
            </a:extLst>
          </p:cNvPr>
          <p:cNvSpPr>
            <a:spLocks xmlns:a="http://schemas.openxmlformats.org/drawingml/2006/main" noGrp="1"/>
          </p:cNvSpPr>
          <p:nvPr/>
        </p:nvSpPr>
        <p:spPr>
          <a:xfrm xmlns:a="http://schemas.openxmlformats.org/drawingml/2006/main">
            <a:off x="7372350" y="321945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€ 60k</a:t>
            </a:r>
          </a:p>
        </p:txBody>
      </p:sp>
      <p:sp>
        <p:nvSpPr>
          <p:cNvPr id="12" name="">
            <a:extLst xmlns:a="http://schemas.openxmlformats.org/drawingml/2006/main">
              <a:ext uri="{FF2B5EF4-FFF2-40B4-BE49-F238E27FC236}">
                <a16:creationId xmlns:a16="http://schemas.microsoft.com/office/drawing/2014/main" id="{29C10BE2-DB99-45C0-B6D8-6666F7BEB0FB}"/>
              </a:ext>
            </a:extLst>
          </p:cNvPr>
          <p:cNvSpPr>
            <a:spLocks xmlns:a="http://schemas.openxmlformats.org/drawingml/2006/main" noGrp="1"/>
          </p:cNvSpPr>
          <p:nvPr/>
        </p:nvSpPr>
        <p:spPr>
          <a:xfrm xmlns:a="http://schemas.openxmlformats.org/drawingml/2006/main">
            <a:off x="8515350" y="32004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Verkoop</a:t>
            </a:r>
          </a:p>
        </p:txBody>
      </p:sp>
      <p:sp>
        <p:nvSpPr>
          <p:cNvPr id="13" name="">
            <a:extLst xmlns:a="http://schemas.openxmlformats.org/drawingml/2006/main">
              <a:ext uri="{FF2B5EF4-FFF2-40B4-BE49-F238E27FC236}">
                <a16:creationId xmlns:a16="http://schemas.microsoft.com/office/drawing/2014/main" id="{37206D11-9C90-459A-A506-0334C2AE156D}"/>
              </a:ext>
            </a:extLst>
          </p:cNvPr>
          <p:cNvSpPr>
            <a:spLocks xmlns:a="http://schemas.openxmlformats.org/drawingml/2006/main" noGrp="1"/>
          </p:cNvSpPr>
          <p:nvPr/>
        </p:nvSpPr>
        <p:spPr>
          <a:xfrm xmlns:a="http://schemas.openxmlformats.org/drawingml/2006/main">
            <a:off x="8515350" y="35623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Winkels bereiken, demonstraties geven en de eerste klanten winnen.</a:t>
            </a:r>
          </a:p>
        </p:txBody>
      </p:sp>
      <p:sp>
        <p:nvSpPr>
          <p:cNvPr id="14" name="">
            <a:extLst xmlns:a="http://schemas.openxmlformats.org/drawingml/2006/main">
              <a:ext uri="{FF2B5EF4-FFF2-40B4-BE49-F238E27FC236}">
                <a16:creationId xmlns:a16="http://schemas.microsoft.com/office/drawing/2014/main" id="{1AD471E2-C96C-411D-938D-ED43683F2705}"/>
              </a:ext>
            </a:extLst>
          </p:cNvPr>
          <p:cNvSpPr>
            <a:spLocks xmlns:a="http://schemas.openxmlformats.org/drawingml/2006/main" noGrp="1"/>
          </p:cNvSpPr>
          <p:nvPr/>
        </p:nvSpPr>
        <p:spPr>
          <a:xfrm xmlns:a="http://schemas.openxmlformats.org/drawingml/2006/main">
            <a:off x="7143750" y="4400550"/>
            <a:ext cx="4343400" cy="1162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1B8B20C-4D65-4D40-92FD-8BDA141E6F23}"/>
              </a:ext>
            </a:extLst>
          </p:cNvPr>
          <p:cNvSpPr>
            <a:spLocks xmlns:a="http://schemas.openxmlformats.org/drawingml/2006/main" noGrp="1"/>
          </p:cNvSpPr>
          <p:nvPr/>
        </p:nvSpPr>
        <p:spPr>
          <a:xfrm xmlns:a="http://schemas.openxmlformats.org/drawingml/2006/main">
            <a:off x="7372350" y="461010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€ 20k</a:t>
            </a:r>
          </a:p>
        </p:txBody>
      </p:sp>
      <p:sp>
        <p:nvSpPr>
          <p:cNvPr id="16" name="">
            <a:extLst xmlns:a="http://schemas.openxmlformats.org/drawingml/2006/main">
              <a:ext uri="{FF2B5EF4-FFF2-40B4-BE49-F238E27FC236}">
                <a16:creationId xmlns:a16="http://schemas.microsoft.com/office/drawing/2014/main" id="{BD5939F1-939A-4BA2-944E-713535F46E12}"/>
              </a:ext>
            </a:extLst>
          </p:cNvPr>
          <p:cNvSpPr>
            <a:spLocks xmlns:a="http://schemas.openxmlformats.org/drawingml/2006/main" noGrp="1"/>
          </p:cNvSpPr>
          <p:nvPr/>
        </p:nvSpPr>
        <p:spPr>
          <a:xfrm xmlns:a="http://schemas.openxmlformats.org/drawingml/2006/main">
            <a:off x="8515350" y="45910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Buffer</a:t>
            </a:r>
          </a:p>
        </p:txBody>
      </p:sp>
      <p:sp>
        <p:nvSpPr>
          <p:cNvPr id="17" name="">
            <a:extLst xmlns:a="http://schemas.openxmlformats.org/drawingml/2006/main">
              <a:ext uri="{FF2B5EF4-FFF2-40B4-BE49-F238E27FC236}">
                <a16:creationId xmlns:a16="http://schemas.microsoft.com/office/drawing/2014/main" id="{D3345096-7B3D-4927-A02D-B61346281BDF}"/>
              </a:ext>
            </a:extLst>
          </p:cNvPr>
          <p:cNvSpPr>
            <a:spLocks xmlns:a="http://schemas.openxmlformats.org/drawingml/2006/main" noGrp="1"/>
          </p:cNvSpPr>
          <p:nvPr/>
        </p:nvSpPr>
        <p:spPr>
          <a:xfrm xmlns:a="http://schemas.openxmlformats.org/drawingml/2006/main">
            <a:off x="8515350" y="49530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Reserve voor onverwachte kosten of een tragere verkoopstart.</a:t>
            </a:r>
          </a:p>
        </p:txBody>
      </p:sp>
      <p:sp>
        <p:nvSpPr>
          <p:cNvPr id="18" name="">
            <a:extLst xmlns:a="http://schemas.openxmlformats.org/drawingml/2006/main">
              <a:ext uri="{FF2B5EF4-FFF2-40B4-BE49-F238E27FC236}">
                <a16:creationId xmlns:a16="http://schemas.microsoft.com/office/drawing/2014/main" id="{AB08D4F0-6075-44A2-BE09-3B6000D920DE}"/>
              </a:ext>
            </a:extLst>
          </p:cNvPr>
          <p:cNvSpPr>
            <a:spLocks xmlns:a="http://schemas.openxmlformats.org/drawingml/2006/main" noGrp="1"/>
          </p:cNvSpPr>
          <p:nvPr/>
        </p:nvSpPr>
        <p:spPr>
          <a:xfrm xmlns:a="http://schemas.openxmlformats.org/drawingml/2006/main">
            <a:off x="7143750" y="5715000"/>
            <a:ext cx="434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De overige € 80k gaat naar het opstarten van winkels, veilige koppelingen, hosting, materiaal en administratie.</a:t>
            </a:r>
          </a:p>
        </p:txBody>
      </p:sp>
    </p:spTree>
    <p:extLst>
      <p:ext uri="{BB962C8B-B14F-4D97-AF65-F5344CB8AC3E}">
        <p14:creationId xmlns:p14="http://schemas.microsoft.com/office/powerpoint/2010/main" val="9306091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6805D6F-3978-4130-B7DD-234697CC8277}"/>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WAT WE IN 18 MAANDEN BEREIKEN</a:t>
            </a:r>
          </a:p>
        </p:txBody>
      </p:sp>
      <p:sp>
        <p:nvSpPr>
          <p:cNvPr id="2" name="">
            <a:extLst xmlns:a="http://schemas.openxmlformats.org/drawingml/2006/main">
              <a:ext uri="{FF2B5EF4-FFF2-40B4-BE49-F238E27FC236}">
                <a16:creationId xmlns:a16="http://schemas.microsoft.com/office/drawing/2014/main" id="{95A56584-39BF-48FD-BEBE-2568FB6A21E4}"/>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69"/>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Na 18 maanden moet PWAYMENT een echt groeiend bedrijf zijn.</a:t>
            </a:r>
          </a:p>
        </p:txBody>
      </p:sp>
      <p:sp>
        <p:nvSpPr>
          <p:cNvPr id="3" name="">
            <a:extLst xmlns:a="http://schemas.openxmlformats.org/drawingml/2006/main">
              <a:ext uri="{FF2B5EF4-FFF2-40B4-BE49-F238E27FC236}">
                <a16:creationId xmlns:a16="http://schemas.microsoft.com/office/drawing/2014/main" id="{4B165B9F-4123-4AE7-9239-B23B2AB7862F}"/>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C270234F-E2AF-4EA1-AE54-BEA9845FA7D2}"/>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8CF8F74A-2006-4946-A67C-3CC140FB7EE1}"/>
              </a:ext>
            </a:extLst>
          </p:cNvPr>
          <p:cNvSpPr>
            <a:spLocks xmlns:a="http://schemas.openxmlformats.org/drawingml/2006/main" noGrp="1"/>
          </p:cNvSpPr>
          <p:nvPr/>
        </p:nvSpPr>
        <p:spPr>
          <a:xfrm xmlns:a="http://schemas.openxmlformats.org/drawingml/2006/main">
            <a:off x="400050" y="3333750"/>
            <a:ext cx="11087100" cy="190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8F8655-A53E-436A-9988-64F91EB0C494}"/>
              </a:ext>
            </a:extLst>
          </p:cNvPr>
          <p:cNvSpPr>
            <a:spLocks xmlns:a="http://schemas.openxmlformats.org/drawingml/2006/main" noGrp="1"/>
          </p:cNvSpPr>
          <p:nvPr/>
        </p:nvSpPr>
        <p:spPr>
          <a:xfrm xmlns:a="http://schemas.openxmlformats.org/drawingml/2006/main">
            <a:off x="400050" y="2419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2186F3"/>
                </a:solidFill>
                <a:latin typeface="Helvetica Neue"/>
                <a:ea typeface="Helvetica Neue"/>
                <a:cs typeface="Helvetica Neue"/>
              </a:defRPr>
            </a:pPr>
            <a:r>
              <a:rPr sz="1425" b="1">
                <a:solidFill>
                  <a:srgbClr val="2186F3"/>
                </a:solidFill>
                <a:latin typeface="Helvetica Neue"/>
                <a:ea typeface="Helvetica Neue"/>
                <a:cs typeface="Helvetica Neue"/>
              </a:rPr>
              <a:t>Eerste 3 maanden</a:t>
            </a:r>
          </a:p>
        </p:txBody>
      </p:sp>
      <p:sp>
        <p:nvSpPr>
          <p:cNvPr id="7" name="">
            <a:extLst xmlns:a="http://schemas.openxmlformats.org/drawingml/2006/main">
              <a:ext uri="{FF2B5EF4-FFF2-40B4-BE49-F238E27FC236}">
                <a16:creationId xmlns:a16="http://schemas.microsoft.com/office/drawing/2014/main" id="{A9E2C9DA-CC25-4B06-AF6F-D14B27EF15F3}"/>
              </a:ext>
            </a:extLst>
          </p:cNvPr>
          <p:cNvSpPr>
            <a:spLocks xmlns:a="http://schemas.openxmlformats.org/drawingml/2006/main" noGrp="1"/>
          </p:cNvSpPr>
          <p:nvPr/>
        </p:nvSpPr>
        <p:spPr>
          <a:xfrm xmlns:a="http://schemas.openxmlformats.org/drawingml/2006/main">
            <a:off x="400050" y="3276600"/>
            <a:ext cx="152400" cy="15240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022389-8268-40EE-B7B5-31234521E4B3}"/>
              </a:ext>
            </a:extLst>
          </p:cNvPr>
          <p:cNvSpPr>
            <a:spLocks xmlns:a="http://schemas.openxmlformats.org/drawingml/2006/main" noGrp="1"/>
          </p:cNvSpPr>
          <p:nvPr/>
        </p:nvSpPr>
        <p:spPr>
          <a:xfrm xmlns:a="http://schemas.openxmlformats.org/drawingml/2006/main">
            <a:off x="400050" y="3733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Klaar voor verkoop</a:t>
            </a:r>
          </a:p>
        </p:txBody>
      </p:sp>
      <p:sp>
        <p:nvSpPr>
          <p:cNvPr id="9" name="">
            <a:extLst xmlns:a="http://schemas.openxmlformats.org/drawingml/2006/main">
              <a:ext uri="{FF2B5EF4-FFF2-40B4-BE49-F238E27FC236}">
                <a16:creationId xmlns:a16="http://schemas.microsoft.com/office/drawing/2014/main" id="{DF251CB0-7DF6-4580-8A89-A26D0BFC05BE}"/>
              </a:ext>
            </a:extLst>
          </p:cNvPr>
          <p:cNvSpPr>
            <a:spLocks xmlns:a="http://schemas.openxmlformats.org/drawingml/2006/main" noGrp="1"/>
          </p:cNvSpPr>
          <p:nvPr/>
        </p:nvSpPr>
        <p:spPr>
          <a:xfrm xmlns:a="http://schemas.openxmlformats.org/drawingml/2006/main">
            <a:off x="400050" y="42672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Product afwerken</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Betalingen afronden</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10 testwinkels begeleiden</a:t>
            </a:r>
          </a:p>
        </p:txBody>
      </p:sp>
      <p:sp>
        <p:nvSpPr>
          <p:cNvPr id="10" name="">
            <a:extLst xmlns:a="http://schemas.openxmlformats.org/drawingml/2006/main">
              <a:ext uri="{FF2B5EF4-FFF2-40B4-BE49-F238E27FC236}">
                <a16:creationId xmlns:a16="http://schemas.microsoft.com/office/drawing/2014/main" id="{911B0523-1BE4-43D4-9361-14F54769B707}"/>
              </a:ext>
            </a:extLst>
          </p:cNvPr>
          <p:cNvSpPr>
            <a:spLocks xmlns:a="http://schemas.openxmlformats.org/drawingml/2006/main" noGrp="1"/>
          </p:cNvSpPr>
          <p:nvPr/>
        </p:nvSpPr>
        <p:spPr>
          <a:xfrm xmlns:a="http://schemas.openxmlformats.org/drawingml/2006/main">
            <a:off x="400050" y="5257800"/>
            <a:ext cx="3333750" cy="400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FD382E8-74E2-4978-A219-6317D978D805}"/>
              </a:ext>
            </a:extLst>
          </p:cNvPr>
          <p:cNvSpPr>
            <a:spLocks xmlns:a="http://schemas.openxmlformats.org/drawingml/2006/main" noGrp="1"/>
          </p:cNvSpPr>
          <p:nvPr/>
        </p:nvSpPr>
        <p:spPr>
          <a:xfrm xmlns:a="http://schemas.openxmlformats.org/drawingml/2006/main">
            <a:off x="533400" y="5381625"/>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0B1220"/>
                </a:solidFill>
                <a:latin typeface="Helvetica Neue"/>
                <a:ea typeface="Helvetica Neue"/>
                <a:cs typeface="Helvetica Neue"/>
              </a:defRPr>
            </a:pPr>
            <a:r>
              <a:rPr sz="1050" b="1">
                <a:solidFill>
                  <a:srgbClr val="0B1220"/>
                </a:solidFill>
                <a:latin typeface="Helvetica Neue"/>
                <a:ea typeface="Helvetica Neue"/>
                <a:cs typeface="Helvetica Neue"/>
              </a:rPr>
              <a:t>Resultaat: een winkel kan vlot starten</a:t>
            </a:r>
          </a:p>
        </p:txBody>
      </p:sp>
      <p:sp>
        <p:nvSpPr>
          <p:cNvPr id="12" name="">
            <a:extLst xmlns:a="http://schemas.openxmlformats.org/drawingml/2006/main">
              <a:ext uri="{FF2B5EF4-FFF2-40B4-BE49-F238E27FC236}">
                <a16:creationId xmlns:a16="http://schemas.microsoft.com/office/drawing/2014/main" id="{A3B29128-0739-42E7-9D92-613C3C2DE2B3}"/>
              </a:ext>
            </a:extLst>
          </p:cNvPr>
          <p:cNvSpPr>
            <a:spLocks xmlns:a="http://schemas.openxmlformats.org/drawingml/2006/main" noGrp="1"/>
          </p:cNvSpPr>
          <p:nvPr/>
        </p:nvSpPr>
        <p:spPr>
          <a:xfrm xmlns:a="http://schemas.openxmlformats.org/drawingml/2006/main">
            <a:off x="4229100" y="2419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2186F3"/>
                </a:solidFill>
                <a:latin typeface="Helvetica Neue"/>
                <a:ea typeface="Helvetica Neue"/>
                <a:cs typeface="Helvetica Neue"/>
              </a:defRPr>
            </a:pPr>
            <a:r>
              <a:rPr sz="1425" b="1">
                <a:solidFill>
                  <a:srgbClr val="2186F3"/>
                </a:solidFill>
                <a:latin typeface="Helvetica Neue"/>
                <a:ea typeface="Helvetica Neue"/>
                <a:cs typeface="Helvetica Neue"/>
              </a:rPr>
              <a:t>Maand 4 tot 9</a:t>
            </a:r>
          </a:p>
        </p:txBody>
      </p:sp>
      <p:sp>
        <p:nvSpPr>
          <p:cNvPr id="13" name="">
            <a:extLst xmlns:a="http://schemas.openxmlformats.org/drawingml/2006/main">
              <a:ext uri="{FF2B5EF4-FFF2-40B4-BE49-F238E27FC236}">
                <a16:creationId xmlns:a16="http://schemas.microsoft.com/office/drawing/2014/main" id="{EC0E4D5B-E602-4BD6-A108-0D8C935FDA26}"/>
              </a:ext>
            </a:extLst>
          </p:cNvPr>
          <p:cNvSpPr>
            <a:spLocks xmlns:a="http://schemas.openxmlformats.org/drawingml/2006/main" noGrp="1"/>
          </p:cNvSpPr>
          <p:nvPr/>
        </p:nvSpPr>
        <p:spPr>
          <a:xfrm xmlns:a="http://schemas.openxmlformats.org/drawingml/2006/main">
            <a:off x="4229100" y="3276600"/>
            <a:ext cx="152400" cy="15240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F4F8B2F-EC85-4EB8-B9FF-FC4E51D0F154}"/>
              </a:ext>
            </a:extLst>
          </p:cNvPr>
          <p:cNvSpPr>
            <a:spLocks xmlns:a="http://schemas.openxmlformats.org/drawingml/2006/main" noGrp="1"/>
          </p:cNvSpPr>
          <p:nvPr/>
        </p:nvSpPr>
        <p:spPr>
          <a:xfrm xmlns:a="http://schemas.openxmlformats.org/drawingml/2006/main">
            <a:off x="4229100" y="3733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Eerste groei</a:t>
            </a:r>
          </a:p>
        </p:txBody>
      </p:sp>
      <p:sp>
        <p:nvSpPr>
          <p:cNvPr id="15" name="">
            <a:extLst xmlns:a="http://schemas.openxmlformats.org/drawingml/2006/main">
              <a:ext uri="{FF2B5EF4-FFF2-40B4-BE49-F238E27FC236}">
                <a16:creationId xmlns:a16="http://schemas.microsoft.com/office/drawing/2014/main" id="{C375E11D-29D3-4F1D-8D7E-EA0E7FB6CE21}"/>
              </a:ext>
            </a:extLst>
          </p:cNvPr>
          <p:cNvSpPr>
            <a:spLocks xmlns:a="http://schemas.openxmlformats.org/drawingml/2006/main" noGrp="1"/>
          </p:cNvSpPr>
          <p:nvPr/>
        </p:nvSpPr>
        <p:spPr>
          <a:xfrm xmlns:a="http://schemas.openxmlformats.org/drawingml/2006/main">
            <a:off x="4229100" y="42672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30 betalende winkels</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Vaste manier van opstarten</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Eerste succesverhalen</a:t>
            </a:r>
          </a:p>
        </p:txBody>
      </p:sp>
      <p:sp>
        <p:nvSpPr>
          <p:cNvPr id="16" name="">
            <a:extLst xmlns:a="http://schemas.openxmlformats.org/drawingml/2006/main">
              <a:ext uri="{FF2B5EF4-FFF2-40B4-BE49-F238E27FC236}">
                <a16:creationId xmlns:a16="http://schemas.microsoft.com/office/drawing/2014/main" id="{803B83DA-587F-4F81-813C-6A1FDFBAFFDB}"/>
              </a:ext>
            </a:extLst>
          </p:cNvPr>
          <p:cNvSpPr>
            <a:spLocks xmlns:a="http://schemas.openxmlformats.org/drawingml/2006/main" noGrp="1"/>
          </p:cNvSpPr>
          <p:nvPr/>
        </p:nvSpPr>
        <p:spPr>
          <a:xfrm xmlns:a="http://schemas.openxmlformats.org/drawingml/2006/main">
            <a:off x="4229100" y="5257800"/>
            <a:ext cx="3333750" cy="400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87C3B5A-E649-4C7F-AD50-9D69F155432D}"/>
              </a:ext>
            </a:extLst>
          </p:cNvPr>
          <p:cNvSpPr>
            <a:spLocks xmlns:a="http://schemas.openxmlformats.org/drawingml/2006/main" noGrp="1"/>
          </p:cNvSpPr>
          <p:nvPr/>
        </p:nvSpPr>
        <p:spPr>
          <a:xfrm xmlns:a="http://schemas.openxmlformats.org/drawingml/2006/main">
            <a:off x="4362450" y="5381625"/>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0B1220"/>
                </a:solidFill>
                <a:latin typeface="Helvetica Neue"/>
                <a:ea typeface="Helvetica Neue"/>
                <a:cs typeface="Helvetica Neue"/>
              </a:defRPr>
            </a:pPr>
            <a:r>
              <a:rPr sz="1050" b="1">
                <a:solidFill>
                  <a:srgbClr val="0B1220"/>
                </a:solidFill>
                <a:latin typeface="Helvetica Neue"/>
                <a:ea typeface="Helvetica Neue"/>
                <a:cs typeface="Helvetica Neue"/>
              </a:rPr>
              <a:t>Resultaat: winkels willen ervoor betalen</a:t>
            </a:r>
          </a:p>
        </p:txBody>
      </p:sp>
      <p:sp>
        <p:nvSpPr>
          <p:cNvPr id="18" name="">
            <a:extLst xmlns:a="http://schemas.openxmlformats.org/drawingml/2006/main">
              <a:ext uri="{FF2B5EF4-FFF2-40B4-BE49-F238E27FC236}">
                <a16:creationId xmlns:a16="http://schemas.microsoft.com/office/drawing/2014/main" id="{6E515313-C8C9-427F-8C28-1FD144A54E5E}"/>
              </a:ext>
            </a:extLst>
          </p:cNvPr>
          <p:cNvSpPr>
            <a:spLocks xmlns:a="http://schemas.openxmlformats.org/drawingml/2006/main" noGrp="1"/>
          </p:cNvSpPr>
          <p:nvPr/>
        </p:nvSpPr>
        <p:spPr>
          <a:xfrm xmlns:a="http://schemas.openxmlformats.org/drawingml/2006/main">
            <a:off x="8058150" y="2419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2186F3"/>
                </a:solidFill>
                <a:latin typeface="Helvetica Neue"/>
                <a:ea typeface="Helvetica Neue"/>
                <a:cs typeface="Helvetica Neue"/>
              </a:defRPr>
            </a:pPr>
            <a:r>
              <a:rPr sz="1425" b="1">
                <a:solidFill>
                  <a:srgbClr val="2186F3"/>
                </a:solidFill>
                <a:latin typeface="Helvetica Neue"/>
                <a:ea typeface="Helvetica Neue"/>
                <a:cs typeface="Helvetica Neue"/>
              </a:rPr>
              <a:t>Maand 10 tot 18</a:t>
            </a:r>
          </a:p>
        </p:txBody>
      </p:sp>
      <p:sp>
        <p:nvSpPr>
          <p:cNvPr id="19" name="">
            <a:extLst xmlns:a="http://schemas.openxmlformats.org/drawingml/2006/main">
              <a:ext uri="{FF2B5EF4-FFF2-40B4-BE49-F238E27FC236}">
                <a16:creationId xmlns:a16="http://schemas.microsoft.com/office/drawing/2014/main" id="{4E79422E-68DE-4AED-8E2C-7D324A8361FA}"/>
              </a:ext>
            </a:extLst>
          </p:cNvPr>
          <p:cNvSpPr>
            <a:spLocks xmlns:a="http://schemas.openxmlformats.org/drawingml/2006/main" noGrp="1"/>
          </p:cNvSpPr>
          <p:nvPr/>
        </p:nvSpPr>
        <p:spPr>
          <a:xfrm xmlns:a="http://schemas.openxmlformats.org/drawingml/2006/main">
            <a:off x="8058150" y="3276600"/>
            <a:ext cx="152400" cy="15240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48F98FC-8139-4A49-A459-35289AF31A87}"/>
              </a:ext>
            </a:extLst>
          </p:cNvPr>
          <p:cNvSpPr>
            <a:spLocks xmlns:a="http://schemas.openxmlformats.org/drawingml/2006/main" noGrp="1"/>
          </p:cNvSpPr>
          <p:nvPr/>
        </p:nvSpPr>
        <p:spPr>
          <a:xfrm xmlns:a="http://schemas.openxmlformats.org/drawingml/2006/main">
            <a:off x="8058150" y="3733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Groter worden</a:t>
            </a:r>
          </a:p>
        </p:txBody>
      </p:sp>
      <p:sp>
        <p:nvSpPr>
          <p:cNvPr id="21" name="">
            <a:extLst xmlns:a="http://schemas.openxmlformats.org/drawingml/2006/main">
              <a:ext uri="{FF2B5EF4-FFF2-40B4-BE49-F238E27FC236}">
                <a16:creationId xmlns:a16="http://schemas.microsoft.com/office/drawing/2014/main" id="{32CD8062-3AE4-4166-8457-C67D9AF31838}"/>
              </a:ext>
            </a:extLst>
          </p:cNvPr>
          <p:cNvSpPr>
            <a:spLocks xmlns:a="http://schemas.openxmlformats.org/drawingml/2006/main" noGrp="1"/>
          </p:cNvSpPr>
          <p:nvPr/>
        </p:nvSpPr>
        <p:spPr>
          <a:xfrm xmlns:a="http://schemas.openxmlformats.org/drawingml/2006/main">
            <a:off x="8058150" y="42672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100 betalende winkels</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Partners die klanten aanbrengen</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Minder handmatig werk</a:t>
            </a:r>
          </a:p>
        </p:txBody>
      </p:sp>
      <p:sp>
        <p:nvSpPr>
          <p:cNvPr id="22" name="">
            <a:extLst xmlns:a="http://schemas.openxmlformats.org/drawingml/2006/main">
              <a:ext uri="{FF2B5EF4-FFF2-40B4-BE49-F238E27FC236}">
                <a16:creationId xmlns:a16="http://schemas.microsoft.com/office/drawing/2014/main" id="{60E36D0B-EAF7-494B-878A-71AE40242082}"/>
              </a:ext>
            </a:extLst>
          </p:cNvPr>
          <p:cNvSpPr>
            <a:spLocks xmlns:a="http://schemas.openxmlformats.org/drawingml/2006/main" noGrp="1"/>
          </p:cNvSpPr>
          <p:nvPr/>
        </p:nvSpPr>
        <p:spPr>
          <a:xfrm xmlns:a="http://schemas.openxmlformats.org/drawingml/2006/main">
            <a:off x="8058150" y="5257800"/>
            <a:ext cx="3333750" cy="400050"/>
          </a:xfrm>
          <a:prstGeom xmlns:a="http://schemas.openxmlformats.org/drawingml/2006/main" prst="rect">
            <a:avLst/>
          </a:prstGeom>
          <a:solidFill xmlns:a="http://schemas.openxmlformats.org/drawingml/2006/main">
            <a:srgbClr val="2186F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73813F8-BF9A-416E-BCE9-8CAFAC9FBD90}"/>
              </a:ext>
            </a:extLst>
          </p:cNvPr>
          <p:cNvSpPr>
            <a:spLocks xmlns:a="http://schemas.openxmlformats.org/drawingml/2006/main" noGrp="1"/>
          </p:cNvSpPr>
          <p:nvPr/>
        </p:nvSpPr>
        <p:spPr>
          <a:xfrm xmlns:a="http://schemas.openxmlformats.org/drawingml/2006/main">
            <a:off x="8191500" y="5381625"/>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Resultaat: een bedrijf dat verder kan groeien</a:t>
            </a:r>
          </a:p>
        </p:txBody>
      </p:sp>
    </p:spTree>
    <p:extLst>
      <p:ext uri="{BB962C8B-B14F-4D97-AF65-F5344CB8AC3E}">
        <p14:creationId xmlns:p14="http://schemas.microsoft.com/office/powerpoint/2010/main" val="2151308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3754DB5-D56A-4479-B9DB-C554B75B0D12}"/>
              </a:ext>
            </a:extLst>
          </p:cNvPr>
          <p:cNvSpPr>
            <a:spLocks xmlns:a="http://schemas.openxmlformats.org/drawingml/2006/main" noGrp="1"/>
          </p:cNvSpPr>
          <p:nvPr/>
        </p:nvSpPr>
        <p:spPr>
          <a:xfrm xmlns:a="http://schemas.openxmlformats.org/drawingml/2006/main">
            <a:off x="400050" y="3619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a:solidFill>
                  <a:srgbClr val="2186F3"/>
                </a:solidFill>
                <a:latin typeface="Helvetica Neue"/>
                <a:ea typeface="Helvetica Neue"/>
                <a:cs typeface="Helvetica Neue"/>
              </a:defRPr>
            </a:pPr>
            <a:r>
              <a:rPr sz="975" b="1">
                <a:solidFill>
                  <a:srgbClr val="2186F3"/>
                </a:solidFill>
                <a:latin typeface="Helvetica Neue"/>
                <a:ea typeface="Helvetica Neue"/>
                <a:cs typeface="Helvetica Neue"/>
              </a:rPr>
              <a:t>MIJN VOORSTEL</a:t>
            </a:r>
          </a:p>
        </p:txBody>
      </p:sp>
      <p:sp>
        <p:nvSpPr>
          <p:cNvPr id="2" name="">
            <a:extLst xmlns:a="http://schemas.openxmlformats.org/drawingml/2006/main">
              <a:ext uri="{FF2B5EF4-FFF2-40B4-BE49-F238E27FC236}">
                <a16:creationId xmlns:a16="http://schemas.microsoft.com/office/drawing/2014/main" id="{F9E91F17-7665-476A-86D2-AE4490240CB4}"/>
              </a:ext>
            </a:extLst>
          </p:cNvPr>
          <p:cNvSpPr>
            <a:spLocks xmlns:a="http://schemas.openxmlformats.org/drawingml/2006/main" noGrp="1"/>
          </p:cNvSpPr>
          <p:nvPr/>
        </p:nvSpPr>
        <p:spPr>
          <a:xfrm xmlns:a="http://schemas.openxmlformats.org/drawingml/2006/main">
            <a:off x="400050" y="1371600"/>
            <a:ext cx="704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896"/>
          </a:bodyPr>
          <a:lstStyle xmlns:a="http://schemas.openxmlformats.org/drawingml/2006/main"/>
          <a:p xmlns:a="http://schemas.openxmlformats.org/drawingml/2006/main">
            <a:pPr algn="l">
              <a:buNone/>
              <a:defRPr sz="4350" b="1">
                <a:solidFill>
                  <a:srgbClr val="0B1220"/>
                </a:solidFill>
                <a:latin typeface="Helvetica Neue"/>
                <a:ea typeface="Helvetica Neue"/>
                <a:cs typeface="Helvetica Neue"/>
              </a:defRPr>
            </a:pPr>
            <a:r>
              <a:rPr sz="4350" b="1">
                <a:solidFill>
                  <a:srgbClr val="0B1220"/>
                </a:solidFill>
                <a:latin typeface="Helvetica Neue"/>
                <a:ea typeface="Helvetica Neue"/>
                <a:cs typeface="Helvetica Neue"/>
              </a:rPr>
              <a:t>€ 250.000 voor 15% van PWAYMENT</a:t>
            </a:r>
          </a:p>
        </p:txBody>
      </p:sp>
      <p:sp>
        <p:nvSpPr>
          <p:cNvPr id="3" name="">
            <a:extLst xmlns:a="http://schemas.openxmlformats.org/drawingml/2006/main">
              <a:ext uri="{FF2B5EF4-FFF2-40B4-BE49-F238E27FC236}">
                <a16:creationId xmlns:a16="http://schemas.microsoft.com/office/drawing/2014/main" id="{8D4CBF82-16FA-413A-AAAD-E8F66D97E558}"/>
              </a:ext>
            </a:extLst>
          </p:cNvPr>
          <p:cNvSpPr>
            <a:spLocks xmlns:a="http://schemas.openxmlformats.org/drawingml/2006/main" noGrp="1"/>
          </p:cNvSpPr>
          <p:nvPr/>
        </p:nvSpPr>
        <p:spPr>
          <a:xfrm xmlns:a="http://schemas.openxmlformats.org/drawingml/2006/main">
            <a:off x="400050" y="2381250"/>
            <a:ext cx="657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a:solidFill>
                  <a:srgbClr val="5E6878"/>
                </a:solidFill>
                <a:latin typeface="Helvetica Neue"/>
                <a:ea typeface="Helvetica Neue"/>
                <a:cs typeface="Helvetica Neue"/>
              </a:defRPr>
            </a:pPr>
            <a:r>
              <a:rPr sz="1575">
                <a:solidFill>
                  <a:srgbClr val="5E6878"/>
                </a:solidFill>
                <a:latin typeface="Helvetica Neue"/>
                <a:ea typeface="Helvetica Neue"/>
                <a:cs typeface="Helvetica Neue"/>
              </a:rPr>
              <a:t>De investeerder wordt voor 15% mede-eigenaar van het bedrijf. De precieze afspraken leggen we samen duidelijk vast.</a:t>
            </a:r>
          </a:p>
        </p:txBody>
      </p:sp>
      <p:sp>
        <p:nvSpPr>
          <p:cNvPr id="4" name="">
            <a:extLst xmlns:a="http://schemas.openxmlformats.org/drawingml/2006/main">
              <a:ext uri="{FF2B5EF4-FFF2-40B4-BE49-F238E27FC236}">
                <a16:creationId xmlns:a16="http://schemas.microsoft.com/office/drawing/2014/main" id="{582B7E82-6FAA-4752-B4B9-48CAC098ACE5}"/>
              </a:ext>
            </a:extLst>
          </p:cNvPr>
          <p:cNvSpPr>
            <a:spLocks xmlns:a="http://schemas.openxmlformats.org/drawingml/2006/main" noGrp="1"/>
          </p:cNvSpPr>
          <p:nvPr/>
        </p:nvSpPr>
        <p:spPr>
          <a:xfrm xmlns:a="http://schemas.openxmlformats.org/drawingml/2006/main">
            <a:off x="400050" y="3600450"/>
            <a:ext cx="6572250" cy="15049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A09DE7-6BBF-477E-940D-73CC7B6616B9}"/>
              </a:ext>
            </a:extLst>
          </p:cNvPr>
          <p:cNvSpPr>
            <a:spLocks xmlns:a="http://schemas.openxmlformats.org/drawingml/2006/main" noGrp="1"/>
          </p:cNvSpPr>
          <p:nvPr/>
        </p:nvSpPr>
        <p:spPr>
          <a:xfrm xmlns:a="http://schemas.openxmlformats.org/drawingml/2006/main">
            <a:off x="647700" y="3867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55CFF7"/>
                </a:solidFill>
                <a:latin typeface="Helvetica Neue"/>
                <a:ea typeface="Helvetica Neue"/>
                <a:cs typeface="Helvetica Neue"/>
              </a:defRPr>
            </a:pPr>
            <a:r>
              <a:rPr sz="1050" b="1">
                <a:solidFill>
                  <a:srgbClr val="55CFF7"/>
                </a:solidFill>
                <a:latin typeface="Helvetica Neue"/>
                <a:ea typeface="Helvetica Neue"/>
                <a:cs typeface="Helvetica Neue"/>
              </a:rPr>
              <a:t>Wat ik beloof</a:t>
            </a:r>
          </a:p>
        </p:txBody>
      </p:sp>
      <p:sp>
        <p:nvSpPr>
          <p:cNvPr id="6" name="">
            <a:extLst xmlns:a="http://schemas.openxmlformats.org/drawingml/2006/main">
              <a:ext uri="{FF2B5EF4-FFF2-40B4-BE49-F238E27FC236}">
                <a16:creationId xmlns:a16="http://schemas.microsoft.com/office/drawing/2014/main" id="{48122D1A-67A0-4FC3-8640-8B3C1AC3562F}"/>
              </a:ext>
            </a:extLst>
          </p:cNvPr>
          <p:cNvSpPr>
            <a:spLocks xmlns:a="http://schemas.openxmlformats.org/drawingml/2006/main" noGrp="1"/>
          </p:cNvSpPr>
          <p:nvPr/>
        </p:nvSpPr>
        <p:spPr>
          <a:xfrm xmlns:a="http://schemas.openxmlformats.org/drawingml/2006/main">
            <a:off x="647700" y="428625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346"/>
          </a:bodyPr>
          <a:lstStyle xmlns:a="http://schemas.openxmlformats.org/drawingml/2006/main"/>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Het geld wordt gebruikt zoals voorgesteld. U krijgt elke maand een duidelijke update over klanten, inkomsten en uitgaven.</a:t>
            </a:r>
          </a:p>
        </p:txBody>
      </p:sp>
      <p:sp>
        <p:nvSpPr>
          <p:cNvPr id="7" name="">
            <a:extLst xmlns:a="http://schemas.openxmlformats.org/drawingml/2006/main">
              <a:ext uri="{FF2B5EF4-FFF2-40B4-BE49-F238E27FC236}">
                <a16:creationId xmlns:a16="http://schemas.microsoft.com/office/drawing/2014/main" id="{C6D004DB-101D-44FD-AEBC-A842CCA2D50B}"/>
              </a:ext>
            </a:extLst>
          </p:cNvPr>
          <p:cNvSpPr>
            <a:spLocks xmlns:a="http://schemas.openxmlformats.org/drawingml/2006/main" noGrp="1"/>
          </p:cNvSpPr>
          <p:nvPr/>
        </p:nvSpPr>
        <p:spPr>
          <a:xfrm xmlns:a="http://schemas.openxmlformats.org/drawingml/2006/main">
            <a:off x="7753350" y="1200150"/>
            <a:ext cx="3733800" cy="4114800"/>
          </a:xfrm>
          <a:prstGeom xmlns:a="http://schemas.openxmlformats.org/drawingml/2006/main" prst="rect">
            <a:avLst/>
          </a:prstGeom>
          <a:solidFill xmlns:a="http://schemas.openxmlformats.org/drawingml/2006/main">
            <a:srgbClr val="2186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1FCE73D-EAE3-400A-8BBA-9CD3AAC872E4}"/>
              </a:ext>
            </a:extLst>
          </p:cNvPr>
          <p:cNvSpPr>
            <a:spLocks xmlns:a="http://schemas.openxmlformats.org/drawingml/2006/main" noGrp="1"/>
          </p:cNvSpPr>
          <p:nvPr/>
        </p:nvSpPr>
        <p:spPr>
          <a:xfrm xmlns:a="http://schemas.openxmlformats.org/drawingml/2006/main">
            <a:off x="8039100" y="15240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 volgende stap</a:t>
            </a:r>
          </a:p>
        </p:txBody>
      </p:sp>
      <p:sp>
        <p:nvSpPr>
          <p:cNvPr id="9" name="">
            <a:extLst xmlns:a="http://schemas.openxmlformats.org/drawingml/2006/main">
              <a:ext uri="{FF2B5EF4-FFF2-40B4-BE49-F238E27FC236}">
                <a16:creationId xmlns:a16="http://schemas.microsoft.com/office/drawing/2014/main" id="{9EF7C080-B38B-4DEE-A9F4-51955E4CCEAA}"/>
              </a:ext>
            </a:extLst>
          </p:cNvPr>
          <p:cNvSpPr>
            <a:spLocks xmlns:a="http://schemas.openxmlformats.org/drawingml/2006/main" noGrp="1"/>
          </p:cNvSpPr>
          <p:nvPr/>
        </p:nvSpPr>
        <p:spPr>
          <a:xfrm xmlns:a="http://schemas.openxmlformats.org/drawingml/2006/main">
            <a:off x="8039100" y="2190750"/>
            <a:ext cx="304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Product en cijfers</a:t>
            </a:r>
          </a:p>
          <a:p xmlns:a="http://schemas.openxmlformats.org/drawingml/2006/main">
            <a:pPr algn="l">
              <a:buNone/>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samen bekijken.</a:t>
            </a:r>
          </a:p>
        </p:txBody>
      </p:sp>
      <p:sp>
        <p:nvSpPr>
          <p:cNvPr id="10" name="">
            <a:extLst xmlns:a="http://schemas.openxmlformats.org/drawingml/2006/main">
              <a:ext uri="{FF2B5EF4-FFF2-40B4-BE49-F238E27FC236}">
                <a16:creationId xmlns:a16="http://schemas.microsoft.com/office/drawing/2014/main" id="{B1464CC0-764A-419B-8AF1-90861C4FC05A}"/>
              </a:ext>
            </a:extLst>
          </p:cNvPr>
          <p:cNvSpPr>
            <a:spLocks xmlns:a="http://schemas.openxmlformats.org/drawingml/2006/main" noGrp="1"/>
          </p:cNvSpPr>
          <p:nvPr/>
        </p:nvSpPr>
        <p:spPr>
          <a:xfrm xmlns:a="http://schemas.openxmlformats.org/drawingml/2006/main">
            <a:off x="8039100" y="3390900"/>
            <a:ext cx="3048000" cy="9525"/>
          </a:xfrm>
          <a:prstGeom xmlns:a="http://schemas.openxmlformats.org/drawingml/2006/main" prst="rect">
            <a:avLst/>
          </a:prstGeom>
          <a:solidFill xmlns:a="http://schemas.openxmlformats.org/drawingml/2006/main">
            <a:srgbClr val="89C5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999BDA-F8EE-41BA-BF39-FCCD3FAB2767}"/>
              </a:ext>
            </a:extLst>
          </p:cNvPr>
          <p:cNvSpPr>
            <a:spLocks xmlns:a="http://schemas.openxmlformats.org/drawingml/2006/main" noGrp="1"/>
          </p:cNvSpPr>
          <p:nvPr/>
        </p:nvSpPr>
        <p:spPr>
          <a:xfrm xmlns:a="http://schemas.openxmlformats.org/drawingml/2006/main">
            <a:off x="8039100" y="37338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1.  Productdemonstratie</a:t>
            </a:r>
          </a:p>
          <a:p xmlns:a="http://schemas.openxmlformats.org/drawingml/2006/main">
            <a:pPr algn="l">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2.  Cijfers en kosten controleren</a:t>
            </a:r>
          </a:p>
          <a:p xmlns:a="http://schemas.openxmlformats.org/drawingml/2006/main">
            <a:pPr algn="l">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3.  Afspraken over prijs en aandelen</a:t>
            </a:r>
          </a:p>
        </p:txBody>
      </p:sp>
      <p:sp>
        <p:nvSpPr>
          <p:cNvPr id="12" name="">
            <a:extLst xmlns:a="http://schemas.openxmlformats.org/drawingml/2006/main">
              <a:ext uri="{FF2B5EF4-FFF2-40B4-BE49-F238E27FC236}">
                <a16:creationId xmlns:a16="http://schemas.microsoft.com/office/drawing/2014/main" id="{C3592AC0-DC32-4FBE-A04A-951903ED1C25}"/>
              </a:ext>
            </a:extLst>
          </p:cNvPr>
          <p:cNvSpPr>
            <a:spLocks xmlns:a="http://schemas.openxmlformats.org/drawingml/2006/main" noGrp="1"/>
          </p:cNvSpPr>
          <p:nvPr/>
        </p:nvSpPr>
        <p:spPr>
          <a:xfrm xmlns:a="http://schemas.openxmlformats.org/drawingml/2006/main">
            <a:off x="400050" y="57150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Ik heb het product gebouwd. Met de juiste investeerder kan ik nu het bedrijf bouwen.</a:t>
            </a:r>
          </a:p>
        </p:txBody>
      </p:sp>
      <p:sp>
        <p:nvSpPr>
          <p:cNvPr id="13" name="">
            <a:extLst xmlns:a="http://schemas.openxmlformats.org/drawingml/2006/main">
              <a:ext uri="{FF2B5EF4-FFF2-40B4-BE49-F238E27FC236}">
                <a16:creationId xmlns:a16="http://schemas.microsoft.com/office/drawing/2014/main" id="{1E424972-26B8-4E36-BADB-9C855179D85E}"/>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a:t>
            </a:r>
          </a:p>
        </p:txBody>
      </p:sp>
      <p:sp>
        <p:nvSpPr>
          <p:cNvPr id="14" name="">
            <a:extLst xmlns:a="http://schemas.openxmlformats.org/drawingml/2006/main">
              <a:ext uri="{FF2B5EF4-FFF2-40B4-BE49-F238E27FC236}">
                <a16:creationId xmlns:a16="http://schemas.microsoft.com/office/drawing/2014/main" id="{7307FB16-4EEA-4FD9-A34C-E1260226302F}"/>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08</a:t>
            </a:r>
          </a:p>
        </p:txBody>
      </p:sp>
    </p:spTree>
    <p:extLst>
      <p:ext uri="{BB962C8B-B14F-4D97-AF65-F5344CB8AC3E}">
        <p14:creationId xmlns:p14="http://schemas.microsoft.com/office/powerpoint/2010/main" val="92308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2026-08-30T15:09:07.2210000Z</dcterms:created>
  <dcterms:modified xsi:type="dcterms:W3CDTF">2026-08-30T15:09:07.2210000Z</dcterms:modified>
</coreProperties>
</file>