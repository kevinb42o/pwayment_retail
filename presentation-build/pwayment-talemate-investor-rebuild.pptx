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0db7940b3a425b" /><Relationship Type="http://schemas.openxmlformats.org/officeDocument/2006/relationships/extended-properties" Target="/docProps/app.xml" Id="R0fdd73c0e3704665" /><Relationship Type="http://schemas.openxmlformats.org/officeDocument/2006/relationships/officeDocument" Target="/ppt/presentation.xml" Id="Rcfb87625e6944c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9a300d95fe41d3"/>
  </p:sldMasterIdLst>
  <p:notesMasterIdLst>
    <p:notesMasterId xmlns:r="http://schemas.openxmlformats.org/officeDocument/2006/relationships" r:id="R768f71cff3f4494d"/>
  </p:notesMasterIdLst>
  <p:sldIdLst>
    <p:sldId xmlns:r="http://schemas.openxmlformats.org/officeDocument/2006/relationships" id="256" r:id="R684ec1a452c84633"/>
    <p:sldId xmlns:r="http://schemas.openxmlformats.org/officeDocument/2006/relationships" id="257" r:id="Rf74804dae509471e"/>
    <p:sldId xmlns:r="http://schemas.openxmlformats.org/officeDocument/2006/relationships" id="258" r:id="Ra9dd076cc52f4f5b"/>
    <p:sldId xmlns:r="http://schemas.openxmlformats.org/officeDocument/2006/relationships" id="259" r:id="R3f5bd0ba5f264905"/>
    <p:sldId xmlns:r="http://schemas.openxmlformats.org/officeDocument/2006/relationships" id="260" r:id="R8ecde51e9e204b30"/>
    <p:sldId xmlns:r="http://schemas.openxmlformats.org/officeDocument/2006/relationships" id="261" r:id="R261b88bf57b94d7a"/>
    <p:sldId xmlns:r="http://schemas.openxmlformats.org/officeDocument/2006/relationships" id="262" r:id="R6c2bdf7a58c74e64"/>
    <p:sldId xmlns:r="http://schemas.openxmlformats.org/officeDocument/2006/relationships" id="263" r:id="Re0a5407c079e4953"/>
    <p:sldId xmlns:r="http://schemas.openxmlformats.org/officeDocument/2006/relationships" id="264" r:id="R8b85778f94ea4c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99499d29d94c78" /><Relationship Type="http://schemas.openxmlformats.org/officeDocument/2006/relationships/slideMaster" Target="/ppt/slideMasters/slideMaster1.xml" Id="R789a300d95fe41d3" /><Relationship Type="http://schemas.openxmlformats.org/officeDocument/2006/relationships/notesMaster" Target="/ppt/notesMasters/notesMaster1.xml" Id="R768f71cff3f4494d" /><Relationship Type="http://schemas.openxmlformats.org/officeDocument/2006/relationships/presProps" Target="/ppt/presProps.xml" Id="R5dcaf73f0ffa47f0" /><Relationship Type="http://schemas.openxmlformats.org/officeDocument/2006/relationships/tableStyles" Target="/ppt/tableStyles.xml" Id="R5ddb33fb6fa84b79" /><Relationship Type="http://schemas.openxmlformats.org/officeDocument/2006/relationships/slide" Target="/ppt/slides/slide1.xml" Id="R684ec1a452c84633" /><Relationship Type="http://schemas.openxmlformats.org/officeDocument/2006/relationships/slide" Target="/ppt/slides/slide2.xml" Id="Rf74804dae509471e" /><Relationship Type="http://schemas.openxmlformats.org/officeDocument/2006/relationships/slide" Target="/ppt/slides/slide3.xml" Id="Ra9dd076cc52f4f5b" /><Relationship Type="http://schemas.openxmlformats.org/officeDocument/2006/relationships/slide" Target="/ppt/slides/slide4.xml" Id="R3f5bd0ba5f264905" /><Relationship Type="http://schemas.openxmlformats.org/officeDocument/2006/relationships/slide" Target="/ppt/slides/slide5.xml" Id="R8ecde51e9e204b30" /><Relationship Type="http://schemas.openxmlformats.org/officeDocument/2006/relationships/slide" Target="/ppt/slides/slide6.xml" Id="R261b88bf57b94d7a" /><Relationship Type="http://schemas.openxmlformats.org/officeDocument/2006/relationships/slide" Target="/ppt/slides/slide7.xml" Id="R6c2bdf7a58c74e64" /><Relationship Type="http://schemas.openxmlformats.org/officeDocument/2006/relationships/slide" Target="/ppt/slides/slide8.xml" Id="Re0a5407c079e4953" /><Relationship Type="http://schemas.openxmlformats.org/officeDocument/2006/relationships/slide" Target="/ppt/slides/slide9.xml" Id="R8b85778f94ea4c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7e8fd6a64249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b8081100a54292" /><Relationship Type="http://schemas.openxmlformats.org/officeDocument/2006/relationships/notesMaster" Target="/ppt/notesMasters/notesMaster1.xml" Id="Re83f3b5c9afa4d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58a6a9e6a44ad6" /><Relationship Type="http://schemas.openxmlformats.org/officeDocument/2006/relationships/notesMaster" Target="/ppt/notesMasters/notesMaster1.xml" Id="Rfa81e2a82cf349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d3da906c2e4a23" /><Relationship Type="http://schemas.openxmlformats.org/officeDocument/2006/relationships/notesMaster" Target="/ppt/notesMasters/notesMaster1.xml" Id="R21b7ca1e9a9646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fad95adf1e48b1" /><Relationship Type="http://schemas.openxmlformats.org/officeDocument/2006/relationships/notesMaster" Target="/ppt/notesMasters/notesMaster1.xml" Id="R1f0e1c5b72c54d7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f64a0216b464909" /><Relationship Type="http://schemas.openxmlformats.org/officeDocument/2006/relationships/notesMaster" Target="/ppt/notesMasters/notesMaster1.xml" Id="Rdf0a712be5d4499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3b40e6cdd548f7" /><Relationship Type="http://schemas.openxmlformats.org/officeDocument/2006/relationships/notesMaster" Target="/ppt/notesMasters/notesMaster1.xml" Id="R1e178b4f30124f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d3069ae9bd44ac" /><Relationship Type="http://schemas.openxmlformats.org/officeDocument/2006/relationships/notesMaster" Target="/ppt/notesMasters/notesMaster1.xml" Id="R3fefa6b6f54447c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3ce8993ca1040a7" /><Relationship Type="http://schemas.openxmlformats.org/officeDocument/2006/relationships/notesMaster" Target="/ppt/notesMasters/notesMaster1.xml" Id="R69bec335f9834ca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cd3e8d741334754" /><Relationship Type="http://schemas.openxmlformats.org/officeDocument/2006/relationships/notesMaster" Target="/ppt/notesMasters/notesMaster1.xml" Id="Ra82def2492284f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met de concrete bedoeling van het gesprek. Geen claim dat Pwayment vandaag al een volledig intelligence-platform is; de deck maakt het verschil tussen bestaand product en voorgestelde pilot expliciet.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Deze slide bouwt vertrouwen op. De huidige productstatus is gebaseerd op de aanwezige Pwayment-codebase: offline-first POS, productbeheer, voorraad, Belgische btw, klanten, rapportage, audit en rollen. De intelligence-laag is een voorgestelde volgende fase.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Product-capabilities zijn afgeleid uit de bestaande codebase en README. Geen externe marktclaims. Gebruik dit moment om kort een live demo of productvideo te tonen als die beschikbaar 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Gebruik één herkenbaar winkelverhaal. De formuleringen zijn producthypotheses, geen bewezen klantresultaten.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TALEMATE platform one-pager: https://www.talemate.co/web/content/83385?unique=ff28d6f34da4da333f5fb15bacd61f7b7c1884a06</a:t>
            </a:r>
          </a:p>
          <a:p xmlns:a="http://schemas.openxmlformats.org/drawingml/2006/main">
            <a:r>
              <a:t>TALEMATE contact/product overview: https://www.talemate.co/contact</a:t>
            </a:r>
          </a:p>
          <a:p xmlns:a="http://schemas.openxmlformats.org/drawingml/2006/main">
            <a:r>
              <a:t>De voorgestelde actiekring en retail-use-case zijn een interpretatie en voorstel, geen bestaande Talemate-integratie.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 zes weken zijn een voorstel voor scoping, geen belofte op basis van reeds afgesproken planning. Vraag in de meeting welke pilotomgeving en succesmaatstaf haalbaar zijn.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 businessmodel-regel is bewust als werkhypothese gelabeld. Er zijn geen verzonnen TAM-, omzet- of klantcijfers opgenomen.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Dit is de kernvraag. Laat de zaal kiezen tussen: concrete pilot, technische discovery, of geen fit. De presentatie hoeft niet te eindigen met een vage uitnodiging.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Afsluiter: herhaal de concrete vraag en laat daarna stilte vallen. Geen extra slogan uitleggen.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d8365e164a4c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dcbb7052a94697" /><Relationship Type="http://schemas.openxmlformats.org/officeDocument/2006/relationships/slideLayout" Target="/ppt/slideLayouts/slideLayout1.xml" Id="Rb16db3539f1945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6db3539f1945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ccf3ec64fa4af1" /><Relationship Type="http://schemas.openxmlformats.org/officeDocument/2006/relationships/notesSlide" Target="/ppt/notesSlides/notesSlide1.xml" Id="R70d06c82e11641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ff932767db4a63" /><Relationship Type="http://schemas.openxmlformats.org/officeDocument/2006/relationships/notesSlide" Target="/ppt/notesSlides/notesSlide2.xml" Id="R1b0f20c2dd7546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5142876d764f03" /><Relationship Type="http://schemas.openxmlformats.org/officeDocument/2006/relationships/notesSlide" Target="/ppt/notesSlides/notesSlide3.xml" Id="Ra81c87e47a684e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781a6caf5d422d" /><Relationship Type="http://schemas.openxmlformats.org/officeDocument/2006/relationships/notesSlide" Target="/ppt/notesSlides/notesSlide4.xml" Id="R603f515ad3da42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bff17464324a54" /><Relationship Type="http://schemas.openxmlformats.org/officeDocument/2006/relationships/notesSlide" Target="/ppt/notesSlides/notesSlide5.xml" Id="Rf6073170dcf946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354659f448452c" /><Relationship Type="http://schemas.openxmlformats.org/officeDocument/2006/relationships/notesSlide" Target="/ppt/notesSlides/notesSlide6.xml" Id="R5626627baa8d45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5600fb12e74af8" /><Relationship Type="http://schemas.openxmlformats.org/officeDocument/2006/relationships/notesSlide" Target="/ppt/notesSlides/notesSlide7.xml" Id="Rc108f910e83e4b4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c94b236d0f491b" /><Relationship Type="http://schemas.openxmlformats.org/officeDocument/2006/relationships/notesSlide" Target="/ppt/notesSlides/notesSlide8.xml" Id="R6f6f586d7f94415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656c2d36884be5" /><Relationship Type="http://schemas.openxmlformats.org/officeDocument/2006/relationships/notesSlide" Target="/ppt/notesSlides/notesSlide9.xml" Id="Rb1cef0c46cb846c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C834E6-493B-48DA-BD59-39014979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87EF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87EF0"/>
                </a:solidFill>
                <a:latin typeface="Helvetica Neue"/>
                <a:ea typeface="Helvetica Neue"/>
                <a:cs typeface="Helvetica Neue"/>
              </a:rPr>
              <a:t>PWAYMENT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C9241C-798F-4C8D-AC65-D0C3807A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85900"/>
            <a:ext cx="723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Van kassa</a:t>
            </a:r>
          </a:p>
          <a:p xmlns:a="http://schemas.openxmlformats.org/drawingml/2006/main">
            <a:pPr algn="l">
              <a:defRPr sz="48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naar beslissing.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215934-E630-41F3-8908-86F0F0BF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666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Een concrete retailpilot voor Oostende —</a:t>
            </a:r>
          </a:p>
          <a:p xmlns:a="http://schemas.openxmlformats.org/drawingml/2006/main">
            <a:pPr algn="l">
              <a:defRPr sz="2025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gebouwd met Talemate.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A3DAE5-BF3A-49AD-BB74-226F4204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409700"/>
            <a:ext cx="3009900" cy="300990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287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D56FEF-ABC5-4850-86AD-78FCBF8B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907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DONDERDAG WIL IK BESLISSEN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94C157-35BE-4A42-976A-1519A508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30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Pwayment</a:t>
            </a:r>
          </a:p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×</a:t>
            </a:r>
          </a:p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TALEMATE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DA872E-219D-4C6F-AB13-52022EC3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867150"/>
            <a:ext cx="2305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EA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EAF5FF"/>
                </a:solidFill>
                <a:latin typeface="Helvetica Neue"/>
                <a:ea typeface="Helvetica Neue"/>
                <a:cs typeface="Helvetica Neue"/>
              </a:rPr>
              <a:t>van retaildata naar</a:t>
            </a:r>
          </a:p>
          <a:p xmlns:a="http://schemas.openxmlformats.org/drawingml/2006/main">
            <a:pPr algn="l">
              <a:defRPr sz="1200">
                <a:solidFill>
                  <a:srgbClr val="EA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EAF5FF"/>
                </a:solidFill>
                <a:latin typeface="Helvetica Neue"/>
                <a:ea typeface="Helvetica Neue"/>
                <a:cs typeface="Helvetica Neue"/>
              </a:rPr>
              <a:t>actie in de fysieke winkel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E10B8E-9D88-4F78-9DD1-EE3B1097E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531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Investor / strategic partner discussion</a:t>
            </a:r>
          </a:p>
          <a:p xmlns:a="http://schemas.openxmlformats.org/drawingml/2006/main">
            <a:pPr algn="l">
              <a:defRPr sz="975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TALEMATE · Oostende · 06.08.2026</a:t>
            </a:r>
          </a:p>
        </p:txBody>
      </p:sp>
    </p:spTree>
    <p:extLst>
      <p:ext uri="{BB962C8B-B14F-4D97-AF65-F5344CB8AC3E}">
        <p14:creationId xmlns:p14="http://schemas.microsoft.com/office/powerpoint/2010/main" val="9486889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611AC4-E354-452A-8522-4A89FEDB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87EF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87EF0"/>
                </a:solidFill>
                <a:latin typeface="Helvetica Neue"/>
                <a:ea typeface="Helvetica Neue"/>
                <a:cs typeface="Helvetica Neue"/>
              </a:rPr>
              <a:t>01  /  UITGANGSPOSITIE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938721-4F97-4B72-B4EF-3E00C086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1085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De eerlijke startpositie maakt de kans groter.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9DDE96-1598-46CF-84AA-A47A49C4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PWAYMENT  /  TALEMATE RETAIL PILOT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5CC456-6E45-457C-AD68-708B06BF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7D2A6F-3874-4572-999B-2DD56C19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Pwayment is vandaag geen universeel AI-platform.</a:t>
            </a:r>
          </a:p>
          <a:p xmlns:a="http://schemas.openxmlformats.org/drawingml/2006/main">
            <a:pPr algn="l">
              <a:defRPr sz="195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Het is een werkende POS-basis met een duidelijke volgende laag.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C27988-9A7E-43EB-9AF7-5D7B5E97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860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2D27BF-0E82-4A0F-B7F6-ED7E372C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05150"/>
            <a:ext cx="487680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E56592-BF71-47A4-B862-1B387E36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909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87EF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87EF0"/>
                </a:solidFill>
                <a:latin typeface="Helvetica Neue"/>
                <a:ea typeface="Helvetica Neue"/>
                <a:cs typeface="Helvetica Neue"/>
              </a:rPr>
              <a:t>WAT ER VANDAAG LIGT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63D912-1853-4624-A9C3-950AE64D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90950"/>
            <a:ext cx="371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Offline-first POS</a:t>
            </a:r>
          </a:p>
          <a:p xmlns:a="http://schemas.openxmlformats.org/drawingml/2006/main">
            <a:pPr algn="l">
              <a:defRPr sz="22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voor Belgische retail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D869AE-3034-4053-8B9E-E7EC3B16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3924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Kassa · catalogus · voorraad · aankoopprijs</a:t>
            </a:r>
          </a:p>
          <a:p xmlns:a="http://schemas.openxmlformats.org/drawingml/2006/main">
            <a:pPr algn="l">
              <a:defRPr sz="1275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verkoopprijs · Belgische btw · klanten · rapporten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D5B7B2-CE65-4B72-B0CC-7019035F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5150"/>
            <a:ext cx="537210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287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BDAAF2-92E6-43A0-9883-134D0EA1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909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WAT WE SAMEN BEWIJZEN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03DCF6-95F6-45A9-9AFC-C1BFB954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90950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Retaildata wordt</a:t>
            </a:r>
          </a:p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bruikbare actie.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088D44-9105-48DD-A1F0-2F05DD97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4820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EA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EAF5FF"/>
                </a:solidFill>
                <a:latin typeface="Helvetica Neue"/>
                <a:ea typeface="Helvetica Neue"/>
                <a:cs typeface="Helvetica Neue"/>
              </a:rPr>
              <a:t>Niet méér schermen. Wel betere beslissingen</a:t>
            </a:r>
          </a:p>
          <a:p xmlns:a="http://schemas.openxmlformats.org/drawingml/2006/main">
            <a:pPr algn="l">
              <a:defRPr sz="1275">
                <a:solidFill>
                  <a:srgbClr val="EA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EAF5FF"/>
                </a:solidFill>
                <a:latin typeface="Helvetica Neue"/>
                <a:ea typeface="Helvetica Neue"/>
                <a:cs typeface="Helvetica Neue"/>
              </a:rPr>
              <a:t>over voorraad, marge en klantmomenten.</a:t>
            </a:r>
          </a:p>
        </p:txBody>
      </p:sp>
    </p:spTree>
    <p:extLst>
      <p:ext uri="{BB962C8B-B14F-4D97-AF65-F5344CB8AC3E}">
        <p14:creationId xmlns:p14="http://schemas.microsoft.com/office/powerpoint/2010/main" val="1577805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E7DBF4-8440-43D6-8608-D9C99A83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87EF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87EF0"/>
                </a:solidFill>
                <a:latin typeface="Helvetica Neue"/>
                <a:ea typeface="Helvetica Neue"/>
                <a:cs typeface="Helvetica Neue"/>
              </a:rPr>
              <a:t>02  /  BEWIJS VANDAAG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360DBE-3898-4F76-8E3E-6BFB3194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1085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Er staat al een bruikbare retailbasis.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8D83F5-B1E9-4B74-89CD-CC154AA4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PWAYMENT  /  TALEMATE RETAIL PILOT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871CDE-C2FB-4D00-8A23-93AD5FF6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E47827-D529-44E2-A6E5-8626D413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De eerste versie lost het transactionele stuk op. Dat is de ingang naar intelligence.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4E5F0C-61BA-454E-817C-065272C4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43150"/>
            <a:ext cx="247650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E8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24B278-675C-45A2-975C-A88F1A82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87EF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87EF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56B86A-D7E6-4082-8CA1-2202FB71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Verkopen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0C7418-F5B9-4120-85B1-663D0DB1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200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Barcode / SKU, winkelmand, kortingen, betaalmethodes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768BE9-96CA-47EA-B5EB-A5428203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247650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60CAA1-4386-40A8-9B66-CDABE05A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908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87EF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87EF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D10069-9E8C-4FA2-A5FC-6ED8CF10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051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Beheren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40278E-85EA-4477-8B99-67A599383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38550"/>
            <a:ext cx="200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Producten, categorieën, aankoopprijs, verkoopprijs, voorraad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0C757A-6C7F-4528-B837-107EE70CB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43150"/>
            <a:ext cx="247650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A6FCE0-FDAB-4FA6-8E05-0D8C664A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908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87EF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87EF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05E45C-11C6-4462-B15A-DEFD9ECA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051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Verantwoorden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79B59B-9925-4D88-A715-C191A04D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38550"/>
            <a:ext cx="200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Belgische btw, dagrapport, hash-keten, auditlog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905814-C71E-4166-B483-ED8DB327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43150"/>
            <a:ext cx="247650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6DF451-9AD4-4B58-8871-5173D0FC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5908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87EF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87EF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0C6CDE-86F8-43B7-91E5-6DD2851C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051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Relatie bouwen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5563CD-AF00-4E78-9BC5-3B0349B4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638550"/>
            <a:ext cx="200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Klantenkaart, winkelhistoriek, cadeaubonnen, rollen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A55DEF-808C-4FD4-BB92-65A96BD3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De ontbrekende stap: van “wat verkocht?” naar “wat moet de eigenaar nu doen?”</a:t>
            </a:r>
          </a:p>
        </p:txBody>
      </p:sp>
    </p:spTree>
    <p:extLst>
      <p:ext uri="{BB962C8B-B14F-4D97-AF65-F5344CB8AC3E}">
        <p14:creationId xmlns:p14="http://schemas.microsoft.com/office/powerpoint/2010/main" val="8119948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B7857B-4256-4ECD-8E27-5AB36597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87EF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87EF0"/>
                </a:solidFill>
                <a:latin typeface="Helvetica Neue"/>
                <a:ea typeface="Helvetica Neue"/>
                <a:cs typeface="Helvetica Neue"/>
              </a:rPr>
              <a:t>03  /  DE CONCRETE JOB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CBDA48-E23D-41B8-92F3-3D9717649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1085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728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De winkelier heeft geen dataprobleem. Hij heeft een beslisprobleem.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726B2B-C5C4-452F-AF05-6C023A7D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PWAYMENT  /  TALEMATE RETAIL PILOT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229D22-6D00-478A-94B5-A29B6F2D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697ADC-5D8F-425B-8089-F2B00E3E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76400"/>
            <a:ext cx="3943350" cy="325755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229F66-6191-4A46-9120-7EC75A23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85A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D85A5A"/>
                </a:solidFill>
                <a:latin typeface="Helvetica Neue"/>
                <a:ea typeface="Helvetica Neue"/>
                <a:cs typeface="Helvetica Neue"/>
              </a:rPr>
              <a:t>DE VRAAG ACHTER DE KASSA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574417-B602-4D20-8D33-67909957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“Ik zie wat er</a:t>
            </a:r>
          </a:p>
          <a:p xmlns:a="http://schemas.openxmlformats.org/drawingml/2006/main">
            <a:pPr algn="l">
              <a:defRPr sz="25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gebeurde.</a:t>
            </a:r>
          </a:p>
          <a:p xmlns:a="http://schemas.openxmlformats.org/drawingml/2006/main">
            <a:pPr algn="l">
              <a:defRPr sz="25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Maar waarom —</a:t>
            </a:r>
          </a:p>
          <a:p xmlns:a="http://schemas.openxmlformats.org/drawingml/2006/main">
            <a:pPr algn="l">
              <a:defRPr sz="25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en wat nu?”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D56CB2-ED14-4C72-A665-D896E3D5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534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Elke week opnieuw: marge, voorraad, timing, klant en medewerker beïnvloeden elkaar.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882A6E-E26C-4042-B85A-CD1DED9E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575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916CC9-9C51-49F9-9012-386D94CF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57550"/>
            <a:ext cx="38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F6E4D0-4A86-4B1C-9994-0D75D006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57550"/>
            <a:ext cx="38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C0C03C-5EF0-4D07-9E3F-7586310E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62200"/>
            <a:ext cx="21717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6CC8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61EDD6-4C8B-4914-98F9-877D597F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6479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Signaal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D17141-389C-4C11-899E-2E585F59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219450"/>
            <a:ext cx="1695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Verkoop, retour, voorraad, korting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2F95EA-A2F7-496C-9D2B-7283BFCA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62200"/>
            <a:ext cx="21717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E8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F7E69F-2639-41FC-B1EC-4F98F398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6479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Inzicht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82CBCC-0527-4BC2-8C53-5C035211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219450"/>
            <a:ext cx="1695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Oorzaak, prioriteit, kans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EEF7E0-857B-4B9E-B86E-272034AF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62200"/>
            <a:ext cx="21717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287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10635E-0505-455C-B399-7958B261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479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Actie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EC385D-9115-4635-B2A8-BEB6A3A9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219450"/>
            <a:ext cx="1695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EA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EAF5FF"/>
                </a:solidFill>
                <a:latin typeface="Helvetica Neue"/>
                <a:ea typeface="Helvetica Neue"/>
                <a:cs typeface="Helvetica Neue"/>
              </a:rPr>
              <a:t>Bestel, prijs aan, stop, contacteer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E8F27C-A252-47A0-AFF6-6FC31612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053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Dat is de wedge: de dagelijkse beslissing, niet het zoveelste dashboard.</a:t>
            </a:r>
          </a:p>
        </p:txBody>
      </p:sp>
    </p:spTree>
    <p:extLst>
      <p:ext uri="{BB962C8B-B14F-4D97-AF65-F5344CB8AC3E}">
        <p14:creationId xmlns:p14="http://schemas.microsoft.com/office/powerpoint/2010/main" val="8139765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7ABFEE-3EF2-4D90-9B57-5F492A08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87EF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87EF0"/>
                </a:solidFill>
                <a:latin typeface="Helvetica Neue"/>
                <a:ea typeface="Helvetica Neue"/>
                <a:cs typeface="Helvetica Neue"/>
              </a:rPr>
              <a:t>04  /  WAAROM TALEMATE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15B3D7-D680-40B8-8E81-FFCDD7E5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1085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Talemate maakt retaildata uitvoerbaar.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10389C-08B9-4512-BC96-2F11BF7E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PWAYMENT  /  TALEMATE RETAIL PILOT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5C1080-1578-427F-A35E-1C633866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E5ACAD-B866-42E9-B977-FCD181D7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865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Pwayment brengt de retailcontext. Talemate kan die context verbinden met de fysieke wereld.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7D8FC9-C12F-45B6-8A31-3F7AB702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333750"/>
            <a:ext cx="1028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5AFC6C-A2F2-4779-AC23-D2616D59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33750"/>
            <a:ext cx="1028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27DD9E-9DF3-4611-BFCA-F3992961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3048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DD7F33-9A6A-40E1-9A4F-60BFC7D8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87EF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87EF0"/>
                </a:solidFill>
                <a:latin typeface="Helvetica Neue"/>
                <a:ea typeface="Helvetica Neue"/>
                <a:cs typeface="Helvetica Neue"/>
              </a:rPr>
              <a:t>PWAYMENT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618C4F-45A1-4298-A0F8-F58EFC06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Retail events</a:t>
            </a:r>
          </a:p>
          <a:p xmlns:a="http://schemas.openxmlformats.org/drawingml/2006/main">
            <a:pPr algn="l">
              <a:defRPr sz="21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Metrics</a:t>
            </a:r>
          </a:p>
          <a:p xmlns:a="http://schemas.openxmlformats.org/drawingml/2006/main">
            <a:pPr algn="l">
              <a:defRPr sz="21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C6179F-72A1-4310-9BD7-603157E3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81250"/>
            <a:ext cx="3048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8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B68BE4-370E-4738-9698-C145209A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0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87EF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87EF0"/>
                </a:solidFill>
                <a:latin typeface="Helvetica Neue"/>
                <a:ea typeface="Helvetica Neue"/>
                <a:cs typeface="Helvetica Neue"/>
              </a:rPr>
              <a:t>DE CONNECTOR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7FA593-0576-494B-9940-229885DB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62300"/>
            <a:ext cx="228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API</a:t>
            </a:r>
          </a:p>
          <a:p xmlns:a="http://schemas.openxmlformats.org/drawingml/2006/main">
            <a:pPr algn="l">
              <a:defRPr sz="2025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No-code workflow</a:t>
            </a:r>
          </a:p>
          <a:p xmlns:a="http://schemas.openxmlformats.org/drawingml/2006/main">
            <a:pPr algn="l">
              <a:defRPr sz="2025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Cloud sync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707499-B2A4-447B-90D8-023B7174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81250"/>
            <a:ext cx="3048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287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20E66A-52B2-4143-95A6-6272B631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0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TALEMATE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5716BF-E425-49C4-A920-05741326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62300"/>
            <a:ext cx="228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Trigger</a:t>
            </a:r>
          </a:p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Workflow</a:t>
            </a:r>
          </a:p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Fysieke actie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12F3AB-8E7E-47CB-B9A9-6484813F7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0"/>
            <a:ext cx="112014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2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F500C2-3612-42E6-B5C0-06D11029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72100"/>
            <a:ext cx="1070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Voorbeeld: slow mover gedetecteerd  →  taak naar medewerker  →  actie in de winkel  →  resultaat terug naar Pwayment.</a:t>
            </a:r>
          </a:p>
        </p:txBody>
      </p:sp>
    </p:spTree>
    <p:extLst>
      <p:ext uri="{BB962C8B-B14F-4D97-AF65-F5344CB8AC3E}">
        <p14:creationId xmlns:p14="http://schemas.microsoft.com/office/powerpoint/2010/main" val="19880268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753F08-E0F7-4AC1-A20D-3F368C246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87EF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87EF0"/>
                </a:solidFill>
                <a:latin typeface="Helvetica Neue"/>
                <a:ea typeface="Helvetica Neue"/>
                <a:cs typeface="Helvetica Neue"/>
              </a:rPr>
              <a:t>05  /  HET VOORSTEL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A4607B-5C34-4015-85A7-8B33C79B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1085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Mijn voorstel: bewijs één retail-use-case in zes weken.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F70892-4FBB-49CD-9BB6-36A0E62C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PWAYMENT  /  TALEMATE RETAIL PILOT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E01FFB-CD24-4587-9B33-BF1DE282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A2C5A0-BDAC-40E6-A1CF-DA77B02D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Geen brede platformbelofte. Eén winkelprobleem, één connector, één meetbaar resultaat.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4C489C-A085-4EBC-A594-B207C92A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00300"/>
            <a:ext cx="34290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1CB79A-314E-46C9-A702-D44B6F507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C8EF"/>
          </a:solidFill>
          <a:ln xmlns:a="http://schemas.openxmlformats.org/drawingml/2006/main" w="0">
            <a:solidFill>
              <a:srgbClr val="6CC8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3E8F86-916B-4BAF-9596-18A0876F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09875"/>
            <a:ext cx="24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DD9000-1115-40D1-B38D-E48C75A76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8003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Week 1–2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068241-E8E5-4397-A42F-CCED633D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Kiezen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3D8AC5-DD6D-4643-B75D-4C6D84CC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Selecteer één Oostendse retailcase en definieer de succesmaatstaf.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26DBE6-357D-48AF-BD64-B5807325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400300"/>
            <a:ext cx="34290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2BEECE-DE2F-4B0C-BC4F-E6C10BE3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86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EF0"/>
          </a:solidFill>
          <a:ln xmlns:a="http://schemas.openxmlformats.org/drawingml/2006/main" w="0">
            <a:solidFill>
              <a:srgbClr val="287E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071F13-7E33-4A1B-BE48-F1894B9D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809875"/>
            <a:ext cx="24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F7E3F1-7DDD-41E5-8C79-BF630669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003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Week 3–4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098A54-2715-4FC1-AEEB-5E00A55C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909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Verbinden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1A544A-F2A7-4458-B7C3-BCDA5218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4335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Koppel Pwayment-events aan één Talemate-workflow.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A55272-CC1B-4266-96D6-DE88F828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00300"/>
            <a:ext cx="34290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F85805-A72B-4604-8DC7-C65A20D4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86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9B70"/>
          </a:solidFill>
          <a:ln xmlns:a="http://schemas.openxmlformats.org/drawingml/2006/main" w="0">
            <a:solidFill>
              <a:srgbClr val="2D9B7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FC7FEE-698F-441D-8315-6CF4ACAC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809875"/>
            <a:ext cx="24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4E8881-0637-423F-8665-5C3F7EA4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003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Week 5–6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FC5F4C-9E89-406E-9BBB-D6A3D176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909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Bewijzen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F9D620-A464-4D03-AF12-2A3ADE0B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4335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Test met echte winkelhandelingen en leg de impact vast.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7288C0-A2F2-45C6-B042-000D487A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102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Succes = een aantoonbaar betere beslissing, niet een mooiere demo.</a:t>
            </a:r>
          </a:p>
        </p:txBody>
      </p:sp>
    </p:spTree>
    <p:extLst>
      <p:ext uri="{BB962C8B-B14F-4D97-AF65-F5344CB8AC3E}">
        <p14:creationId xmlns:p14="http://schemas.microsoft.com/office/powerpoint/2010/main" val="14797215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3FCB11-2262-4356-8048-844A4BC0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87EF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87EF0"/>
                </a:solidFill>
                <a:latin typeface="Helvetica Neue"/>
                <a:ea typeface="Helvetica Neue"/>
                <a:cs typeface="Helvetica Neue"/>
              </a:rPr>
              <a:t>06  /  HET BEDRIJF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572B74-FB4D-4D08-9B61-00BC08F5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1085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De commerciële logica begint smal — en kan daarna verbreden.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076982-8FA6-4414-9DB5-A530993D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PWAYMENT  /  TALEMATE RETAIL PILOT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C2AEEA-9D89-4470-976B-BEC987E0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4DC7BC-8F39-401A-93D7-EC510728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669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87EF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87EF0"/>
                </a:solidFill>
                <a:latin typeface="Helvetica Neue"/>
                <a:ea typeface="Helvetica Neue"/>
                <a:cs typeface="Helvetica Neue"/>
              </a:rPr>
              <a:t>Wat we al weten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B33163-49DA-4E3D-A07A-95C1914B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66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87EF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87EF0"/>
                </a:solidFill>
                <a:latin typeface="Helvetica Neue"/>
                <a:ea typeface="Helvetica Neue"/>
                <a:cs typeface="Helvetica Neue"/>
              </a:rPr>
              <a:t>Wat we moeten bewijzen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35A20C-46CF-401F-ACD8-651439B8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2CC453-4C9C-46BD-BBB8-3A2AC5F3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431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Startpunt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599DD0-06DB-4B99-BA0B-D0CEB3BD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3431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Skateshops en gespecialiseerde retail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BC016E-403F-4A9A-B915-DD282FCA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431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Sterke product/voorraad-context; Pwayment is daar al op gericht.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9AD352-9424-4853-9F71-BD95D503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338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07315F-6419-48A7-9DDF-DF421F01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24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Product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D12A86-17F0-40FD-AAF8-E720E729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1242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POS-basis + intelligence-laag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69FBB2-BF82-48DA-8D86-1F935C25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242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Van transacties naar aanbevelingen en workflows.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26804B-8F34-4247-8538-4BA761E7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14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06696B-3CE1-4B51-9492-5A07E2D0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052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Verdienmodel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18ACE0-C8AB-4D2D-9143-D7475BC0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9052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Werkhypothese: software per winkel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44AD80-3A6E-4A17-8158-63C91598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052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Extra connector-/automation tier na bewezen waarde.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1B1EE4-92F0-4637-826D-4842E586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95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1024A3-066F-4F33-A1DD-244008C2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863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Uitbreiding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667B08-DB90-46C5-80B5-CA64D05A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6863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Andere gespecialiseerde winkels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8DAABD-0CB7-4192-9B0A-0F03D09A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863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De retailkern blijft; verticale regels en workflows veranderen.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A6F7D9-113C-4A49-9A72-5E91D3B8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67350"/>
            <a:ext cx="112014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FBC076-A2C7-485C-AC35-26325420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8165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Belangrijk: dit is een businessmodel-hypothese voor validatie, geen opgeblazen marktclaim.</a:t>
            </a:r>
          </a:p>
        </p:txBody>
      </p:sp>
    </p:spTree>
    <p:extLst>
      <p:ext uri="{BB962C8B-B14F-4D97-AF65-F5344CB8AC3E}">
        <p14:creationId xmlns:p14="http://schemas.microsoft.com/office/powerpoint/2010/main" val="20724517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9E998D-56CF-4C9F-8E1F-2A8ACAD2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87EF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87EF0"/>
                </a:solidFill>
                <a:latin typeface="Helvetica Neue"/>
                <a:ea typeface="Helvetica Neue"/>
                <a:cs typeface="Helvetica Neue"/>
              </a:rPr>
              <a:t>07  /  DE VRAAG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3170FE-F3F6-4FDF-A6FA-00A646AD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1085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Donderdag wil ik geen compliment. Ik wil een volgende stap.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21E8BD-D5AF-4AA8-AF2F-B05CF330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PWAYMENT  /  TALEMATE RETAIL PILOT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1F9083-25C9-4108-A519-D1E097DD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A412AB-3950-46DC-923D-CA418E91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Mijn concrete vraag aan Talemate en de stad Oostende: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7B573E-13D3-443E-A3BA-584FBA12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09800"/>
            <a:ext cx="112014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287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072C03-6739-4956-8CB0-E6FD2426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Geef ons de kans om één echte retail-use-case</a:t>
            </a:r>
          </a:p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samen te bewijzen.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624348-87F8-49F7-B7D9-7F48F27A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624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216"/>
          </a:solidFill>
          <a:ln xmlns:a="http://schemas.openxmlformats.org/drawingml/2006/main" w="0">
            <a:solidFill>
              <a:srgbClr val="10121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CEEB68-279F-4547-85F6-C61020FC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086225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25FFD0-944B-4B18-A1C9-F9B541BD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Talemate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F2F286-D969-479C-8DE3-8B442F04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00550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Een technische discovery rond één connector en workflow.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72D2BE-C42B-455F-82BA-660EE39D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624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F48CB9-94C9-4D29-A829-D45CC511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086225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0C08F1-7415-4659-B8CC-95879F999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000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Oostende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201C91-7514-4076-A96B-B829EA50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400550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Een realistische retailomgeving of pilotpartner om het probleem te testen.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E2CEF0-73EE-4A96-AE94-37306CB8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624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216"/>
          </a:solidFill>
          <a:ln xmlns:a="http://schemas.openxmlformats.org/drawingml/2006/main" w="0">
            <a:solidFill>
              <a:srgbClr val="10121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6A9633-6736-4B12-AC97-40CFF35C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086225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A0A2EF-0B07-4E7A-886C-E98910B8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Samen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FE8193-E8C0-408D-B6F3-AD92E506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00550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Een go/no-go-moment na de pilot voor verdere investering en schaal.</a:t>
            </a:r>
          </a:p>
        </p:txBody>
      </p:sp>
    </p:spTree>
    <p:extLst>
      <p:ext uri="{BB962C8B-B14F-4D97-AF65-F5344CB8AC3E}">
        <p14:creationId xmlns:p14="http://schemas.microsoft.com/office/powerpoint/2010/main" val="3409091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41EE4C-5541-461C-B6C4-2EBC1C21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87EF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87EF0"/>
                </a:solidFill>
                <a:latin typeface="Helvetica Neue"/>
                <a:ea typeface="Helvetica Neue"/>
                <a:cs typeface="Helvetica Neue"/>
              </a:rPr>
              <a:t>PWAYMENT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3DA37D-F457-4E47-8D1C-455DBB43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47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De winkel genereert</a:t>
            </a:r>
          </a:p>
          <a:p xmlns:a="http://schemas.openxmlformats.org/drawingml/2006/main">
            <a:pPr algn="l">
              <a:defRPr sz="37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elke dag signalen.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F62247-0D72-4F07-91E2-CD00894B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723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Pwayment maakt ze begrijpelijk.</a:t>
            </a:r>
          </a:p>
          <a:p xmlns:a="http://schemas.openxmlformats.org/drawingml/2006/main">
            <a:pPr algn="l">
              <a:defRPr sz="2025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Talemate helpt ze uitvoerbaar maken.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70710C-9331-4803-ACEC-3AB631B8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95450"/>
            <a:ext cx="3009900" cy="2343150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1012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C5BA2A-6019-4EAE-983E-9691D5C8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383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CC8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CC8EF"/>
                </a:solidFill>
                <a:latin typeface="Helvetica Neue"/>
                <a:ea typeface="Helvetica Neue"/>
                <a:cs typeface="Helvetica Neue"/>
              </a:rPr>
              <a:t>DE GEZAMENLIJKE KANS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580F27-55E8-4FE3-A600-9BB95A0B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52700"/>
            <a:ext cx="2286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Retaildata</a:t>
            </a:r>
          </a:p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→ actie</a:t>
            </a:r>
          </a:p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→ resultaat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DE9DA2-7755-42F0-A3FD-9321F544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Welke use-case bouwen we als eerste?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FB6E35-4097-447A-8FCD-A96690FE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531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Pwayment × Talemate · Oostende · 06.08.2026</a:t>
            </a:r>
          </a:p>
        </p:txBody>
      </p:sp>
    </p:spTree>
    <p:extLst>
      <p:ext uri="{BB962C8B-B14F-4D97-AF65-F5344CB8AC3E}">
        <p14:creationId xmlns:p14="http://schemas.microsoft.com/office/powerpoint/2010/main" val="10916237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2026-08-04T19:42:21.5440000Z</dcterms:created>
  <dcterms:modified xsi:type="dcterms:W3CDTF">2026-08-04T19:42:21.5440000Z</dcterms:modified>
</coreProperties>
</file>