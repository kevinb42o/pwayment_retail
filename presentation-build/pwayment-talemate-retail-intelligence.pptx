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1324e28e7f4aba" /><Relationship Type="http://schemas.openxmlformats.org/officeDocument/2006/relationships/extended-properties" Target="/docProps/app.xml" Id="Rb58128258abf4516" /><Relationship Type="http://schemas.openxmlformats.org/officeDocument/2006/relationships/officeDocument" Target="/ppt/presentation.xml" Id="Reddca42d10a24f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5df44c8a064187"/>
  </p:sldMasterIdLst>
  <p:notesMasterIdLst>
    <p:notesMasterId xmlns:r="http://schemas.openxmlformats.org/officeDocument/2006/relationships" r:id="R1b019d3628a24e6f"/>
  </p:notesMasterIdLst>
  <p:sldIdLst>
    <p:sldId xmlns:r="http://schemas.openxmlformats.org/officeDocument/2006/relationships" id="256" r:id="Rc54fb8c0f4ef47b3"/>
    <p:sldId xmlns:r="http://schemas.openxmlformats.org/officeDocument/2006/relationships" id="257" r:id="R6537a4d41a194b8c"/>
    <p:sldId xmlns:r="http://schemas.openxmlformats.org/officeDocument/2006/relationships" id="258" r:id="Rf34efd2c9e57484a"/>
    <p:sldId xmlns:r="http://schemas.openxmlformats.org/officeDocument/2006/relationships" id="259" r:id="R2e2272dbbe204593"/>
    <p:sldId xmlns:r="http://schemas.openxmlformats.org/officeDocument/2006/relationships" id="260" r:id="Rb0388f84b05548d6"/>
    <p:sldId xmlns:r="http://schemas.openxmlformats.org/officeDocument/2006/relationships" id="261" r:id="Re90d2fc2a2b1451c"/>
    <p:sldId xmlns:r="http://schemas.openxmlformats.org/officeDocument/2006/relationships" id="262" r:id="Rb7eeebb0661f4fc4"/>
    <p:sldId xmlns:r="http://schemas.openxmlformats.org/officeDocument/2006/relationships" id="263" r:id="Rf509732ca70b4c20"/>
    <p:sldId xmlns:r="http://schemas.openxmlformats.org/officeDocument/2006/relationships" id="264" r:id="R67d48a9271774e94"/>
    <p:sldId xmlns:r="http://schemas.openxmlformats.org/officeDocument/2006/relationships" id="265" r:id="R16b9daa1d0db42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03dc2ea8044bae" /><Relationship Type="http://schemas.openxmlformats.org/officeDocument/2006/relationships/slideMaster" Target="/ppt/slideMasters/slideMaster1.xml" Id="R8a5df44c8a064187" /><Relationship Type="http://schemas.openxmlformats.org/officeDocument/2006/relationships/notesMaster" Target="/ppt/notesMasters/notesMaster1.xml" Id="R1b019d3628a24e6f" /><Relationship Type="http://schemas.openxmlformats.org/officeDocument/2006/relationships/presProps" Target="/ppt/presProps.xml" Id="R3f7feac351fb44e5" /><Relationship Type="http://schemas.openxmlformats.org/officeDocument/2006/relationships/tableStyles" Target="/ppt/tableStyles.xml" Id="R0202d4bddaea4b52" /><Relationship Type="http://schemas.openxmlformats.org/officeDocument/2006/relationships/slide" Target="/ppt/slides/slide1.xml" Id="Rc54fb8c0f4ef47b3" /><Relationship Type="http://schemas.openxmlformats.org/officeDocument/2006/relationships/slide" Target="/ppt/slides/slide2.xml" Id="R6537a4d41a194b8c" /><Relationship Type="http://schemas.openxmlformats.org/officeDocument/2006/relationships/slide" Target="/ppt/slides/slide3.xml" Id="Rf34efd2c9e57484a" /><Relationship Type="http://schemas.openxmlformats.org/officeDocument/2006/relationships/slide" Target="/ppt/slides/slide4.xml" Id="R2e2272dbbe204593" /><Relationship Type="http://schemas.openxmlformats.org/officeDocument/2006/relationships/slide" Target="/ppt/slides/slide5.xml" Id="Rb0388f84b05548d6" /><Relationship Type="http://schemas.openxmlformats.org/officeDocument/2006/relationships/slide" Target="/ppt/slides/slide6.xml" Id="Re90d2fc2a2b1451c" /><Relationship Type="http://schemas.openxmlformats.org/officeDocument/2006/relationships/slide" Target="/ppt/slides/slide7.xml" Id="Rb7eeebb0661f4fc4" /><Relationship Type="http://schemas.openxmlformats.org/officeDocument/2006/relationships/slide" Target="/ppt/slides/slide8.xml" Id="Rf509732ca70b4c20" /><Relationship Type="http://schemas.openxmlformats.org/officeDocument/2006/relationships/slide" Target="/ppt/slides/slide9.xml" Id="R67d48a9271774e94" /><Relationship Type="http://schemas.openxmlformats.org/officeDocument/2006/relationships/slide" Target="/ppt/slides/slide10.xml" Id="R16b9daa1d0db42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99fa08c5af41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6b8262717d471e" /><Relationship Type="http://schemas.openxmlformats.org/officeDocument/2006/relationships/notesMaster" Target="/ppt/notesMasters/notesMaster1.xml" Id="R94d31bad369548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f26d5beeb842b3" /><Relationship Type="http://schemas.openxmlformats.org/officeDocument/2006/relationships/notesMaster" Target="/ppt/notesMasters/notesMaster1.xml" Id="R40f3989c7a5b4b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5685679b8a4e6f" /><Relationship Type="http://schemas.openxmlformats.org/officeDocument/2006/relationships/notesMaster" Target="/ppt/notesMasters/notesMaster1.xml" Id="R5be27ec4ec7347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640a17377f4fa8" /><Relationship Type="http://schemas.openxmlformats.org/officeDocument/2006/relationships/notesMaster" Target="/ppt/notesMasters/notesMaster1.xml" Id="R51506b2466bd44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77c8589ae44a2f" /><Relationship Type="http://schemas.openxmlformats.org/officeDocument/2006/relationships/notesMaster" Target="/ppt/notesMasters/notesMaster1.xml" Id="Rf87c5bc090eb46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70e562a5434782" /><Relationship Type="http://schemas.openxmlformats.org/officeDocument/2006/relationships/notesMaster" Target="/ppt/notesMasters/notesMaster1.xml" Id="R932d949172ae4a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7d4b926f8d443d" /><Relationship Type="http://schemas.openxmlformats.org/officeDocument/2006/relationships/notesMaster" Target="/ppt/notesMasters/notesMaster1.xml" Id="R93e2e2a6e78547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7db58c8d1e4f09" /><Relationship Type="http://schemas.openxmlformats.org/officeDocument/2006/relationships/notesMaster" Target="/ppt/notesMasters/notesMaster1.xml" Id="R124a9678a39f48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fc4ceb989e4543" /><Relationship Type="http://schemas.openxmlformats.org/officeDocument/2006/relationships/notesMaster" Target="/ppt/notesMasters/notesMaster1.xml" Id="Ra3c3d8715e084e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af7c578f4e4e64" /><Relationship Type="http://schemas.openxmlformats.org/officeDocument/2006/relationships/notesMaster" Target="/ppt/notesMasters/notesMaster1.xml" Id="R61b7f9c7bab742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Doel van de opening: Pwayment positioneren als meer dan een kassasysteem. De cijfers zijn illustratief demo-materiaal, geen klantresultaten.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Eigen analyse en producthypothese. Geen externe bron gebruikt.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Eigen productvisie. Geen externe bron gebruikt.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Illustratieve KPI’s en scenario, bedoeld om de toekomstige intelligence-laag tastbaar te maken.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Eigen productarchitectuur en conceptueel proces. Geen externe bron gebruikt.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Eigen productstrategie. De voorbeelden zijn illustratief en tonen waarom Pwayment horizontaal kan starten met verticale uitbreidingen.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 vergelijking is positionering, geen claim dat bestaande POS-systemen geen rapportage hebben.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TALEMATE platform one-pager: https://www.talemate.co/web/content/83385?unique=ff28d6f34da4da333f5fb15bacd61f7b7c1884a06</a:t>
            </a:r>
          </a:p>
          <a:p xmlns:a="http://schemas.openxmlformats.org/drawingml/2006/main">
            <a:r>
              <a:t>TALEMATE contact/product overview: https://www.talemate.co/contact</a:t>
            </a:r>
          </a:p>
          <a:p xmlns:a="http://schemas.openxmlformats.org/drawingml/2006/main">
            <a:r>
              <a:t>De strategische fit is een interpretatie op basis van deze publieke positionering.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is voorstel voor de meeting. Productiehardening staat bewust later; eerst moet de strategische productwaarde overtuigen.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Afsluiter: de gewenste volgende stap is een gezamenlijke discovery rond de eerste retail-use-case en technische connector.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2289ce21848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e7284d387545b5" /><Relationship Type="http://schemas.openxmlformats.org/officeDocument/2006/relationships/slideLayout" Target="/ppt/slideLayouts/slideLayout1.xml" Id="Rcbcbece088ab41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cbece088ab41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db6a57f1041a9" /><Relationship Type="http://schemas.openxmlformats.org/officeDocument/2006/relationships/notesSlide" Target="/ppt/notesSlides/notesSlide1.xml" Id="R167c47b10fe64f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b089ff4404c31" /><Relationship Type="http://schemas.openxmlformats.org/officeDocument/2006/relationships/notesSlide" Target="/ppt/notesSlides/notesSlide2.xml" Id="Rc80cfc2548cf4d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30ce32c7340a5" /><Relationship Type="http://schemas.openxmlformats.org/officeDocument/2006/relationships/notesSlide" Target="/ppt/notesSlides/notesSlide3.xml" Id="R1e0d188c02f149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e1cdb63874109" /><Relationship Type="http://schemas.openxmlformats.org/officeDocument/2006/relationships/notesSlide" Target="/ppt/notesSlides/notesSlide4.xml" Id="Rfed8ea2f29014e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69defc15d49ec" /><Relationship Type="http://schemas.openxmlformats.org/officeDocument/2006/relationships/notesSlide" Target="/ppt/notesSlides/notesSlide5.xml" Id="R4f3fbcebdcc04f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d011854334f55" /><Relationship Type="http://schemas.openxmlformats.org/officeDocument/2006/relationships/notesSlide" Target="/ppt/notesSlides/notesSlide6.xml" Id="R0ed84dc60b4646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877f380784271" /><Relationship Type="http://schemas.openxmlformats.org/officeDocument/2006/relationships/notesSlide" Target="/ppt/notesSlides/notesSlide7.xml" Id="R2d939f680e624b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6705ea2b64715" /><Relationship Type="http://schemas.openxmlformats.org/officeDocument/2006/relationships/notesSlide" Target="/ppt/notesSlides/notesSlide8.xml" Id="R83516c3aad0043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8395d6b3f436b" /><Relationship Type="http://schemas.openxmlformats.org/officeDocument/2006/relationships/notesSlide" Target="/ppt/notesSlides/notesSlide9.xml" Id="Re53cc2f436254d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0435b1f6349e0" /><Relationship Type="http://schemas.openxmlformats.org/officeDocument/2006/relationships/notesSlide" Target="/ppt/notesSlides/notesSlide10.xml" Id="R5c55fb51613645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847DF-4324-45F8-A964-AD3CB256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PWAYMENT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938F1-238F-403C-A22F-7AD9D27B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716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Retail intelligence</a:t>
            </a:r>
          </a:p>
          <a:p xmlns:a="http://schemas.openxmlformats.org/drawingml/2006/main">
            <a:pPr algn="l">
              <a:defRPr sz="4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starting at the till.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CE693-48BD-48A3-8D70-8192F97D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Een universeel retailplatform dat van transactiedata</a:t>
            </a:r>
          </a:p>
          <a:p xmlns:a="http://schemas.openxmlformats.org/drawingml/2006/main">
            <a:pPr algn="l">
              <a:defRPr sz="18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bruikbare bedrijfsbeslissingen maakt.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7B4B4-7736-4ABC-84EC-0405B12D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68C21-747F-4711-B326-17D4230E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19431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9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424DC-5B40-48C2-9606-7FB258DA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81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€ 42.860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B7553-21DD-4FB4-B223-163288D3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81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omzet deze maand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21D0E-9531-4FDF-A6F9-B898DBE8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19450"/>
            <a:ext cx="1476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F301A-97B6-478E-927F-0FB48B5F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90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65A5A"/>
                </a:solidFill>
                <a:latin typeface="Helvetica Neue"/>
                <a:ea typeface="Helvetica Neue"/>
                <a:cs typeface="Helvetica Neue"/>
              </a:rPr>
              <a:t>Marge daalt 2,4 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67ED4-4204-4BD3-955C-2DF66371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766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waarom?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C9230-DFD9-4477-8B0D-01117A0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Investor / strategic partner discussion</a:t>
            </a:r>
          </a:p>
          <a:p xmlns:a="http://schemas.openxmlformats.org/drawingml/2006/main">
            <a:pPr algn="l">
              <a:defRPr sz="9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TALEMATE · België · 06.08.2026</a:t>
            </a:r>
          </a:p>
        </p:txBody>
      </p:sp>
    </p:spTree>
    <p:extLst>
      <p:ext uri="{BB962C8B-B14F-4D97-AF65-F5344CB8AC3E}">
        <p14:creationId xmlns:p14="http://schemas.microsoft.com/office/powerpoint/2010/main" val="16382159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E725E-5994-4199-9BF7-8081196A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 KANS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647E4-A34A-49AE-B1D2-C6BAE840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De kassa registreert de waarheid — maar toont ze nog niet.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B0673-351C-42A0-B574-82FAC5F5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PWAYMENT  /  RETAIL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3648E-D4F2-4525-90E7-04080E05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D5488-0007-4767-8C58-BCD3EF39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676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126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Retailsoftware vertelt vandaag vooral wat er verkocht is.</a:t>
            </a:r>
          </a:p>
          <a:p xmlns:a="http://schemas.openxmlformats.org/drawingml/2006/main">
            <a:pPr algn="l">
              <a:defRPr sz="18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De eigenaar moet zelf uitzoeken waarom de resultaten veranderen.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C5A08-6D88-42F7-9182-8D3FC5B0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2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1ED9F-4390-4CB6-BB20-71D0D4C6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A5A"/>
          </a:solidFill>
          <a:ln xmlns:a="http://schemas.openxmlformats.org/drawingml/2006/main" w="0">
            <a:solidFill>
              <a:srgbClr val="D65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94095-84A6-464F-97AD-69E504DD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Omzet is niet hetzelfde als winst.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FB7E6-F773-4B6A-8833-341FFB40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3028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Kortingen, retouren en productmix kunnen de marge stilletjes uithollen.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589A0-29E9-4BA4-9FCC-799179AB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E7A0A-E481-4959-9C88-949F94E1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2895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Voorraad is vastgezet kapitaal.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12C2D-308D-45BE-A3F1-A981AA49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14700"/>
            <a:ext cx="3028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De eigenaar ziet vaak te laat welke producten al maanden niet bewegen.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F29B4-ADB9-42CE-BE6E-126DB7F3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96D1D-A500-4950-B36D-BB518720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Rapporten zijn geen acties.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84F40-936F-49B3-A5A2-05EB396B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14700"/>
            <a:ext cx="3028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78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Een grafiek zegt niet automatisch wat morgen besteld, geprijsd of gestopt moet worden.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3D41D-F10C-4987-BF37-D033516A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De volgende generatie retailsoftware moet niet méér data tonen.</a:t>
            </a:r>
          </a:p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Ze moet betere beslissingen uitlokken.</a:t>
            </a:r>
          </a:p>
        </p:txBody>
      </p:sp>
    </p:spTree>
    <p:extLst>
      <p:ext uri="{BB962C8B-B14F-4D97-AF65-F5344CB8AC3E}">
        <p14:creationId xmlns:p14="http://schemas.microsoft.com/office/powerpoint/2010/main" val="2109011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47DE8-C575-41C5-8387-32E01553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 PRODUCTBELOFTE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1F5F5-1BDC-403C-8A07-2D2003B0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Pwayment maakt van verkoopdata een dagelijks actieplan.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7854C-33F2-40F2-AC94-9B60CA51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PWAYMENT  /  RETAIL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CA778-CCBF-4790-96A6-40EB6709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98CA1-3EAE-4776-A4B3-315D9478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De eigenaar krijgt één helder antwoord op drie vragen: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A75A5-8A90-4740-8FF3-D9E9C8A0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3314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0E12F-0243-4D52-B156-62EF0B1A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00CCD-64AC-4B1D-BBE5-4C8C6F0C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Wat gebeurt 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FE07E-E2A2-448B-81AA-5DEF97C9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Omzet, marge, voorraad, klanten en medewerkers — per dag, maand, jaar en locatie.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E8F2C-B260-480E-A22C-BF0893DC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62200"/>
            <a:ext cx="3314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A288D-B0CC-4651-8D18-262698E6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79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E7760-13A2-4564-B14B-B39A9B43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Waarom gebeurt het?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2E569-9A35-4477-ACB7-5F2CF6F2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957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Pwayment verbindt productmix, kortingen, stockouts, rotatie en klantgedrag.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7DE86-7859-4FCE-BAF0-4E344BD4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3314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15339-7903-4D85-A875-2329934D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479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994CE-AC73-4B83-BBF7-C09FB58B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43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Wat moet ik doen?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E2C4F-DC19-4F8D-B7B2-58B4C61F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957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EA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EAF5FF"/>
                </a:solidFill>
                <a:latin typeface="Helvetica Neue"/>
                <a:ea typeface="Helvetica Neue"/>
                <a:cs typeface="Helvetica Neue"/>
              </a:rPr>
              <a:t>Bestel, prijs aan, stop, bundel, contacteer of plan — met reden en prioriteit.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1DB02-0A33-4B04-943B-FDEBD752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Niet alleen een dashboard. Een retailbeslissingslaag.</a:t>
            </a:r>
          </a:p>
        </p:txBody>
      </p:sp>
    </p:spTree>
    <p:extLst>
      <p:ext uri="{BB962C8B-B14F-4D97-AF65-F5344CB8AC3E}">
        <p14:creationId xmlns:p14="http://schemas.microsoft.com/office/powerpoint/2010/main" val="873785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95388E-DD95-4E1B-B200-F8C359D9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HET INSIGHT COCKPIT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54EB8-E34F-403F-AD42-83F52F9D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De eigenaar ziet maandelijks waar het geld zit.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475D9-2B04-48E8-AB2F-0EA55181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PWAYMENT  /  RETAIL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C2DA4-3147-4274-9F33-34CB1A82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C6F9F-C944-45AB-A31D-3CBD1A71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Illustratief maanddashboard · demo-data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EE42C-FB32-43BC-A5BC-9D1594C6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77779-4447-42E9-90AA-197D7C23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€ 42.860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41538-B562-4B59-964D-DA69447B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Omzet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D6B2C-8DBE-4769-AB7E-D4510287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9B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9B6F"/>
                </a:solidFill>
                <a:latin typeface="Helvetica Neue"/>
                <a:ea typeface="Helvetica Neue"/>
                <a:cs typeface="Helvetica Neue"/>
              </a:rPr>
              <a:t>+8,4% vs. vorige maand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07101-F9AD-4A98-9C16-9FCD7C8E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EF101-2B33-449B-BF1D-416279ED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193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34,8%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8D041-CEA5-466C-BC76-807E76E2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33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Brutomarge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C8249-DFE4-43DC-B157-656DB73D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575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5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5A5A"/>
                </a:solidFill>
                <a:latin typeface="Helvetica Neue"/>
                <a:ea typeface="Helvetica Neue"/>
                <a:cs typeface="Helvetica Neue"/>
              </a:rPr>
              <a:t>-2,4 pp vs. vorige maand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61621-938C-4B44-9449-80ADA188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097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7DF3C-8A05-48F1-8462-6C4EE450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193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€ 18.420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18A43-4958-41A8-84A5-19963579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Voorraadwaarde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E60974-639A-4B2A-B7CC-74E80B79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€ 6.120 &gt; 90 dagen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6008C-58D1-4292-A82E-475C97DE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097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12311-6A2D-41F2-B667-9A4874EA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1930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€ 38,20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CB0F4-E1BD-4AD6-9F1F-D8E231EB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336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Gemiddeld ticket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203E8-CC02-4750-A254-352A0CE1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9B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9B6F"/>
                </a:solidFill>
                <a:latin typeface="Helvetica Neue"/>
                <a:ea typeface="Helvetica Neue"/>
                <a:cs typeface="Helvetica Neue"/>
              </a:rPr>
              <a:t>+5,1% vs. vorige maand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B5F508-9E85-4A77-86E6-D8E8CE1C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Wat gebeurt er achter de KPI’s?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B12D53-BD32-4EB8-A314-8A04CA88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A5A"/>
          </a:solidFill>
          <a:ln xmlns:a="http://schemas.openxmlformats.org/drawingml/2006/main" w="0">
            <a:solidFill>
              <a:srgbClr val="D65A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27A2B-378F-4B41-9FB0-87B7B43A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Margeverlies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A7319C-5C8A-4B3E-801C-109B8FAC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312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Categorie “accessoires” verkoopt goed, maar met te hoge korting.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44CC6C-CB9B-494B-A351-E4328D69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51BF78-0497-4710-A763-BF0F6D0B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Voorraadkans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E112F4-7AE8-4C2D-A8CD-EBC1F00E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52950"/>
            <a:ext cx="312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42 SKU’s vertegenwoordigen 28% van het vastzittende kapitaal.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C161F1-DD4A-4B75-93D4-CB093EAC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6E8ABC-B328-4742-8DC0-3C755589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67200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Volgende actie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74D78F-2FF4-4375-A223-733376FC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52950"/>
            <a:ext cx="312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Stop nabestellen van 7 slow movers; herbekijk prijs of bundel.</a:t>
            </a:r>
          </a:p>
        </p:txBody>
      </p:sp>
    </p:spTree>
    <p:extLst>
      <p:ext uri="{BB962C8B-B14F-4D97-AF65-F5344CB8AC3E}">
        <p14:creationId xmlns:p14="http://schemas.microsoft.com/office/powerpoint/2010/main" val="751715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00B355-B45D-4AA1-92C2-370895B0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HOE HET WERKT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26880-B21F-430D-838E-83D4E8DD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De waarde zit in de stap van gebeurtenis naar beslissing.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3F5B6-59C8-4B11-81C6-A16B370D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PWAYMENT  /  RETAIL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B3048-A081-4693-921C-09B39D23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CC329-2F21-4FE3-9D1C-35951A5E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43D1C-3301-4E0C-9BF3-DFA57153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670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36F5E-DB35-481B-B3DA-91788F0A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Verzamelen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2192A-79B8-4707-9CB5-9307D8DC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Verkoop, retour, voorraad, klant, korting, medewerker, locatie.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4D038-C0E9-42B7-8B1C-6B80BCD3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186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03A99-4A01-4FB3-AC29-509BE780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D4F1B-84DC-43D8-868A-612362D3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670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10C94-B824-459D-95A5-536B87F8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29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Begrijpen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D30DB-6177-4439-ABDD-4EAC0E5A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290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Eén universeel retaildatamodel en consistente KPI’s.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F439D-D425-452F-B50E-912C230C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1300"/>
            <a:ext cx="186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00870-B0C5-4BA3-AAD1-7D661CB8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A2152-2ABB-4D2C-A530-C6247983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670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AEAD4-098C-4E91-9568-3F2F302D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29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Verklaren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71EA37-BD6E-4B80-B43E-2BE0A20F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290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Trends, afwijkingen, oorzaken en kansen worden zichtbaar.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0A261-704B-4E9C-B302-6130F0E2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186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056A5B-6BC7-4BC1-89F3-B1C03674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778C4-EF02-43C9-B788-F1590DC2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670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37BC2F-76C3-4A35-A5BD-C0DBD5F9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29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Activeren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5BD9B8-9BC4-4C6D-99A1-4CE46F30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290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Concrete acties met prioriteit, eigenaar en verwachte impact.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434D25-74EE-4F36-A070-29CC157C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95900"/>
            <a:ext cx="112014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158D1E-1913-428A-ADA6-F8A68655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Voorbeeld: “Omzet +8%, marge -2,4 pp”  →  “kortingen in categorie X veroorzaken 71% van de daling”  →  “promotie aanpassen”.</a:t>
            </a:r>
          </a:p>
        </p:txBody>
      </p:sp>
    </p:spTree>
    <p:extLst>
      <p:ext uri="{BB962C8B-B14F-4D97-AF65-F5344CB8AC3E}">
        <p14:creationId xmlns:p14="http://schemas.microsoft.com/office/powerpoint/2010/main" val="14010963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C4C035-38C4-463C-8D91-BE209EB3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1B970-093A-43E8-9AE7-2E468E16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Een universele retailkern — uitbreidbaar per winkeltype.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2A538-98A3-45D4-B5E4-18CB66B4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PWAYMENT  /  RETAIL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4A687-A567-41FA-8E7A-8E828667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AD764-9C5F-4579-8173-6CF79479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De kern verandert niet wanneer de winkel verandert.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F4FFA-C931-4125-B442-DEE0B1B2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476250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E146B-B36A-4446-8664-54E26975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UNIVERSELE KERN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89C69-5140-4589-87EA-62FE398E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Producten</a:t>
            </a:r>
          </a:p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Verkoop</a:t>
            </a:r>
          </a:p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Voorraad</a:t>
            </a:r>
          </a:p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Klanten</a:t>
            </a:r>
          </a:p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Betalingen</a:t>
            </a:r>
          </a:p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Medewerkers</a:t>
            </a:r>
          </a:p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Inzichten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68A46-E66D-4341-BF80-8C4C8EBC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5054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4718C-3393-41B4-BAE3-D1AE662F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FASHION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8CC95-8FF2-4EB0-BE04-709CE3D7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maten · collecties · seizoenen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DAC3A-F73D-4036-AF22-A256389C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55054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02EFB-1B21-4FD6-8350-C4500070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ELECTRONICA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9796C-7D36-4254-A658-B34C065A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serienummers · garantie · accessoires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AC9C2-EE30-4EA7-90AB-9FE57604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55054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8DC9F-4A67-41E2-B5B2-96397995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SPECIAALZAAK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1E929-239F-428C-8A61-79194AEE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advies · configuratie · service · community</a:t>
            </a:r>
          </a:p>
        </p:txBody>
      </p:sp>
    </p:spTree>
    <p:extLst>
      <p:ext uri="{BB962C8B-B14F-4D97-AF65-F5344CB8AC3E}">
        <p14:creationId xmlns:p14="http://schemas.microsoft.com/office/powerpoint/2010/main" val="14085305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82AC2-90A1-4169-AF0B-3BDA9F4C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 POSITIONERING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9091C-21FA-4BAA-9448-6223000B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Pwayment hoeft niet de grootste POS te zijn — alleen de slimste laag erbovenop.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ADAE4-0812-415D-9075-4DEE9431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PWAYMENT  /  RETAIL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2B6F5-C4E6-4BAE-A334-08D89F68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EDC55-F7F7-4A21-8C85-9FED74AB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65178-5266-4016-B840-A7C26ADA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TRADITIONELE POS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D8AC0-3A2F-4F70-91AE-AC89F728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Registreert</a:t>
            </a:r>
          </a:p>
          <a:p xmlns:a="http://schemas.openxmlformats.org/drawingml/2006/main">
            <a:pPr algn="l">
              <a:defRPr sz="22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wat er gebeurd 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A89A4-50A8-4E14-AF7F-0CF8A4BB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Sterk in transacties.</a:t>
            </a:r>
          </a:p>
          <a:p xmlns:a="http://schemas.openxmlformats.org/drawingml/2006/main">
            <a:pPr algn="l">
              <a:defRPr sz="135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Zwak in interpretatie en actie.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CBD47-DDA2-49E4-B642-EF3FCDAC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33550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ACAAA-E09F-4452-9678-D25AE89E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574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PWAYMENT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DCE32-9E0F-4207-951F-52B9E910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Begrijpt</a:t>
            </a:r>
          </a:p>
          <a:p xmlns:a="http://schemas.openxmlformats.org/drawingml/2006/main">
            <a:pPr algn="l">
              <a:defRPr sz="22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wat er gebeurt.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472DA-7C2F-4E0F-B9E3-162F457C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Verbindt verkoop, marge, stock en klantgedrag tot beslissingen.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428F7-6C11-4CF4-A1E2-2EEA78E0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33550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D98C9-B34D-4C63-8605-60C2D2D3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57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 VOLGENDE LAAG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821C7-A6C1-4157-A69D-F86497E6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Stuurt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wat er gebeurt.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33D51-3AE1-4AF0-B3AC-6552EF56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052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EA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EAF5FF"/>
                </a:solidFill>
                <a:latin typeface="Helvetica Neue"/>
                <a:ea typeface="Helvetica Neue"/>
                <a:cs typeface="Helvetica Neue"/>
              </a:rPr>
              <a:t>Aanbevelingen, automatisering en koppeling met de fysieke winkel.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44905-DBFD-48D3-BB1C-0614AD94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De kassa is het startpunt. De beslissingslaag is het product.</a:t>
            </a:r>
          </a:p>
        </p:txBody>
      </p:sp>
    </p:spTree>
    <p:extLst>
      <p:ext uri="{BB962C8B-B14F-4D97-AF65-F5344CB8AC3E}">
        <p14:creationId xmlns:p14="http://schemas.microsoft.com/office/powerpoint/2010/main" val="193340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34FF4-E1F8-477C-94D1-BF24811D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STRATEGISCHE 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A1ADE-7DA1-4853-9B8A-1F2088A6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3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TALEMATE kan Pwayment verbinden met de fysieke retailwereld.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5A832-EB3A-4F9E-B1B3-00C1025C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PWAYMENT  /  RETAIL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7BE50-BC60-4E13-9E27-818D9EB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B0831-F78B-4F3F-A0AD-5246DBC1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TALEMATE brengt een platformvisie rond open API’s, no-code, IoT, AI en robotics.</a:t>
            </a:r>
          </a:p>
          <a:p xmlns:a="http://schemas.openxmlformats.org/drawingml/2006/main">
            <a:pPr algn="l">
              <a:defRPr sz="172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Pwayment brengt de retaildata en de beslissingen die daaruit volgen.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E6859-D648-49F9-95ED-13CBA58A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6D0CF-8E3C-4482-820A-80DE3DF7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3624A-1BD2-4E45-B196-F2759A15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PWAYMENT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14D36-F790-47BA-96CF-51E479D9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209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25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Retail events</a:t>
            </a:r>
          </a:p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Metrics</a:t>
            </a:r>
          </a:p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35070-44A7-467B-8610-37692D01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49BC7-A81D-4863-BB73-95AFF290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OPEN CONNECTOR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A3EA9-218C-48B5-AD03-5BC3FA23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95700"/>
            <a:ext cx="228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21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  <a:p xmlns:a="http://schemas.openxmlformats.org/drawingml/2006/main">
            <a:pPr algn="l">
              <a:defRPr sz="19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No-code workflows</a:t>
            </a:r>
          </a:p>
          <a:p xmlns:a="http://schemas.openxmlformats.org/drawingml/2006/main">
            <a:pPr algn="l">
              <a:defRPr sz="19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Cloud sync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56D54-21B3-46E8-B814-1393BD79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9560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69795-BE7E-402C-97BC-DEB3D239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19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TALEMATE ECOSYSTEM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9818B-DE95-4F03-89B0-010BEF8A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95700"/>
            <a:ext cx="228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IoT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Displays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Kiosks · robots ·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546466-2FA6-47A1-8C08-98E05B44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95725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3BA16-C9F9-4A27-AE14-0663468E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95725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551A1-A068-4493-8D51-D9EDCA21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Niet: nog een losse kassatoepassing.</a:t>
            </a:r>
          </a:p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Wel: een retail use case voor een open automation platform.</a:t>
            </a:r>
          </a:p>
        </p:txBody>
      </p:sp>
    </p:spTree>
    <p:extLst>
      <p:ext uri="{BB962C8B-B14F-4D97-AF65-F5344CB8AC3E}">
        <p14:creationId xmlns:p14="http://schemas.microsoft.com/office/powerpoint/2010/main" val="7146334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7CB07-BE11-407A-A689-C182497C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82269-E3D6-43B2-903E-33712317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De investering bouwt eerst de intelligence-laag — productie volgt daarna.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D9446-333E-4AAA-ABEB-C98ECEA5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PWAYMENT  /  RETAIL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89A59-0061-4285-8D22-3C1A53A3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5233D-7354-468F-97D0-68D9BC2B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952FA-8601-404F-BD57-36C2BDA2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FE3E7-0121-4B11-A582-9D56AEB9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19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344A1-7305-498D-A544-67A6AB07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Bewijzen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51ABA-CBE0-4075-BD3A-3D569998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1562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  <a:p xmlns:a="http://schemas.openxmlformats.org/drawingml/2006/main">
            <a:pPr algn="ctr">
              <a:def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Metrics engine</a:t>
            </a:r>
          </a:p>
          <a:p xmlns:a="http://schemas.openxmlformats.org/drawingml/2006/main">
            <a:pPr algn="ctr">
              <a:def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Retail event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BA815-EAEA-44B2-B75D-CDF5BAD7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76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34A2D-75ED-4FCC-94C4-8399F6B7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19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7A642-1949-4FCA-BD16-D9BE31FA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909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Verbinden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0DE55-51F5-464C-84E6-7DB1C86B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67150"/>
            <a:ext cx="1562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API’s</a:t>
            </a:r>
          </a:p>
          <a:p xmlns:a="http://schemas.openxmlformats.org/drawingml/2006/main">
            <a:pPr algn="ctr">
              <a:def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Integraties</a:t>
            </a:r>
          </a:p>
          <a:p xmlns:a="http://schemas.openxmlformats.org/drawingml/2006/main">
            <a:pPr algn="ctr">
              <a:def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TALEMATE connector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B0BA6-6E5C-43B5-9A48-C89AFCCB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F"/>
          </a:solidFill>
          <a:ln xmlns:a="http://schemas.openxmlformats.org/drawingml/2006/main" w="0">
            <a:solidFill>
              <a:srgbClr val="2E9B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CC828-4285-429E-B9C5-236303B2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19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54C99-D70D-4E02-A056-74A903BB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909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Activeren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144AE-3451-4782-BA5A-3494D1EB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1562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Aanbevelingen</a:t>
            </a:r>
          </a:p>
          <a:p xmlns:a="http://schemas.openxmlformats.org/drawingml/2006/main">
            <a:pPr algn="ctr">
              <a:def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Automatisering</a:t>
            </a:r>
          </a:p>
          <a:p xmlns:a="http://schemas.openxmlformats.org/drawingml/2006/main">
            <a:pPr algn="ctr">
              <a:def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AI-assistent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C4880-C07D-4292-9F61-30CA5154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76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30AF0-1AF2-4F6C-AFC4-246BF988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19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28F5E-5F66-4DA5-A7EF-16EAEAB5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909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Schalen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404FD-5AAD-4225-8BEF-FE9A4AC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67150"/>
            <a:ext cx="1562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Multi-store</a:t>
            </a:r>
          </a:p>
          <a:p xmlns:a="http://schemas.openxmlformats.org/drawingml/2006/main">
            <a:pPr algn="ctr">
              <a:def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Partners</a:t>
            </a:r>
          </a:p>
          <a:p xmlns:a="http://schemas.openxmlformats.org/drawingml/2006/main">
            <a:pPr algn="ctr">
              <a:def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Retail ecosystem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C89F1-A3C4-4E60-B8F2-BE98D59E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11201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E1E0EC-4D32-48A4-90F7-AB6D8AE8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Donderdag tonen we een richting die technisch én commercieel kan schalen.</a:t>
            </a:r>
          </a:p>
        </p:txBody>
      </p:sp>
    </p:spTree>
    <p:extLst>
      <p:ext uri="{BB962C8B-B14F-4D97-AF65-F5344CB8AC3E}">
        <p14:creationId xmlns:p14="http://schemas.microsoft.com/office/powerpoint/2010/main" val="13625190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271B0-F454-4E86-8EF2-F2C44B7A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PWAYMENT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81083-EF42-4396-9B3E-8B5A28D6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De vraag is niet of retail</a:t>
            </a:r>
          </a:p>
          <a:p xmlns:a="http://schemas.openxmlformats.org/drawingml/2006/main">
            <a:pPr algn="l">
              <a:defRPr sz="40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digitaler wordt.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7216B-D41A-470D-A5C8-F0BFE814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De vraag is wie de data van de winkel</a:t>
            </a:r>
          </a:p>
          <a:p xmlns:a="http://schemas.openxmlformats.org/drawingml/2006/main">
            <a:pPr algn="l">
              <a:defRPr sz="195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omzet in betere beslissingen kan laten worden.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BA0F7-CA17-435E-8AB8-4613EB4B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8F149-68A8-451A-8915-C8882846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90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7F097-56A6-46D1-B9B6-755207A6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47950"/>
            <a:ext cx="209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Pwayment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TALEMATE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4FE51-9C42-4264-A99D-3BC16879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Een intelligent retailplatform</a:t>
            </a:r>
          </a:p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voor de winkel van morgen.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D88FD-AF3B-4659-96F7-12B3A2D9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16872"/>
                </a:solidFill>
                <a:latin typeface="Helvetica Neue"/>
                <a:ea typeface="Helvetica Neue"/>
                <a:cs typeface="Helvetica Neue"/>
              </a:rPr>
              <a:t>Discussie: welke retail-use-case bouwen we samen als eerste?</a:t>
            </a:r>
          </a:p>
        </p:txBody>
      </p:sp>
    </p:spTree>
    <p:extLst>
      <p:ext uri="{BB962C8B-B14F-4D97-AF65-F5344CB8AC3E}">
        <p14:creationId xmlns:p14="http://schemas.microsoft.com/office/powerpoint/2010/main" val="2125280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2026-08-04T17:50:59.3570000Z</dcterms:created>
  <dcterms:modified xsi:type="dcterms:W3CDTF">2026-08-04T17:50:59.3570000Z</dcterms:modified>
</coreProperties>
</file>