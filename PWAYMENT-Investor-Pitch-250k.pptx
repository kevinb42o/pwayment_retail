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53fa59bf644b09" /><Relationship Type="http://schemas.openxmlformats.org/officeDocument/2006/relationships/extended-properties" Target="/docProps/app.xml" Id="R8a56fe70d8c5430d" /><Relationship Type="http://schemas.openxmlformats.org/officeDocument/2006/relationships/officeDocument" Target="/ppt/presentation.xml" Id="R34de7217b1c64011" /></Relationships>
</file>

<file path=ppt/presentation.xml><?xml version="1.0" encoding="utf-8"?>
<p:presentation xmlns:p="http://schemas.openxmlformats.org/presentationml/2006/main">
  <p:sldMasterIdLst>
    <p:sldMasterId xmlns:r="http://schemas.openxmlformats.org/officeDocument/2006/relationships" id="2147483648" r:id="R0d87f5ac3f5a451c"/>
  </p:sldMasterIdLst>
  <p:notesMasterIdLst>
    <p:notesMasterId xmlns:r="http://schemas.openxmlformats.org/officeDocument/2006/relationships" r:id="R01c94d68b11e4832"/>
  </p:notesMasterIdLst>
  <p:sldIdLst>
    <p:sldId xmlns:r="http://schemas.openxmlformats.org/officeDocument/2006/relationships" id="256" r:id="Re7333b962c304d3a"/>
    <p:sldId xmlns:r="http://schemas.openxmlformats.org/officeDocument/2006/relationships" id="257" r:id="Rcd9c130c45af4b70"/>
    <p:sldId xmlns:r="http://schemas.openxmlformats.org/officeDocument/2006/relationships" id="258" r:id="R22fc68894d6c461a"/>
    <p:sldId xmlns:r="http://schemas.openxmlformats.org/officeDocument/2006/relationships" id="259" r:id="R52379e117aba4d33"/>
    <p:sldId xmlns:r="http://schemas.openxmlformats.org/officeDocument/2006/relationships" id="260" r:id="R03f2085694074f79"/>
    <p:sldId xmlns:r="http://schemas.openxmlformats.org/officeDocument/2006/relationships" id="261" r:id="Rd24c9a30db6547bc"/>
    <p:sldId xmlns:r="http://schemas.openxmlformats.org/officeDocument/2006/relationships" id="262" r:id="Ra3f4632a95a74dfb"/>
    <p:sldId xmlns:r="http://schemas.openxmlformats.org/officeDocument/2006/relationships" id="263" r:id="R2aa171feb1284b6b"/>
    <p:sldId xmlns:r="http://schemas.openxmlformats.org/officeDocument/2006/relationships" id="264" r:id="Rb4b9b15f0b9040e7"/>
    <p:sldId xmlns:r="http://schemas.openxmlformats.org/officeDocument/2006/relationships" id="265" r:id="R7235f31fbd8b4f15"/>
    <p:sldId xmlns:r="http://schemas.openxmlformats.org/officeDocument/2006/relationships" id="266" r:id="Re6c1342b2cd44c55"/>
    <p:sldId xmlns:r="http://schemas.openxmlformats.org/officeDocument/2006/relationships" id="267" r:id="R08ed5d88129a440c"/>
    <p:sldId xmlns:r="http://schemas.openxmlformats.org/officeDocument/2006/relationships" id="268" r:id="R82ba6159380645ab"/>
    <p:sldId xmlns:r="http://schemas.openxmlformats.org/officeDocument/2006/relationships" id="269" r:id="R4e54cd0ceb284948"/>
    <p:sldId xmlns:r="http://schemas.openxmlformats.org/officeDocument/2006/relationships" id="270" r:id="Rc5ac1bce8c484c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58b87a828d4359" /><Relationship Type="http://schemas.openxmlformats.org/officeDocument/2006/relationships/slideMaster" Target="/ppt/slideMasters/slideMaster1.xml" Id="R0d87f5ac3f5a451c" /><Relationship Type="http://schemas.openxmlformats.org/officeDocument/2006/relationships/notesMaster" Target="/ppt/notesMasters/notesMaster1.xml" Id="R01c94d68b11e4832" /><Relationship Type="http://schemas.openxmlformats.org/officeDocument/2006/relationships/presProps" Target="/ppt/presProps.xml" Id="Rf1cc4c34408f40f7" /><Relationship Type="http://schemas.openxmlformats.org/officeDocument/2006/relationships/tableStyles" Target="/ppt/tableStyles.xml" Id="R0e171eda225d42b9" /><Relationship Type="http://schemas.openxmlformats.org/officeDocument/2006/relationships/slide" Target="/ppt/slides/slide1.xml" Id="Re7333b962c304d3a" /><Relationship Type="http://schemas.openxmlformats.org/officeDocument/2006/relationships/slide" Target="/ppt/slides/slide2.xml" Id="Rcd9c130c45af4b70" /><Relationship Type="http://schemas.openxmlformats.org/officeDocument/2006/relationships/slide" Target="/ppt/slides/slide3.xml" Id="R22fc68894d6c461a" /><Relationship Type="http://schemas.openxmlformats.org/officeDocument/2006/relationships/slide" Target="/ppt/slides/slide4.xml" Id="R52379e117aba4d33" /><Relationship Type="http://schemas.openxmlformats.org/officeDocument/2006/relationships/slide" Target="/ppt/slides/slide5.xml" Id="R03f2085694074f79" /><Relationship Type="http://schemas.openxmlformats.org/officeDocument/2006/relationships/slide" Target="/ppt/slides/slide6.xml" Id="Rd24c9a30db6547bc" /><Relationship Type="http://schemas.openxmlformats.org/officeDocument/2006/relationships/slide" Target="/ppt/slides/slide7.xml" Id="Ra3f4632a95a74dfb" /><Relationship Type="http://schemas.openxmlformats.org/officeDocument/2006/relationships/slide" Target="/ppt/slides/slide8.xml" Id="R2aa171feb1284b6b" /><Relationship Type="http://schemas.openxmlformats.org/officeDocument/2006/relationships/slide" Target="/ppt/slides/slide9.xml" Id="Rb4b9b15f0b9040e7" /><Relationship Type="http://schemas.openxmlformats.org/officeDocument/2006/relationships/slide" Target="/ppt/slides/slide10.xml" Id="R7235f31fbd8b4f15" /><Relationship Type="http://schemas.openxmlformats.org/officeDocument/2006/relationships/slide" Target="/ppt/slides/slide11.xml" Id="Re6c1342b2cd44c55" /><Relationship Type="http://schemas.openxmlformats.org/officeDocument/2006/relationships/slide" Target="/ppt/slides/slide12.xml" Id="R08ed5d88129a440c" /><Relationship Type="http://schemas.openxmlformats.org/officeDocument/2006/relationships/slide" Target="/ppt/slides/slide13.xml" Id="R82ba6159380645ab" /><Relationship Type="http://schemas.openxmlformats.org/officeDocument/2006/relationships/slide" Target="/ppt/slides/slide14.xml" Id="R4e54cd0ceb284948" /><Relationship Type="http://schemas.openxmlformats.org/officeDocument/2006/relationships/slide" Target="/ppt/slides/slide15.xml" Id="Rc5ac1bce8c484c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dd6f055a0f4f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3e2cb081624b22" /><Relationship Type="http://schemas.openxmlformats.org/officeDocument/2006/relationships/notesMaster" Target="/ppt/notesMasters/notesMaster1.xml" Id="Rf90fd7b2d8fb46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0c0bad74f54541" /><Relationship Type="http://schemas.openxmlformats.org/officeDocument/2006/relationships/notesMaster" Target="/ppt/notesMasters/notesMaster1.xml" Id="Rbc9a62c79f834b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3c4714414843fe" /><Relationship Type="http://schemas.openxmlformats.org/officeDocument/2006/relationships/notesMaster" Target="/ppt/notesMasters/notesMaster1.xml" Id="Rdae04c996d574a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e2880967044eec" /><Relationship Type="http://schemas.openxmlformats.org/officeDocument/2006/relationships/notesMaster" Target="/ppt/notesMasters/notesMaster1.xml" Id="R37504f125e9b4b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20532416ad4463" /><Relationship Type="http://schemas.openxmlformats.org/officeDocument/2006/relationships/notesMaster" Target="/ppt/notesMasters/notesMaster1.xml" Id="Rb51b3a7e3a0449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696a581d2b4335" /><Relationship Type="http://schemas.openxmlformats.org/officeDocument/2006/relationships/notesMaster" Target="/ppt/notesMasters/notesMaster1.xml" Id="Ra7d8f1d48e3d40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7262c30fe640a0" /><Relationship Type="http://schemas.openxmlformats.org/officeDocument/2006/relationships/notesMaster" Target="/ppt/notesMasters/notesMaster1.xml" Id="R6406bde8426b48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e787aed90a401e" /><Relationship Type="http://schemas.openxmlformats.org/officeDocument/2006/relationships/notesMaster" Target="/ppt/notesMasters/notesMaster1.xml" Id="Re31be950f24d42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dc4e2ff1f74ad6" /><Relationship Type="http://schemas.openxmlformats.org/officeDocument/2006/relationships/notesMaster" Target="/ppt/notesMasters/notesMaster1.xml" Id="R427e80cb33ac43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4002158c6d470c" /><Relationship Type="http://schemas.openxmlformats.org/officeDocument/2006/relationships/notesMaster" Target="/ppt/notesMasters/notesMaster1.xml" Id="R5736ad6b09ee41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62184062754253" /><Relationship Type="http://schemas.openxmlformats.org/officeDocument/2006/relationships/notesMaster" Target="/ppt/notesMasters/notesMaster1.xml" Id="Re53cc38e806541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467eaed626480a" /><Relationship Type="http://schemas.openxmlformats.org/officeDocument/2006/relationships/notesMaster" Target="/ppt/notesMasters/notesMaster1.xml" Id="R93d3b719edf146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0a5e8ae65f4f4a" /><Relationship Type="http://schemas.openxmlformats.org/officeDocument/2006/relationships/notesMaster" Target="/ppt/notesMasters/notesMaster1.xml" Id="R06295e933a4345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ae8a7a9a16452a" /><Relationship Type="http://schemas.openxmlformats.org/officeDocument/2006/relationships/notesMaster" Target="/ppt/notesMasters/notesMaster1.xml" Id="Rea662f3dc05741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85a9f674f146b3" /><Relationship Type="http://schemas.openxmlformats.org/officeDocument/2006/relationships/notesMaster" Target="/ppt/notesMasters/notesMaster1.xml" Id="R4952cab683634c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direct: “Ik vraag vandaag €250.000 om een gebouwd product om te zetten in een herhaalbaar retailbedrijf. Niet om nog achttien maanden features te bouwen.” Benoem de eindmijlpaal en ga dan naar het probleem.</a:t>
            </a:r>
          </a:p>
          <a:p xmlns:a="http://schemas.openxmlformats.org/drawingml/2006/main">
            <a:r>
              <a:t/>
            </a:r>
          </a:p>
          <a:p xmlns:a="http://schemas.openxmlformats.org/drawingml/2006/main">
            <a:r>
              <a:t>[Sources]</a:t>
            </a:r>
          </a:p>
          <a:p xmlns:a="http://schemas.openxmlformats.org/drawingml/2006/main">
            <a:r>
              <a:t>/Users/kevin/PROJECTS/pwayment RETAIL/public/website/pwayment-pos-current.jpg</a:t>
            </a:r>
          </a:p>
          <a:p xmlns:a="http://schemas.openxmlformats.org/drawingml/2006/main">
            <a:r>
              <a:t>/Users/kevin/PROJECTS/pwayment RETAIL/README.md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Maak dit herkenbaar met één winkelverhaal uit je eigen ervaring. Vermijd een lange lijst concurrenten; de kern is operationele versnippering en het beslisprobleem.</a:t>
            </a:r>
          </a:p>
          <a:p xmlns:a="http://schemas.openxmlformats.org/drawingml/2006/main">
            <a:r>
              <a:t/>
            </a:r>
          </a:p>
          <a:p xmlns:a="http://schemas.openxmlformats.org/drawingml/2006/main">
            <a:r>
              <a:t>[Sources]</a:t>
            </a:r>
          </a:p>
          <a:p xmlns:a="http://schemas.openxmlformats.org/drawingml/2006/main">
            <a:r>
              <a:t>Management assumptions and internal PWAYMENT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Laat zien dat dit geen mock-up is. De wedge is niet “meer functies”; het is één datalaag die de eigenaar van registratie naar actie brengt. Geef hier maximaal 45 seconden productcontext.</a:t>
            </a:r>
          </a:p>
          <a:p xmlns:a="http://schemas.openxmlformats.org/drawingml/2006/main">
            <a:r>
              <a:t/>
            </a:r>
          </a:p>
          <a:p xmlns:a="http://schemas.openxmlformats.org/drawingml/2006/main">
            <a:r>
              <a:t>[Sources]</a:t>
            </a:r>
          </a:p>
          <a:p xmlns:a="http://schemas.openxmlformats.org/drawingml/2006/main">
            <a:r>
              <a:t>/Users/kevin/PROJECTS/pwayment RETAIL/public/website/pwayment-insights-current.jpg</a:t>
            </a:r>
          </a:p>
          <a:p xmlns:a="http://schemas.openxmlformats.org/drawingml/2006/main">
            <a:r>
              <a:t>/Users/kevin/PROJECTS/pwayment RETAIL/README.md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Deze slide bouwt vertrouwen op door bewijs en beperking samen te tonen. Zeg letterlijk dat paid traction nog bewezen moet worden; precies daarom is dit een pre-seed-ronde.</a:t>
            </a:r>
          </a:p>
          <a:p xmlns:a="http://schemas.openxmlformats.org/drawingml/2006/main">
            <a:r>
              <a:t/>
            </a:r>
          </a:p>
          <a:p xmlns:a="http://schemas.openxmlformats.org/drawingml/2006/main">
            <a:r>
              <a:t>[Sources]</a:t>
            </a:r>
          </a:p>
          <a:p xmlns:a="http://schemas.openxmlformats.org/drawingml/2006/main">
            <a:r>
              <a:t>/Users/kevin/PROJECTS/pwayment RETAIL/README.md</a:t>
            </a:r>
          </a:p>
          <a:p xmlns:a="http://schemas.openxmlformats.org/drawingml/2006/main">
            <a:r>
              <a:t>/Users/kevin/PROJECTS/pwayment RETAIL/FEATURE-AUDIT-2026-08-22.md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 uit dat Basis de drempel verlaagt, maar dat onboarding en activatie sturen naar Professional. De €90 blended ARPA is een modelaannname op basis van de huidige prijsstructuur en add-ons.</a:t>
            </a:r>
          </a:p>
          <a:p xmlns:a="http://schemas.openxmlformats.org/drawingml/2006/main">
            <a:r>
              <a:t/>
            </a:r>
          </a:p>
          <a:p xmlns:a="http://schemas.openxmlformats.org/drawingml/2006/main">
            <a:r>
              <a:t>[Sources]</a:t>
            </a:r>
          </a:p>
          <a:p xmlns:a="http://schemas.openxmlformats.org/drawingml/2006/main">
            <a:r>
              <a:t>/Users/kevin/PROJECTS/pwayment RETAIL/src/billing/planCatalog.ts</a:t>
            </a:r>
          </a:p>
          <a:p xmlns:a="http://schemas.openxmlformats.org/drawingml/2006/main">
            <a:r>
              <a:t>/Users/kevin/PROJECTS/pwayment RETAIL/docs/BILLING-ENTITLEMENTS-AND-PRICING-MASTER-PLAN.md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Gebruik TAM alleen als context. De investeerbare logica zit in de bottom-up SOM: een scherpe niche, een herhaalbaar onboardingmodel en 1.000 locaties op langere termijn. Zeg expliciet dat 20.000 een managementaannname is.</a:t>
            </a:r>
          </a:p>
          <a:p xmlns:a="http://schemas.openxmlformats.org/drawingml/2006/main">
            <a:r>
              <a:t/>
            </a:r>
          </a:p>
          <a:p xmlns:a="http://schemas.openxmlformats.org/drawingml/2006/main">
            <a:r>
              <a:t>[Sources]</a:t>
            </a:r>
          </a:p>
          <a:p xmlns:a="http://schemas.openxmlformats.org/drawingml/2006/main">
            <a:r>
              <a:t>https://statbel.fgov.be/en/news/114196-enterprises-created-2023</a:t>
            </a:r>
          </a:p>
          <a:p xmlns:a="http://schemas.openxmlformats.org/drawingml/2006/main">
            <a:r>
              <a:t>https://statbel.fgov.be/nl/themas/ondernemingen/structurele-ondernemingsstatistieken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Vertel hoe jij persoonlijk de eerste tien winkels binnenhaalt. De investeerder moet geloven dat je niet meteen een duur salesteam bouwt. Partners komen pas nadat de onboarding en propositie aantoonbaar werken.</a:t>
            </a:r>
          </a:p>
          <a:p xmlns:a="http://schemas.openxmlformats.org/drawingml/2006/main">
            <a:r>
              <a:t/>
            </a:r>
          </a:p>
          <a:p xmlns:a="http://schemas.openxmlformats.org/drawingml/2006/main">
            <a:r>
              <a:t>[Sources]</a:t>
            </a:r>
          </a:p>
          <a:p xmlns:a="http://schemas.openxmlformats.org/drawingml/2006/main">
            <a:r>
              <a:t>Management assumptions and internal PWAYMENT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Vergelijk categorieën, geen merknamen. Dit voorkomt een oppervlakkige featurestrijd. Benadruk dat de moat groeit met implementatiekennis en workflows, niet alleen met code.</a:t>
            </a:r>
          </a:p>
          <a:p xmlns:a="http://schemas.openxmlformats.org/drawingml/2006/main">
            <a:r>
              <a:t/>
            </a:r>
          </a:p>
          <a:p xmlns:a="http://schemas.openxmlformats.org/drawingml/2006/main">
            <a:r>
              <a:t>[Sources]</a:t>
            </a:r>
          </a:p>
          <a:p xmlns:a="http://schemas.openxmlformats.org/drawingml/2006/main">
            <a:r>
              <a:t>Management assumptions and internal PWAYMENT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Dit is het antwoord op “waar gaat het geld naartoe?”. Benadruk dat je geen volledig team van vijf mensen belooft voor €250k. De ronde financiert een lean kern, externe expertise en commerciële validatie.</a:t>
            </a:r>
          </a:p>
          <a:p xmlns:a="http://schemas.openxmlformats.org/drawingml/2006/main">
            <a:r>
              <a:t/>
            </a:r>
          </a:p>
          <a:p xmlns:a="http://schemas.openxmlformats.org/drawingml/2006/main">
            <a:r>
              <a:t>[Sources]</a:t>
            </a:r>
          </a:p>
          <a:p xmlns:a="http://schemas.openxmlformats.org/drawingml/2006/main">
            <a:r>
              <a:t>Management assumptions and internal PWAYMENT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de gates als discipline: als activatie of CAC niet werkt, wordt het budget herschikt voordat je opschaalt. Vraag de investeerder welke rapportering hij maandelijks wil zien.</a:t>
            </a:r>
          </a:p>
          <a:p xmlns:a="http://schemas.openxmlformats.org/drawingml/2006/main">
            <a:r>
              <a:t/>
            </a:r>
          </a:p>
          <a:p xmlns:a="http://schemas.openxmlformats.org/drawingml/2006/main">
            <a:r>
              <a:t>[Sources]</a:t>
            </a:r>
          </a:p>
          <a:p xmlns:a="http://schemas.openxmlformats.org/drawingml/2006/main">
            <a:r>
              <a:t>Management assumptions and internal PWAYMENT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Zeg helder: deze ronde is niet ontworpen om gegarandeerd break-even te bereiken. Ze koopt bewijs dat 100 betalende locaties en gezonde unit economics haalbaar zijn. Toon ook dat je maand 15 als financieringsbeslissing plant, niet als verrassing.</a:t>
            </a:r>
          </a:p>
          <a:p xmlns:a="http://schemas.openxmlformats.org/drawingml/2006/main">
            <a:r>
              <a:t/>
            </a:r>
          </a:p>
          <a:p xmlns:a="http://schemas.openxmlformats.org/drawingml/2006/main">
            <a:r>
              <a:t>[Sources]</a:t>
            </a:r>
          </a:p>
          <a:p xmlns:a="http://schemas.openxmlformats.org/drawingml/2006/main">
            <a:r>
              <a:t>/Users/kevin/PROJECTS/pwayment RETAIL/src/billing/planCatalog.ts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Dit is de return-logica zonder exitfantasieën. De waardecreatie komt uit het verwijderen van product-, distributie- en unit-economicsrisico. Vermijd garanties over waardering of rendement.</a:t>
            </a:r>
          </a:p>
          <a:p xmlns:a="http://schemas.openxmlformats.org/drawingml/2006/main">
            <a:r>
              <a:t/>
            </a:r>
          </a:p>
          <a:p xmlns:a="http://schemas.openxmlformats.org/drawingml/2006/main">
            <a:r>
              <a:t>[Sources]</a:t>
            </a:r>
          </a:p>
          <a:p xmlns:a="http://schemas.openxmlformats.org/drawingml/2006/main">
            <a:r>
              <a:t>Management assumptions and internal PWAYMENT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Een goede investeerder zal risico’s testen. Neem ze zelf op tafel en koppel elk risico aan een leading indicator. Dat toont dat je bestuurt op bewijs.</a:t>
            </a:r>
          </a:p>
          <a:p xmlns:a="http://schemas.openxmlformats.org/drawingml/2006/main">
            <a:r>
              <a:t/>
            </a:r>
          </a:p>
          <a:p xmlns:a="http://schemas.openxmlformats.org/drawingml/2006/main">
            <a:r>
              <a:t>[Sources]</a:t>
            </a:r>
          </a:p>
          <a:p xmlns:a="http://schemas.openxmlformats.org/drawingml/2006/main">
            <a:r>
              <a:t>Management assumptions and internal PWAYMENT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Sluit met stilte na de vraag. Zeg: “Als de richting klopt, stel ik voor dat we vandaag het due-diligencepad en de eigenaar van de term sheet vastleggen.” De 15% is een openingsvoorstel; geef geen ondergrens in de kamer zonder eerst voorwaarden en strategische waarde te begrijpen.</a:t>
            </a:r>
          </a:p>
          <a:p xmlns:a="http://schemas.openxmlformats.org/drawingml/2006/main">
            <a:r>
              <a:t/>
            </a:r>
          </a:p>
          <a:p xmlns:a="http://schemas.openxmlformats.org/drawingml/2006/main">
            <a:r>
              <a:t>[Sources]</a:t>
            </a:r>
          </a:p>
          <a:p xmlns:a="http://schemas.openxmlformats.org/drawingml/2006/main">
            <a:r>
              <a:t>Management assumptions and internal PWAYMENT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Gebruik deze slide alleen bij vragen over het model. Nodig de investeerder uit om drie aannames samen te testen: conversie, ARPA en CAC. Dat maakt het gesprek concreet.</a:t>
            </a:r>
          </a:p>
          <a:p xmlns:a="http://schemas.openxmlformats.org/drawingml/2006/main">
            <a:r>
              <a:t/>
            </a:r>
          </a:p>
          <a:p xmlns:a="http://schemas.openxmlformats.org/drawingml/2006/main">
            <a:r>
              <a:t>[Sources]</a:t>
            </a:r>
          </a:p>
          <a:p xmlns:a="http://schemas.openxmlformats.org/drawingml/2006/main">
            <a:r>
              <a:t>/Users/kevin/PROJECTS/pwayment RETAIL/src/billing/planCatalog.ts</a:t>
            </a:r>
          </a:p>
          <a:p xmlns:a="http://schemas.openxmlformats.org/drawingml/2006/main">
            <a:r>
              <a:t>https://statbel.fgov.be/en/news/114196-enterprises-created-2023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3cefd1e4aa4f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908aa237cc40dd" /><Relationship Type="http://schemas.openxmlformats.org/officeDocument/2006/relationships/slideLayout" Target="/ppt/slideLayouts/slideLayout1.xml" Id="Rc54c963b089645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4c963b089645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eb0742ede64f69" /><Relationship Type="http://schemas.openxmlformats.org/officeDocument/2006/relationships/image" Target="/ppt/media/image.jpeg" Id="R314869d32b6f4818" /><Relationship Type="http://schemas.openxmlformats.org/officeDocument/2006/relationships/notesSlide" Target="/ppt/notesSlides/notesSlide1.xml" Id="Ref437040bc0b42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cf06dbbce740c2" /><Relationship Type="http://schemas.openxmlformats.org/officeDocument/2006/relationships/notesSlide" Target="/ppt/notesSlides/notesSlide2.xml" Id="R4e7c300f55e44b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413baf62524772" /><Relationship Type="http://schemas.openxmlformats.org/officeDocument/2006/relationships/image" Target="/ppt/media/image2.jpeg" Id="R56e6e35368c24e18" /><Relationship Type="http://schemas.openxmlformats.org/officeDocument/2006/relationships/notesSlide" Target="/ppt/notesSlides/notesSlide3.xml" Id="R36218efb60f946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cf896384184caf" /><Relationship Type="http://schemas.openxmlformats.org/officeDocument/2006/relationships/notesSlide" Target="/ppt/notesSlides/notesSlide4.xml" Id="R282f2922797345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0155b138034ef1" /><Relationship Type="http://schemas.openxmlformats.org/officeDocument/2006/relationships/notesSlide" Target="/ppt/notesSlides/notesSlide5.xml" Id="R97e62195d5134a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33205104414645" /><Relationship Type="http://schemas.openxmlformats.org/officeDocument/2006/relationships/notesSlide" Target="/ppt/notesSlides/notesSlide6.xml" Id="R809843a3c26042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f039a1e11d94985" /><Relationship Type="http://schemas.openxmlformats.org/officeDocument/2006/relationships/notesSlide" Target="/ppt/notesSlides/notesSlide7.xml" Id="Rae4c1351fff947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aaa177d7ca4abb" /><Relationship Type="http://schemas.openxmlformats.org/officeDocument/2006/relationships/notesSlide" Target="/ppt/notesSlides/notesSlide8.xml" Id="R2ea610fbf8b248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ac294df96447b2" /><Relationship Type="http://schemas.openxmlformats.org/officeDocument/2006/relationships/chart" Target="/ppt/slides/charts/chart1.xml" Id="R1f7c5af5d298439b" /><Relationship Type="http://schemas.openxmlformats.org/officeDocument/2006/relationships/notesSlide" Target="/ppt/notesSlides/notesSlide9.xml" Id="R86eda82abce845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6df89297b34163" /><Relationship Type="http://schemas.openxmlformats.org/officeDocument/2006/relationships/notesSlide" Target="/ppt/notesSlides/notesSlide10.xml" Id="Rf2909b51b1204d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6913f7169c84011" /><Relationship Type="http://schemas.openxmlformats.org/officeDocument/2006/relationships/chart" Target="/ppt/slides/charts/chart2.xml" Id="R0c4f2b51bb074d40" /><Relationship Type="http://schemas.openxmlformats.org/officeDocument/2006/relationships/notesSlide" Target="/ppt/notesSlides/notesSlide11.xml" Id="R877a9eb01e5c4f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cf83ffbf6647b8" /><Relationship Type="http://schemas.openxmlformats.org/officeDocument/2006/relationships/notesSlide" Target="/ppt/notesSlides/notesSlide12.xml" Id="R73ac4966cf1245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399c0ce9ab14b2d" /><Relationship Type="http://schemas.openxmlformats.org/officeDocument/2006/relationships/notesSlide" Target="/ppt/notesSlides/notesSlide13.xml" Id="Ra9155e9d48c043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e8b83e1b7fe4119" /><Relationship Type="http://schemas.openxmlformats.org/officeDocument/2006/relationships/notesSlide" Target="/ppt/notesSlides/notesSlide14.xml" Id="Ra25b7468d02c433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5e8951f7c39451c" /><Relationship Type="http://schemas.openxmlformats.org/officeDocument/2006/relationships/notesSlide" Target="/ppt/notesSlides/notesSlide15.xml" Id="R15191fe3d09040f2" /></Relationships>
</file>

<file path=ppt/slides/charts/chart1.xml><?xml version="1.0" encoding="utf-8"?>
<c:chartSpace xmlns:c="http://schemas.openxmlformats.org/drawingml/2006/chart">
  <c:lang val="en-US"/>
  <c:chart>
    <c:plotArea>
      <c:barChart>
        <c:barDir val="col"/>
        <c:varyColors val="0"/>
        <c:ser>
          <c:idx val="0"/>
          <c:order val="0"/>
          <c:tx>
            <c:v>€k</c:v>
          </c:tx>
          <c:spPr>
            <a:solidFill xmlns:a="http://schemas.openxmlformats.org/drawingml/2006/main">
              <a:srgbClr val="2186F3"/>
            </a:solidFill>
          </c:spPr>
          <c:cat>
            <c:strLit>
              <c:ptCount val="6"/>
              <c:pt idx="0">
                <c:v>Product &amp; engineering</c:v>
              </c:pt>
              <c:pt idx="1">
                <c:v>Go-to-market</c:v>
              </c:pt>
              <c:pt idx="2">
                <c:v>Onboarding &amp; success</c:v>
              </c:pt>
              <c:pt idx="3">
                <c:v>Security &amp; integrations</c:v>
              </c:pt>
              <c:pt idx="4">
                <c:v>Cloud, hardware &amp; ops</c:v>
              </c:pt>
              <c:pt idx="5">
                <c:v>Reserve</c:v>
              </c:pt>
            </c:strLit>
          </c:cat>
          <c:val>
            <c:numLit>
              <c:formatCode>General</c:formatCode>
              <c:ptCount val="6"/>
              <c:pt idx="0">
                <c:v>95</c:v>
              </c:pt>
              <c:pt idx="1">
                <c:v>55</c:v>
              </c:pt>
              <c:pt idx="2">
                <c:v>30</c:v>
              </c:pt>
              <c:pt idx="3">
                <c:v>25</c:v>
              </c:pt>
              <c:pt idx="4">
                <c:v>15</c:v>
              </c:pt>
              <c:pt idx="5">
                <c:v>30</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majorGridlines>
          <c:spPr>
            <a:ln xmlns:a="http://schemas.openxmlformats.org/drawingml/2006/main" w="9525">
              <a:solidFill>
                <a:srgbClr val="EDEFF2"/>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E6878"/>
                </a:solidFill>
                <a:latin typeface="Helvetica Neue"/>
                <a:ea typeface="Helvetica Neue"/>
                <a:cs typeface="Helvetica Neue"/>
              </a:defRPr>
            </a:pPr>
          </a:p>
        </c:txPr>
        <c:crossAx val="48672768"/>
      </c:catAx>
      <c:valAx>
        <c:axId val="48672768"/>
        <c:scaling>
          <c:orientation val="minMax"/>
        </c:scaling>
        <c:delete val="0"/>
        <c:axPos val="l"/>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75">
                <a:solidFill>
                  <a:srgbClr val="0B1220"/>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varyColors val="0"/>
        <c:ser>
          <c:idx val="0"/>
          <c:order val="0"/>
          <c:tx>
            <c:v>Betalende locaties</c:v>
          </c:tx>
          <c:spPr>
            <a:solidFill xmlns:a="http://schemas.openxmlformats.org/drawingml/2006/main">
              <a:srgbClr val="2186F3"/>
            </a:solidFill>
          </c:spPr>
          <c:cat>
            <c:strLit>
              <c:ptCount val="3"/>
              <c:pt idx="0">
                <c:v>Maand 6</c:v>
              </c:pt>
              <c:pt idx="1">
                <c:v>Maand 12</c:v>
              </c:pt>
              <c:pt idx="2">
                <c:v>Maand 18</c:v>
              </c:pt>
            </c:strLit>
          </c:cat>
          <c:val>
            <c:numLit>
              <c:formatCode>General</c:formatCode>
              <c:ptCount val="3"/>
              <c:pt idx="0">
                <c:v>15</c:v>
              </c:pt>
              <c:pt idx="1">
                <c:v>50</c:v>
              </c:pt>
              <c:pt idx="2">
                <c:v>100</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0B1220"/>
                </a:solidFill>
                <a:latin typeface="Helvetica Neue"/>
                <a:ea typeface="Helvetica Neue"/>
                <a:cs typeface="Helvetica Neue"/>
              </a:defRPr>
            </a:pPr>
          </a:p>
        </c:txPr>
        <c:crossAx val="48672768"/>
      </c:catAx>
      <c:valAx>
        <c:axId val="48672768"/>
        <c:scaling>
          <c:orientation val="minMax"/>
          <c:max val="120"/>
        </c:scaling>
        <c:delete val="0"/>
        <c:axPos val="l"/>
        <c:majorGridlines>
          <c:spPr>
            <a:ln xmlns:a="http://schemas.openxmlformats.org/drawingml/2006/main" w="9525">
              <a:solidFill>
                <a:srgbClr val="EDEFF2"/>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E6878"/>
                </a:solidFill>
                <a:latin typeface="Helvetica Neue"/>
                <a:ea typeface="Helvetica Neue"/>
                <a:cs typeface="Helvetica Neue"/>
              </a:defRPr>
            </a:pPr>
          </a:p>
        </c:txPr>
        <c:crossAx val="48650112"/>
        <c:crossBetween val="between"/>
        <c:majorUnit val="20"/>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9F3728-6AF2-4755-AA90-A5BA0C52D4F2}"/>
              </a:ext>
            </a:extLst>
          </p:cNvPr>
          <p:cNvSpPr>
            <a:spLocks xmlns:a="http://schemas.openxmlformats.org/drawingml/2006/main" noGrp="1"/>
          </p:cNvSpPr>
          <p:nvPr/>
        </p:nvSpPr>
        <p:spPr>
          <a:xfrm xmlns:a="http://schemas.openxmlformats.org/drawingml/2006/main">
            <a:off x="400050" y="3429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186F3"/>
                </a:solidFill>
                <a:latin typeface="Helvetica Neue"/>
                <a:ea typeface="Helvetica Neue"/>
                <a:cs typeface="Helvetica Neue"/>
              </a:defRPr>
            </a:pPr>
            <a:r>
              <a:rPr sz="1125" b="1">
                <a:solidFill>
                  <a:srgbClr val="2186F3"/>
                </a:solidFill>
                <a:latin typeface="Helvetica Neue"/>
                <a:ea typeface="Helvetica Neue"/>
                <a:cs typeface="Helvetica Neue"/>
              </a:rPr>
              <a:t>PWAYMENT</a:t>
            </a:r>
          </a:p>
        </p:txBody>
      </p:sp>
      <p:sp>
        <p:nvSpPr>
          <p:cNvPr id="2" name="">
            <a:extLst xmlns:a="http://schemas.openxmlformats.org/drawingml/2006/main">
              <a:ext uri="{FF2B5EF4-FFF2-40B4-BE49-F238E27FC236}">
                <a16:creationId xmlns:a16="http://schemas.microsoft.com/office/drawing/2014/main" id="{8D2860CC-B95C-4EEF-93AE-F39E1230794D}"/>
              </a:ext>
            </a:extLst>
          </p:cNvPr>
          <p:cNvSpPr>
            <a:spLocks xmlns:a="http://schemas.openxmlformats.org/drawingml/2006/main" noGrp="1"/>
          </p:cNvSpPr>
          <p:nvPr/>
        </p:nvSpPr>
        <p:spPr>
          <a:xfrm xmlns:a="http://schemas.openxmlformats.org/drawingml/2006/main">
            <a:off x="400050" y="1504950"/>
            <a:ext cx="563880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160"/>
          </a:bodyPr>
          <a:lstStyle xmlns:a="http://schemas.openxmlformats.org/drawingml/2006/main"/>
          <a:p xmlns:a="http://schemas.openxmlformats.org/drawingml/2006/main">
            <a:pPr algn="l">
              <a:defRPr sz="4650" b="1">
                <a:solidFill>
                  <a:srgbClr val="0B1220"/>
                </a:solidFill>
                <a:latin typeface="Helvetica Neue"/>
                <a:ea typeface="Helvetica Neue"/>
                <a:cs typeface="Helvetica Neue"/>
              </a:defRPr>
            </a:pPr>
            <a:r>
              <a:rPr sz="4650" b="1">
                <a:solidFill>
                  <a:srgbClr val="0B1220"/>
                </a:solidFill>
                <a:latin typeface="Helvetica Neue"/>
                <a:ea typeface="Helvetica Neue"/>
                <a:cs typeface="Helvetica Neue"/>
              </a:rPr>
              <a:t>De retailmotor voor</a:t>
            </a:r>
          </a:p>
          <a:p xmlns:a="http://schemas.openxmlformats.org/drawingml/2006/main">
            <a:pPr algn="l">
              <a:defRPr sz="4650" b="1">
                <a:solidFill>
                  <a:srgbClr val="0B1220"/>
                </a:solidFill>
                <a:latin typeface="Helvetica Neue"/>
                <a:ea typeface="Helvetica Neue"/>
                <a:cs typeface="Helvetica Neue"/>
              </a:defRPr>
            </a:pPr>
            <a:r>
              <a:rPr sz="4650" b="1">
                <a:solidFill>
                  <a:srgbClr val="0B1220"/>
                </a:solidFill>
                <a:latin typeface="Helvetica Neue"/>
                <a:ea typeface="Helvetica Neue"/>
                <a:cs typeface="Helvetica Neue"/>
              </a:rPr>
              <a:t>de winkel van morgen.</a:t>
            </a:r>
          </a:p>
        </p:txBody>
      </p:sp>
      <p:sp>
        <p:nvSpPr>
          <p:cNvPr id="3" name="">
            <a:extLst xmlns:a="http://schemas.openxmlformats.org/drawingml/2006/main">
              <a:ext uri="{FF2B5EF4-FFF2-40B4-BE49-F238E27FC236}">
                <a16:creationId xmlns:a16="http://schemas.microsoft.com/office/drawing/2014/main" id="{2FA21192-4DFF-4257-B0D1-984640D612A7}"/>
              </a:ext>
            </a:extLst>
          </p:cNvPr>
          <p:cNvSpPr>
            <a:spLocks xmlns:a="http://schemas.openxmlformats.org/drawingml/2006/main" noGrp="1"/>
          </p:cNvSpPr>
          <p:nvPr/>
        </p:nvSpPr>
        <p:spPr>
          <a:xfrm xmlns:a="http://schemas.openxmlformats.org/drawingml/2006/main">
            <a:off x="400050" y="3409950"/>
            <a:ext cx="533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a:solidFill>
                  <a:srgbClr val="5E6878"/>
                </a:solidFill>
                <a:latin typeface="Helvetica Neue"/>
                <a:ea typeface="Helvetica Neue"/>
                <a:cs typeface="Helvetica Neue"/>
              </a:defRPr>
            </a:pPr>
            <a:r>
              <a:rPr sz="1875">
                <a:solidFill>
                  <a:srgbClr val="5E6878"/>
                </a:solidFill>
                <a:latin typeface="Helvetica Neue"/>
                <a:ea typeface="Helvetica Neue"/>
                <a:cs typeface="Helvetica Neue"/>
              </a:rPr>
              <a:t>Offline-first POS, voorraad, klanten, webshop en retail intelligence — in één platform.</a:t>
            </a:r>
          </a:p>
        </p:txBody>
      </p:sp>
      <p:sp>
        <p:nvSpPr>
          <p:cNvPr id="4" name="">
            <a:extLst xmlns:a="http://schemas.openxmlformats.org/drawingml/2006/main">
              <a:ext uri="{FF2B5EF4-FFF2-40B4-BE49-F238E27FC236}">
                <a16:creationId xmlns:a16="http://schemas.microsoft.com/office/drawing/2014/main" id="{C81D3585-D549-44A6-831F-02A70297C807}"/>
              </a:ext>
            </a:extLst>
          </p:cNvPr>
          <p:cNvSpPr>
            <a:spLocks xmlns:a="http://schemas.openxmlformats.org/drawingml/2006/main" noGrp="1"/>
          </p:cNvSpPr>
          <p:nvPr/>
        </p:nvSpPr>
        <p:spPr>
          <a:xfrm xmlns:a="http://schemas.openxmlformats.org/drawingml/2006/main">
            <a:off x="400050" y="4762500"/>
            <a:ext cx="3162300" cy="323850"/>
          </a:xfrm>
          <a:prstGeom xmlns:a="http://schemas.openxmlformats.org/drawingml/2006/main" prst="roundRect">
            <a:avLst>
              <a:gd name="adj" fmla="val 35294"/>
            </a:avLst>
          </a:prstGeom>
          <a:solidFill xmlns:a="http://schemas.openxmlformats.org/drawingml/2006/main">
            <a:srgbClr val="2186F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247F8DE-D15E-432D-8A18-53B4696AC713}"/>
              </a:ext>
            </a:extLst>
          </p:cNvPr>
          <p:cNvSpPr>
            <a:spLocks xmlns:a="http://schemas.openxmlformats.org/drawingml/2006/main" noGrp="1"/>
          </p:cNvSpPr>
          <p:nvPr/>
        </p:nvSpPr>
        <p:spPr>
          <a:xfrm xmlns:a="http://schemas.openxmlformats.org/drawingml/2006/main">
            <a:off x="514350" y="4848225"/>
            <a:ext cx="2933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INVESTERINGSVRAAG · € 250.000</a:t>
            </a:r>
          </a:p>
        </p:txBody>
      </p:sp>
      <p:sp>
        <p:nvSpPr>
          <p:cNvPr id="6" name="">
            <a:extLst xmlns:a="http://schemas.openxmlformats.org/drawingml/2006/main">
              <a:ext uri="{FF2B5EF4-FFF2-40B4-BE49-F238E27FC236}">
                <a16:creationId xmlns:a16="http://schemas.microsoft.com/office/drawing/2014/main" id="{D85F99C6-3251-4B3E-AB9C-ECF41AC40C83}"/>
              </a:ext>
            </a:extLst>
          </p:cNvPr>
          <p:cNvSpPr>
            <a:spLocks xmlns:a="http://schemas.openxmlformats.org/drawingml/2006/main" noGrp="1"/>
          </p:cNvSpPr>
          <p:nvPr/>
        </p:nvSpPr>
        <p:spPr>
          <a:xfrm xmlns:a="http://schemas.openxmlformats.org/drawingml/2006/main">
            <a:off x="400050" y="529590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B1220"/>
                </a:solidFill>
                <a:latin typeface="Helvetica Neue"/>
                <a:ea typeface="Helvetica Neue"/>
                <a:cs typeface="Helvetica Neue"/>
              </a:defRPr>
            </a:pPr>
            <a:r>
              <a:rPr sz="1350" b="1">
                <a:solidFill>
                  <a:srgbClr val="0B1220"/>
                </a:solidFill>
                <a:latin typeface="Helvetica Neue"/>
                <a:ea typeface="Helvetica Neue"/>
                <a:cs typeface="Helvetica Neue"/>
              </a:rPr>
              <a:t>Doel: 100 betalende locaties en € 9k MRR binnen 18 maanden.</a:t>
            </a:r>
          </a:p>
        </p:txBody>
      </p:sp>
      <p:sp>
        <p:nvSpPr>
          <p:cNvPr id="7" name="">
            <a:extLst xmlns:a="http://schemas.openxmlformats.org/drawingml/2006/main">
              <a:ext uri="{FF2B5EF4-FFF2-40B4-BE49-F238E27FC236}">
                <a16:creationId xmlns:a16="http://schemas.microsoft.com/office/drawing/2014/main" id="{D3C4962F-78F7-47F8-90C9-F1527411760C}"/>
              </a:ext>
            </a:extLst>
          </p:cNvPr>
          <p:cNvSpPr>
            <a:spLocks xmlns:a="http://schemas.openxmlformats.org/drawingml/2006/main" noGrp="1"/>
          </p:cNvSpPr>
          <p:nvPr/>
        </p:nvSpPr>
        <p:spPr>
          <a:xfrm xmlns:a="http://schemas.openxmlformats.org/drawingml/2006/main">
            <a:off x="6276975" y="676275"/>
            <a:ext cx="5524500" cy="4895850"/>
          </a:xfrm>
          <a:prstGeom xmlns:a="http://schemas.openxmlformats.org/drawingml/2006/main" prst="roundRect">
            <a:avLst>
              <a:gd name="adj" fmla="val 2335"/>
            </a:avLst>
          </a:prstGeom>
          <a:solidFill xmlns:a="http://schemas.openxmlformats.org/drawingml/2006/main">
            <a:srgbClr val="FFFFFF"/>
          </a:solidFill>
          <a:ln xmlns:a="http://schemas.openxmlformats.org/drawingml/2006/main" w="9525">
            <a:solidFill>
              <a:srgbClr val="B8BCC4"/>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14869d32b6f4818"/>
          <a:srcRect xmlns:a="http://schemas.openxmlformats.org/drawingml/2006/main" l="18250" t="0" r="18250" b="0"/>
          <a:stretch xmlns:a="http://schemas.openxmlformats.org/drawingml/2006/main">
            <a:fillRect l="0" t="0" r="0" b="0"/>
          </a:stretch>
        </p:blipFill>
        <p:spPr>
          <a:xfrm xmlns:a="http://schemas.openxmlformats.org/drawingml/2006/main">
            <a:off x="6286500" y="685800"/>
            <a:ext cx="5505450" cy="4876800"/>
          </a:xfrm>
          <a:prstGeom xmlns:a="http://schemas.openxmlformats.org/drawingml/2006/main" prst="roundRect">
            <a:avLst>
              <a:gd name="adj" fmla="val 2344"/>
            </a:avLst>
          </a:prstGeom>
        </p:spPr>
      </p:pic>
      <p:sp>
        <p:nvSpPr>
          <p:cNvPr id="9" name="">
            <a:extLst xmlns:a="http://schemas.openxmlformats.org/drawingml/2006/main">
              <a:ext uri="{FF2B5EF4-FFF2-40B4-BE49-F238E27FC236}">
                <a16:creationId xmlns:a16="http://schemas.microsoft.com/office/drawing/2014/main" id="{6D7D1D61-A868-4E13-9878-B3DC0C3292B0}"/>
              </a:ext>
            </a:extLst>
          </p:cNvPr>
          <p:cNvSpPr>
            <a:spLocks xmlns:a="http://schemas.openxmlformats.org/drawingml/2006/main" noGrp="1"/>
          </p:cNvSpPr>
          <p:nvPr/>
        </p:nvSpPr>
        <p:spPr>
          <a:xfrm xmlns:a="http://schemas.openxmlformats.org/drawingml/2006/main">
            <a:off x="400050" y="6115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5E6878"/>
                </a:solidFill>
                <a:latin typeface="Helvetica Neue"/>
                <a:ea typeface="Helvetica Neue"/>
                <a:cs typeface="Helvetica Neue"/>
              </a:defRPr>
            </a:pPr>
            <a:r>
              <a:rPr sz="975">
                <a:solidFill>
                  <a:srgbClr val="5E6878"/>
                </a:solidFill>
                <a:latin typeface="Helvetica Neue"/>
                <a:ea typeface="Helvetica Neue"/>
                <a:cs typeface="Helvetica Neue"/>
              </a:rPr>
              <a:t>Pre-seed · België · september 2026</a:t>
            </a:r>
          </a:p>
        </p:txBody>
      </p:sp>
      <p:sp>
        <p:nvSpPr>
          <p:cNvPr id="10" name="">
            <a:extLst xmlns:a="http://schemas.openxmlformats.org/drawingml/2006/main">
              <a:ext uri="{FF2B5EF4-FFF2-40B4-BE49-F238E27FC236}">
                <a16:creationId xmlns:a16="http://schemas.microsoft.com/office/drawing/2014/main" id="{C567E997-B52E-4FB1-846E-EF8875A3372D}"/>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CONFIDENTIAL INVESTOR DISCUSSION</a:t>
            </a:r>
          </a:p>
        </p:txBody>
      </p:sp>
      <p:sp>
        <p:nvSpPr>
          <p:cNvPr id="11" name="">
            <a:extLst xmlns:a="http://schemas.openxmlformats.org/drawingml/2006/main">
              <a:ext uri="{FF2B5EF4-FFF2-40B4-BE49-F238E27FC236}">
                <a16:creationId xmlns:a16="http://schemas.microsoft.com/office/drawing/2014/main" id="{05690810-121C-43F1-BC13-4E5DF1AF5FF2}"/>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01</a:t>
            </a:r>
          </a:p>
        </p:txBody>
      </p:sp>
    </p:spTree>
    <p:extLst>
      <p:ext uri="{BB962C8B-B14F-4D97-AF65-F5344CB8AC3E}">
        <p14:creationId xmlns:p14="http://schemas.microsoft.com/office/powerpoint/2010/main" val="17366384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C3331A4-9396-4D7E-B06B-0C684BBDBC24}"/>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HET PROBLEEM</a:t>
            </a:r>
          </a:p>
        </p:txBody>
      </p:sp>
      <p:sp>
        <p:nvSpPr>
          <p:cNvPr id="2" name="">
            <a:extLst xmlns:a="http://schemas.openxmlformats.org/drawingml/2006/main">
              <a:ext uri="{FF2B5EF4-FFF2-40B4-BE49-F238E27FC236}">
                <a16:creationId xmlns:a16="http://schemas.microsoft.com/office/drawing/2014/main" id="{882F96E1-BCB7-4407-9579-714C02F8F9F4}"/>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Een winkelier koopt software, maar beheert nog altijd losse eilanden.</a:t>
            </a:r>
          </a:p>
        </p:txBody>
      </p:sp>
      <p:sp>
        <p:nvSpPr>
          <p:cNvPr id="3" name="">
            <a:extLst xmlns:a="http://schemas.openxmlformats.org/drawingml/2006/main">
              <a:ext uri="{FF2B5EF4-FFF2-40B4-BE49-F238E27FC236}">
                <a16:creationId xmlns:a16="http://schemas.microsoft.com/office/drawing/2014/main" id="{6E32B748-60C7-4131-ACFF-4BE935C882AD}"/>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8EF87BCB-9BA0-4FE2-8901-F8FC48883DCF}"/>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6D6AC38F-C532-46E3-9B12-B447AC824FA7}"/>
              </a:ext>
            </a:extLst>
          </p:cNvPr>
          <p:cNvSpPr>
            <a:spLocks xmlns:a="http://schemas.openxmlformats.org/drawingml/2006/main" noGrp="1"/>
          </p:cNvSpPr>
          <p:nvPr/>
        </p:nvSpPr>
        <p:spPr>
          <a:xfrm xmlns:a="http://schemas.openxmlformats.org/drawingml/2006/main">
            <a:off x="400050" y="169545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B1220"/>
                </a:solidFill>
                <a:latin typeface="Helvetica Neue"/>
                <a:ea typeface="Helvetica Neue"/>
                <a:cs typeface="Helvetica Neue"/>
              </a:defRPr>
            </a:pPr>
            <a:r>
              <a:rPr sz="1875" b="1">
                <a:solidFill>
                  <a:srgbClr val="0B1220"/>
                </a:solidFill>
                <a:latin typeface="Helvetica Neue"/>
                <a:ea typeface="Helvetica Neue"/>
                <a:cs typeface="Helvetica Neue"/>
              </a:rPr>
              <a:t>De dagelijkse werkelijkheid</a:t>
            </a:r>
          </a:p>
        </p:txBody>
      </p:sp>
      <p:sp>
        <p:nvSpPr>
          <p:cNvPr id="6" name="">
            <a:extLst xmlns:a="http://schemas.openxmlformats.org/drawingml/2006/main">
              <a:ext uri="{FF2B5EF4-FFF2-40B4-BE49-F238E27FC236}">
                <a16:creationId xmlns:a16="http://schemas.microsoft.com/office/drawing/2014/main" id="{905C6C67-7E5D-4343-A9ED-FE75453491D7}"/>
              </a:ext>
            </a:extLst>
          </p:cNvPr>
          <p:cNvSpPr>
            <a:spLocks xmlns:a="http://schemas.openxmlformats.org/drawingml/2006/main" noGrp="1"/>
          </p:cNvSpPr>
          <p:nvPr/>
        </p:nvSpPr>
        <p:spPr>
          <a:xfrm xmlns:a="http://schemas.openxmlformats.org/drawingml/2006/main">
            <a:off x="400050" y="2209800"/>
            <a:ext cx="4953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5E6878"/>
                </a:solidFill>
                <a:latin typeface="Helvetica Neue"/>
                <a:ea typeface="Helvetica Neue"/>
                <a:cs typeface="Helvetica Neue"/>
              </a:defRPr>
            </a:pPr>
            <a:r>
              <a:rPr sz="1650">
                <a:solidFill>
                  <a:srgbClr val="5E6878"/>
                </a:solidFill>
                <a:latin typeface="Helvetica Neue"/>
                <a:ea typeface="Helvetica Neue"/>
                <a:cs typeface="Helvetica Neue"/>
              </a:rPr>
              <a:t>Kassa, voorraad, webshop, klanten, herstellingen, personeel en rapportering leven vaak naast elkaar. Elke overdracht kost tijd en creëert fouten.</a:t>
            </a:r>
          </a:p>
        </p:txBody>
      </p:sp>
      <p:sp>
        <p:nvSpPr>
          <p:cNvPr id="7" name="">
            <a:extLst xmlns:a="http://schemas.openxmlformats.org/drawingml/2006/main">
              <a:ext uri="{FF2B5EF4-FFF2-40B4-BE49-F238E27FC236}">
                <a16:creationId xmlns:a16="http://schemas.microsoft.com/office/drawing/2014/main" id="{73A09156-29AA-4965-9FDA-0AA7C098A78B}"/>
              </a:ext>
            </a:extLst>
          </p:cNvPr>
          <p:cNvSpPr>
            <a:spLocks xmlns:a="http://schemas.openxmlformats.org/drawingml/2006/main" noGrp="1"/>
          </p:cNvSpPr>
          <p:nvPr/>
        </p:nvSpPr>
        <p:spPr>
          <a:xfrm xmlns:a="http://schemas.openxmlformats.org/drawingml/2006/main">
            <a:off x="400050" y="4000500"/>
            <a:ext cx="4953000" cy="135255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A121D31-9962-4CEA-AB14-E8EB2EBCB478}"/>
              </a:ext>
            </a:extLst>
          </p:cNvPr>
          <p:cNvSpPr>
            <a:spLocks xmlns:a="http://schemas.openxmlformats.org/drawingml/2006/main" noGrp="1"/>
          </p:cNvSpPr>
          <p:nvPr/>
        </p:nvSpPr>
        <p:spPr>
          <a:xfrm xmlns:a="http://schemas.openxmlformats.org/drawingml/2006/main">
            <a:off x="647700" y="42672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55CFF7"/>
                </a:solidFill>
                <a:latin typeface="Helvetica Neue"/>
                <a:ea typeface="Helvetica Neue"/>
                <a:cs typeface="Helvetica Neue"/>
              </a:defRPr>
            </a:pPr>
            <a:r>
              <a:rPr sz="975" b="1">
                <a:solidFill>
                  <a:srgbClr val="55CFF7"/>
                </a:solidFill>
                <a:latin typeface="Helvetica Neue"/>
                <a:ea typeface="Helvetica Neue"/>
                <a:cs typeface="Helvetica Neue"/>
              </a:rPr>
              <a:t>De echte vraag</a:t>
            </a:r>
          </a:p>
        </p:txBody>
      </p:sp>
      <p:sp>
        <p:nvSpPr>
          <p:cNvPr id="9" name="">
            <a:extLst xmlns:a="http://schemas.openxmlformats.org/drawingml/2006/main">
              <a:ext uri="{FF2B5EF4-FFF2-40B4-BE49-F238E27FC236}">
                <a16:creationId xmlns:a16="http://schemas.microsoft.com/office/drawing/2014/main" id="{93C6D4F8-6676-4D9F-AF52-88448C716BEB}"/>
              </a:ext>
            </a:extLst>
          </p:cNvPr>
          <p:cNvSpPr>
            <a:spLocks xmlns:a="http://schemas.openxmlformats.org/drawingml/2006/main" noGrp="1"/>
          </p:cNvSpPr>
          <p:nvPr/>
        </p:nvSpPr>
        <p:spPr>
          <a:xfrm xmlns:a="http://schemas.openxmlformats.org/drawingml/2006/main">
            <a:off x="647700" y="4638675"/>
            <a:ext cx="4267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“Wat moet ik vandaag doen om marge, voorraad en klanten te verbeteren?”</a:t>
            </a:r>
          </a:p>
        </p:txBody>
      </p:sp>
      <p:sp>
        <p:nvSpPr>
          <p:cNvPr id="10" name="">
            <a:extLst xmlns:a="http://schemas.openxmlformats.org/drawingml/2006/main">
              <a:ext uri="{FF2B5EF4-FFF2-40B4-BE49-F238E27FC236}">
                <a16:creationId xmlns:a16="http://schemas.microsoft.com/office/drawing/2014/main" id="{79458ADC-205B-4647-BEA5-D3BFDD49517E}"/>
              </a:ext>
            </a:extLst>
          </p:cNvPr>
          <p:cNvSpPr>
            <a:spLocks xmlns:a="http://schemas.openxmlformats.org/drawingml/2006/main" noGrp="1"/>
          </p:cNvSpPr>
          <p:nvPr/>
        </p:nvSpPr>
        <p:spPr>
          <a:xfrm xmlns:a="http://schemas.openxmlformats.org/drawingml/2006/main">
            <a:off x="6324600" y="16573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1</a:t>
            </a:r>
          </a:p>
        </p:txBody>
      </p:sp>
      <p:sp>
        <p:nvSpPr>
          <p:cNvPr id="11" name="">
            <a:extLst xmlns:a="http://schemas.openxmlformats.org/drawingml/2006/main">
              <a:ext uri="{FF2B5EF4-FFF2-40B4-BE49-F238E27FC236}">
                <a16:creationId xmlns:a16="http://schemas.microsoft.com/office/drawing/2014/main" id="{EED0EBED-B3E3-40E8-B3E1-F67E2EC3596A}"/>
              </a:ext>
            </a:extLst>
          </p:cNvPr>
          <p:cNvSpPr>
            <a:spLocks xmlns:a="http://schemas.openxmlformats.org/drawingml/2006/main" noGrp="1"/>
          </p:cNvSpPr>
          <p:nvPr/>
        </p:nvSpPr>
        <p:spPr>
          <a:xfrm xmlns:a="http://schemas.openxmlformats.org/drawingml/2006/main">
            <a:off x="7010400" y="16764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B1220"/>
                </a:solidFill>
                <a:latin typeface="Helvetica Neue"/>
                <a:ea typeface="Helvetica Neue"/>
                <a:cs typeface="Helvetica Neue"/>
              </a:defRPr>
            </a:pPr>
            <a:r>
              <a:rPr sz="1875" b="1">
                <a:solidFill>
                  <a:srgbClr val="0B1220"/>
                </a:solidFill>
                <a:latin typeface="Helvetica Neue"/>
                <a:ea typeface="Helvetica Neue"/>
                <a:cs typeface="Helvetica Neue"/>
              </a:rPr>
              <a:t>Dubbele invoer</a:t>
            </a:r>
          </a:p>
        </p:txBody>
      </p:sp>
      <p:sp>
        <p:nvSpPr>
          <p:cNvPr id="12" name="">
            <a:extLst xmlns:a="http://schemas.openxmlformats.org/drawingml/2006/main">
              <a:ext uri="{FF2B5EF4-FFF2-40B4-BE49-F238E27FC236}">
                <a16:creationId xmlns:a16="http://schemas.microsoft.com/office/drawing/2014/main" id="{9D4C7630-F818-4663-9F28-0F5D37750A2F}"/>
              </a:ext>
            </a:extLst>
          </p:cNvPr>
          <p:cNvSpPr>
            <a:spLocks xmlns:a="http://schemas.openxmlformats.org/drawingml/2006/main" noGrp="1"/>
          </p:cNvSpPr>
          <p:nvPr/>
        </p:nvSpPr>
        <p:spPr>
          <a:xfrm xmlns:a="http://schemas.openxmlformats.org/drawingml/2006/main">
            <a:off x="7010400" y="209550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Data wordt herhaald tussen kassa, webshop en boekhouding.</a:t>
            </a:r>
          </a:p>
        </p:txBody>
      </p:sp>
      <p:sp>
        <p:nvSpPr>
          <p:cNvPr id="13" name="">
            <a:extLst xmlns:a="http://schemas.openxmlformats.org/drawingml/2006/main">
              <a:ext uri="{FF2B5EF4-FFF2-40B4-BE49-F238E27FC236}">
                <a16:creationId xmlns:a16="http://schemas.microsoft.com/office/drawing/2014/main" id="{C27B528A-CC65-4493-85FE-1A5D57F85A43}"/>
              </a:ext>
            </a:extLst>
          </p:cNvPr>
          <p:cNvSpPr>
            <a:spLocks xmlns:a="http://schemas.openxmlformats.org/drawingml/2006/main" noGrp="1"/>
          </p:cNvSpPr>
          <p:nvPr/>
        </p:nvSpPr>
        <p:spPr>
          <a:xfrm xmlns:a="http://schemas.openxmlformats.org/drawingml/2006/main">
            <a:off x="6324600" y="2819400"/>
            <a:ext cx="5181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381B336-56BD-4D78-A19E-69880066F9BA}"/>
              </a:ext>
            </a:extLst>
          </p:cNvPr>
          <p:cNvSpPr>
            <a:spLocks xmlns:a="http://schemas.openxmlformats.org/drawingml/2006/main" noGrp="1"/>
          </p:cNvSpPr>
          <p:nvPr/>
        </p:nvSpPr>
        <p:spPr>
          <a:xfrm xmlns:a="http://schemas.openxmlformats.org/drawingml/2006/main">
            <a:off x="6324600" y="30480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DBE45BA8-B8D7-43D4-997E-6BBCED35DFBA}"/>
              </a:ext>
            </a:extLst>
          </p:cNvPr>
          <p:cNvSpPr>
            <a:spLocks xmlns:a="http://schemas.openxmlformats.org/drawingml/2006/main" noGrp="1"/>
          </p:cNvSpPr>
          <p:nvPr/>
        </p:nvSpPr>
        <p:spPr>
          <a:xfrm xmlns:a="http://schemas.openxmlformats.org/drawingml/2006/main">
            <a:off x="7010400" y="30670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B1220"/>
                </a:solidFill>
                <a:latin typeface="Helvetica Neue"/>
                <a:ea typeface="Helvetica Neue"/>
                <a:cs typeface="Helvetica Neue"/>
              </a:defRPr>
            </a:pPr>
            <a:r>
              <a:rPr sz="1875" b="1">
                <a:solidFill>
                  <a:srgbClr val="0B1220"/>
                </a:solidFill>
                <a:latin typeface="Helvetica Neue"/>
                <a:ea typeface="Helvetica Neue"/>
                <a:cs typeface="Helvetica Neue"/>
              </a:rPr>
              <a:t>Late signalen</a:t>
            </a:r>
          </a:p>
        </p:txBody>
      </p:sp>
      <p:sp>
        <p:nvSpPr>
          <p:cNvPr id="16" name="">
            <a:extLst xmlns:a="http://schemas.openxmlformats.org/drawingml/2006/main">
              <a:ext uri="{FF2B5EF4-FFF2-40B4-BE49-F238E27FC236}">
                <a16:creationId xmlns:a16="http://schemas.microsoft.com/office/drawing/2014/main" id="{559485C0-0B20-487C-BEA0-168AB5F0E332}"/>
              </a:ext>
            </a:extLst>
          </p:cNvPr>
          <p:cNvSpPr>
            <a:spLocks xmlns:a="http://schemas.openxmlformats.org/drawingml/2006/main" noGrp="1"/>
          </p:cNvSpPr>
          <p:nvPr/>
        </p:nvSpPr>
        <p:spPr>
          <a:xfrm xmlns:a="http://schemas.openxmlformats.org/drawingml/2006/main">
            <a:off x="7010400" y="348615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Voorraad- en margerisico’s worden pas na de feiten gezien.</a:t>
            </a:r>
          </a:p>
        </p:txBody>
      </p:sp>
      <p:sp>
        <p:nvSpPr>
          <p:cNvPr id="17" name="">
            <a:extLst xmlns:a="http://schemas.openxmlformats.org/drawingml/2006/main">
              <a:ext uri="{FF2B5EF4-FFF2-40B4-BE49-F238E27FC236}">
                <a16:creationId xmlns:a16="http://schemas.microsoft.com/office/drawing/2014/main" id="{8127AA42-E2F4-4E62-B784-66B52419D6E4}"/>
              </a:ext>
            </a:extLst>
          </p:cNvPr>
          <p:cNvSpPr>
            <a:spLocks xmlns:a="http://schemas.openxmlformats.org/drawingml/2006/main" noGrp="1"/>
          </p:cNvSpPr>
          <p:nvPr/>
        </p:nvSpPr>
        <p:spPr>
          <a:xfrm xmlns:a="http://schemas.openxmlformats.org/drawingml/2006/main">
            <a:off x="6324600" y="4210050"/>
            <a:ext cx="5181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3EE89ED-456E-4E47-8C6F-5FF9EDB12209}"/>
              </a:ext>
            </a:extLst>
          </p:cNvPr>
          <p:cNvSpPr>
            <a:spLocks xmlns:a="http://schemas.openxmlformats.org/drawingml/2006/main" noGrp="1"/>
          </p:cNvSpPr>
          <p:nvPr/>
        </p:nvSpPr>
        <p:spPr>
          <a:xfrm xmlns:a="http://schemas.openxmlformats.org/drawingml/2006/main">
            <a:off x="6324600" y="44386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1F229141-E124-4222-B5AD-D08F778C9F02}"/>
              </a:ext>
            </a:extLst>
          </p:cNvPr>
          <p:cNvSpPr>
            <a:spLocks xmlns:a="http://schemas.openxmlformats.org/drawingml/2006/main" noGrp="1"/>
          </p:cNvSpPr>
          <p:nvPr/>
        </p:nvSpPr>
        <p:spPr>
          <a:xfrm xmlns:a="http://schemas.openxmlformats.org/drawingml/2006/main">
            <a:off x="7010400" y="44577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B1220"/>
                </a:solidFill>
                <a:latin typeface="Helvetica Neue"/>
                <a:ea typeface="Helvetica Neue"/>
                <a:cs typeface="Helvetica Neue"/>
              </a:defRPr>
            </a:pPr>
            <a:r>
              <a:rPr sz="1875" b="1">
                <a:solidFill>
                  <a:srgbClr val="0B1220"/>
                </a:solidFill>
                <a:latin typeface="Helvetica Neue"/>
                <a:ea typeface="Helvetica Neue"/>
                <a:cs typeface="Helvetica Neue"/>
              </a:rPr>
              <a:t>Te veel tools</a:t>
            </a:r>
          </a:p>
        </p:txBody>
      </p:sp>
      <p:sp>
        <p:nvSpPr>
          <p:cNvPr id="20" name="">
            <a:extLst xmlns:a="http://schemas.openxmlformats.org/drawingml/2006/main">
              <a:ext uri="{FF2B5EF4-FFF2-40B4-BE49-F238E27FC236}">
                <a16:creationId xmlns:a16="http://schemas.microsoft.com/office/drawing/2014/main" id="{220D5FA4-079D-43BE-869F-5CEFB978E8AE}"/>
              </a:ext>
            </a:extLst>
          </p:cNvPr>
          <p:cNvSpPr>
            <a:spLocks xmlns:a="http://schemas.openxmlformats.org/drawingml/2006/main" noGrp="1"/>
          </p:cNvSpPr>
          <p:nvPr/>
        </p:nvSpPr>
        <p:spPr>
          <a:xfrm xmlns:a="http://schemas.openxmlformats.org/drawingml/2006/main">
            <a:off x="7010400" y="487680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De eigenaar betaalt integratiekosten én operationele complexiteit.</a:t>
            </a:r>
          </a:p>
        </p:txBody>
      </p:sp>
    </p:spTree>
    <p:extLst>
      <p:ext uri="{BB962C8B-B14F-4D97-AF65-F5344CB8AC3E}">
        <p14:creationId xmlns:p14="http://schemas.microsoft.com/office/powerpoint/2010/main" val="3404050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152D60F-1536-4CF8-BF06-FAB6B49C6DDC}"/>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DE OPLOSSING</a:t>
            </a:r>
          </a:p>
        </p:txBody>
      </p:sp>
      <p:sp>
        <p:nvSpPr>
          <p:cNvPr id="2" name="">
            <a:extLst xmlns:a="http://schemas.openxmlformats.org/drawingml/2006/main">
              <a:ext uri="{FF2B5EF4-FFF2-40B4-BE49-F238E27FC236}">
                <a16:creationId xmlns:a16="http://schemas.microsoft.com/office/drawing/2014/main" id="{9AD88B76-EE8C-4127-9834-C34CFFDCB5A5}"/>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686"/>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PWAYMENT verbindt de transactie met de volgende beslissing.</a:t>
            </a:r>
          </a:p>
        </p:txBody>
      </p:sp>
      <p:sp>
        <p:nvSpPr>
          <p:cNvPr id="3" name="">
            <a:extLst xmlns:a="http://schemas.openxmlformats.org/drawingml/2006/main">
              <a:ext uri="{FF2B5EF4-FFF2-40B4-BE49-F238E27FC236}">
                <a16:creationId xmlns:a16="http://schemas.microsoft.com/office/drawing/2014/main" id="{34E74774-AC51-4580-A42A-93E667AAEF4E}"/>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1D1CCC91-9DCB-4DF2-B1E5-DAF6170A8C0A}"/>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E08C1854-F2B6-48E1-A6DD-85CF70345607}"/>
              </a:ext>
            </a:extLst>
          </p:cNvPr>
          <p:cNvSpPr>
            <a:spLocks xmlns:a="http://schemas.openxmlformats.org/drawingml/2006/main" noGrp="1"/>
          </p:cNvSpPr>
          <p:nvPr/>
        </p:nvSpPr>
        <p:spPr>
          <a:xfrm xmlns:a="http://schemas.openxmlformats.org/drawingml/2006/main">
            <a:off x="390525" y="1590675"/>
            <a:ext cx="6838950" cy="428625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B8BCC4"/>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6e6e35368c24e18"/>
          <a:stretch xmlns:a="http://schemas.openxmlformats.org/drawingml/2006/main"/>
        </p:blipFill>
        <p:spPr>
          <a:xfrm xmlns:a="http://schemas.openxmlformats.org/drawingml/2006/main">
            <a:off x="400050" y="1815703"/>
            <a:ext cx="6819900" cy="3836194"/>
          </a:xfrm>
          <a:prstGeom xmlns:a="http://schemas.openxmlformats.org/drawingml/2006/main" prst="roundRect">
            <a:avLst>
              <a:gd name="adj" fmla="val 2679"/>
            </a:avLst>
          </a:prstGeom>
        </p:spPr>
      </p:pic>
      <p:sp>
        <p:nvSpPr>
          <p:cNvPr id="7" name="">
            <a:extLst xmlns:a="http://schemas.openxmlformats.org/drawingml/2006/main">
              <a:ext uri="{FF2B5EF4-FFF2-40B4-BE49-F238E27FC236}">
                <a16:creationId xmlns:a16="http://schemas.microsoft.com/office/drawing/2014/main" id="{616FC60A-3C6F-4F02-84D3-E1166CBB34B1}"/>
              </a:ext>
            </a:extLst>
          </p:cNvPr>
          <p:cNvSpPr>
            <a:spLocks xmlns:a="http://schemas.openxmlformats.org/drawingml/2006/main" noGrp="1"/>
          </p:cNvSpPr>
          <p:nvPr/>
        </p:nvSpPr>
        <p:spPr>
          <a:xfrm xmlns:a="http://schemas.openxmlformats.org/drawingml/2006/main">
            <a:off x="7753350" y="16573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0B1220"/>
                </a:solidFill>
                <a:latin typeface="Helvetica Neue"/>
                <a:ea typeface="Helvetica Neue"/>
                <a:cs typeface="Helvetica Neue"/>
              </a:defRPr>
            </a:pPr>
            <a:r>
              <a:rPr sz="1950" b="1">
                <a:solidFill>
                  <a:srgbClr val="0B1220"/>
                </a:solidFill>
                <a:latin typeface="Helvetica Neue"/>
                <a:ea typeface="Helvetica Neue"/>
                <a:cs typeface="Helvetica Neue"/>
              </a:rPr>
              <a:t>Eén operationele laag</a:t>
            </a:r>
          </a:p>
        </p:txBody>
      </p:sp>
      <p:sp>
        <p:nvSpPr>
          <p:cNvPr id="8" name="">
            <a:extLst xmlns:a="http://schemas.openxmlformats.org/drawingml/2006/main">
              <a:ext uri="{FF2B5EF4-FFF2-40B4-BE49-F238E27FC236}">
                <a16:creationId xmlns:a16="http://schemas.microsoft.com/office/drawing/2014/main" id="{AA7FBD33-7724-40C0-8014-A25B7A20BE1F}"/>
              </a:ext>
            </a:extLst>
          </p:cNvPr>
          <p:cNvSpPr>
            <a:spLocks xmlns:a="http://schemas.openxmlformats.org/drawingml/2006/main" noGrp="1"/>
          </p:cNvSpPr>
          <p:nvPr/>
        </p:nvSpPr>
        <p:spPr>
          <a:xfrm xmlns:a="http://schemas.openxmlformats.org/drawingml/2006/main">
            <a:off x="7753350" y="27717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39DAD7E-7CB8-4E96-B3C4-3FFD3CA667E3}"/>
              </a:ext>
            </a:extLst>
          </p:cNvPr>
          <p:cNvSpPr>
            <a:spLocks xmlns:a="http://schemas.openxmlformats.org/drawingml/2006/main" noGrp="1"/>
          </p:cNvSpPr>
          <p:nvPr/>
        </p:nvSpPr>
        <p:spPr>
          <a:xfrm xmlns:a="http://schemas.openxmlformats.org/drawingml/2006/main">
            <a:off x="7753350" y="22479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POS</a:t>
            </a:r>
          </a:p>
        </p:txBody>
      </p:sp>
      <p:sp>
        <p:nvSpPr>
          <p:cNvPr id="10" name="">
            <a:extLst xmlns:a="http://schemas.openxmlformats.org/drawingml/2006/main">
              <a:ext uri="{FF2B5EF4-FFF2-40B4-BE49-F238E27FC236}">
                <a16:creationId xmlns:a16="http://schemas.microsoft.com/office/drawing/2014/main" id="{D9303796-38B4-4064-BF8F-6E85D71F0486}"/>
              </a:ext>
            </a:extLst>
          </p:cNvPr>
          <p:cNvSpPr>
            <a:spLocks xmlns:a="http://schemas.openxmlformats.org/drawingml/2006/main" noGrp="1"/>
          </p:cNvSpPr>
          <p:nvPr/>
        </p:nvSpPr>
        <p:spPr>
          <a:xfrm xmlns:a="http://schemas.openxmlformats.org/drawingml/2006/main">
            <a:off x="9010650" y="22479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Offline bruikbaar, snel aan de kassa</a:t>
            </a:r>
          </a:p>
        </p:txBody>
      </p:sp>
      <p:sp>
        <p:nvSpPr>
          <p:cNvPr id="11" name="">
            <a:extLst xmlns:a="http://schemas.openxmlformats.org/drawingml/2006/main">
              <a:ext uri="{FF2B5EF4-FFF2-40B4-BE49-F238E27FC236}">
                <a16:creationId xmlns:a16="http://schemas.microsoft.com/office/drawing/2014/main" id="{7768B5AC-8BCC-4887-8EC7-0C22B101151A}"/>
              </a:ext>
            </a:extLst>
          </p:cNvPr>
          <p:cNvSpPr>
            <a:spLocks xmlns:a="http://schemas.openxmlformats.org/drawingml/2006/main" noGrp="1"/>
          </p:cNvSpPr>
          <p:nvPr/>
        </p:nvSpPr>
        <p:spPr>
          <a:xfrm xmlns:a="http://schemas.openxmlformats.org/drawingml/2006/main">
            <a:off x="7753350" y="34575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AEBA62-5906-41C5-BEB1-048D2D79BF89}"/>
              </a:ext>
            </a:extLst>
          </p:cNvPr>
          <p:cNvSpPr>
            <a:spLocks xmlns:a="http://schemas.openxmlformats.org/drawingml/2006/main" noGrp="1"/>
          </p:cNvSpPr>
          <p:nvPr/>
        </p:nvSpPr>
        <p:spPr>
          <a:xfrm xmlns:a="http://schemas.openxmlformats.org/drawingml/2006/main">
            <a:off x="7753350" y="29337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Voorraad</a:t>
            </a:r>
          </a:p>
        </p:txBody>
      </p:sp>
      <p:sp>
        <p:nvSpPr>
          <p:cNvPr id="13" name="">
            <a:extLst xmlns:a="http://schemas.openxmlformats.org/drawingml/2006/main">
              <a:ext uri="{FF2B5EF4-FFF2-40B4-BE49-F238E27FC236}">
                <a16:creationId xmlns:a16="http://schemas.microsoft.com/office/drawing/2014/main" id="{F882E364-0D73-4134-8259-8208AB0958D4}"/>
              </a:ext>
            </a:extLst>
          </p:cNvPr>
          <p:cNvSpPr>
            <a:spLocks xmlns:a="http://schemas.openxmlformats.org/drawingml/2006/main" noGrp="1"/>
          </p:cNvSpPr>
          <p:nvPr/>
        </p:nvSpPr>
        <p:spPr>
          <a:xfrm xmlns:a="http://schemas.openxmlformats.org/drawingml/2006/main">
            <a:off x="9010650" y="29337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Bewegingen, telling, besteladvies</a:t>
            </a:r>
          </a:p>
        </p:txBody>
      </p:sp>
      <p:sp>
        <p:nvSpPr>
          <p:cNvPr id="14" name="">
            <a:extLst xmlns:a="http://schemas.openxmlformats.org/drawingml/2006/main">
              <a:ext uri="{FF2B5EF4-FFF2-40B4-BE49-F238E27FC236}">
                <a16:creationId xmlns:a16="http://schemas.microsoft.com/office/drawing/2014/main" id="{E8924B79-10BE-4F9D-9923-94B8786C5B87}"/>
              </a:ext>
            </a:extLst>
          </p:cNvPr>
          <p:cNvSpPr>
            <a:spLocks xmlns:a="http://schemas.openxmlformats.org/drawingml/2006/main" noGrp="1"/>
          </p:cNvSpPr>
          <p:nvPr/>
        </p:nvSpPr>
        <p:spPr>
          <a:xfrm xmlns:a="http://schemas.openxmlformats.org/drawingml/2006/main">
            <a:off x="7753350" y="41433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488FAA3-812D-46F6-9FA3-39AB35ED3FD7}"/>
              </a:ext>
            </a:extLst>
          </p:cNvPr>
          <p:cNvSpPr>
            <a:spLocks xmlns:a="http://schemas.openxmlformats.org/drawingml/2006/main" noGrp="1"/>
          </p:cNvSpPr>
          <p:nvPr/>
        </p:nvSpPr>
        <p:spPr>
          <a:xfrm xmlns:a="http://schemas.openxmlformats.org/drawingml/2006/main">
            <a:off x="7753350" y="36195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Klanten</a:t>
            </a:r>
          </a:p>
        </p:txBody>
      </p:sp>
      <p:sp>
        <p:nvSpPr>
          <p:cNvPr id="16" name="">
            <a:extLst xmlns:a="http://schemas.openxmlformats.org/drawingml/2006/main">
              <a:ext uri="{FF2B5EF4-FFF2-40B4-BE49-F238E27FC236}">
                <a16:creationId xmlns:a16="http://schemas.microsoft.com/office/drawing/2014/main" id="{49E641E6-3F4C-4F75-B90E-F2E31B4A10CA}"/>
              </a:ext>
            </a:extLst>
          </p:cNvPr>
          <p:cNvSpPr>
            <a:spLocks xmlns:a="http://schemas.openxmlformats.org/drawingml/2006/main" noGrp="1"/>
          </p:cNvSpPr>
          <p:nvPr/>
        </p:nvSpPr>
        <p:spPr>
          <a:xfrm xmlns:a="http://schemas.openxmlformats.org/drawingml/2006/main">
            <a:off x="9010650" y="36195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CRM, loyaliteit en aankoopcontext</a:t>
            </a:r>
          </a:p>
        </p:txBody>
      </p:sp>
      <p:sp>
        <p:nvSpPr>
          <p:cNvPr id="17" name="">
            <a:extLst xmlns:a="http://schemas.openxmlformats.org/drawingml/2006/main">
              <a:ext uri="{FF2B5EF4-FFF2-40B4-BE49-F238E27FC236}">
                <a16:creationId xmlns:a16="http://schemas.microsoft.com/office/drawing/2014/main" id="{C5B9206E-81E8-40B0-97A2-45DEF2368335}"/>
              </a:ext>
            </a:extLst>
          </p:cNvPr>
          <p:cNvSpPr>
            <a:spLocks xmlns:a="http://schemas.openxmlformats.org/drawingml/2006/main" noGrp="1"/>
          </p:cNvSpPr>
          <p:nvPr/>
        </p:nvSpPr>
        <p:spPr>
          <a:xfrm xmlns:a="http://schemas.openxmlformats.org/drawingml/2006/main">
            <a:off x="7753350" y="48291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341A44-266F-4154-8EB3-8DCA863C9956}"/>
              </a:ext>
            </a:extLst>
          </p:cNvPr>
          <p:cNvSpPr>
            <a:spLocks xmlns:a="http://schemas.openxmlformats.org/drawingml/2006/main" noGrp="1"/>
          </p:cNvSpPr>
          <p:nvPr/>
        </p:nvSpPr>
        <p:spPr>
          <a:xfrm xmlns:a="http://schemas.openxmlformats.org/drawingml/2006/main">
            <a:off x="7753350" y="43053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Webshop</a:t>
            </a:r>
          </a:p>
        </p:txBody>
      </p:sp>
      <p:sp>
        <p:nvSpPr>
          <p:cNvPr id="19" name="">
            <a:extLst xmlns:a="http://schemas.openxmlformats.org/drawingml/2006/main">
              <a:ext uri="{FF2B5EF4-FFF2-40B4-BE49-F238E27FC236}">
                <a16:creationId xmlns:a16="http://schemas.microsoft.com/office/drawing/2014/main" id="{57069A0A-C2D5-4B0D-A69F-EA9690675385}"/>
              </a:ext>
            </a:extLst>
          </p:cNvPr>
          <p:cNvSpPr>
            <a:spLocks xmlns:a="http://schemas.openxmlformats.org/drawingml/2006/main" noGrp="1"/>
          </p:cNvSpPr>
          <p:nvPr/>
        </p:nvSpPr>
        <p:spPr>
          <a:xfrm xmlns:a="http://schemas.openxmlformats.org/drawingml/2006/main">
            <a:off x="9010650" y="43053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Gedeelde catalogus en live voorraad</a:t>
            </a:r>
          </a:p>
        </p:txBody>
      </p:sp>
      <p:sp>
        <p:nvSpPr>
          <p:cNvPr id="20" name="">
            <a:extLst xmlns:a="http://schemas.openxmlformats.org/drawingml/2006/main">
              <a:ext uri="{FF2B5EF4-FFF2-40B4-BE49-F238E27FC236}">
                <a16:creationId xmlns:a16="http://schemas.microsoft.com/office/drawing/2014/main" id="{6F2EF21C-288F-42DA-A15A-B468587055D9}"/>
              </a:ext>
            </a:extLst>
          </p:cNvPr>
          <p:cNvSpPr>
            <a:spLocks xmlns:a="http://schemas.openxmlformats.org/drawingml/2006/main" noGrp="1"/>
          </p:cNvSpPr>
          <p:nvPr/>
        </p:nvSpPr>
        <p:spPr>
          <a:xfrm xmlns:a="http://schemas.openxmlformats.org/drawingml/2006/main">
            <a:off x="7753350" y="5514975"/>
            <a:ext cx="365760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741061D-D901-43FC-9F33-F2F18A26520F}"/>
              </a:ext>
            </a:extLst>
          </p:cNvPr>
          <p:cNvSpPr>
            <a:spLocks xmlns:a="http://schemas.openxmlformats.org/drawingml/2006/main" noGrp="1"/>
          </p:cNvSpPr>
          <p:nvPr/>
        </p:nvSpPr>
        <p:spPr>
          <a:xfrm xmlns:a="http://schemas.openxmlformats.org/drawingml/2006/main">
            <a:off x="7753350" y="49911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Pace</a:t>
            </a:r>
          </a:p>
        </p:txBody>
      </p:sp>
      <p:sp>
        <p:nvSpPr>
          <p:cNvPr id="22" name="">
            <a:extLst xmlns:a="http://schemas.openxmlformats.org/drawingml/2006/main">
              <a:ext uri="{FF2B5EF4-FFF2-40B4-BE49-F238E27FC236}">
                <a16:creationId xmlns:a16="http://schemas.microsoft.com/office/drawing/2014/main" id="{5FD8F9E9-62CD-448A-8B8B-9A8A210EFF0C}"/>
              </a:ext>
            </a:extLst>
          </p:cNvPr>
          <p:cNvSpPr>
            <a:spLocks xmlns:a="http://schemas.openxmlformats.org/drawingml/2006/main" noGrp="1"/>
          </p:cNvSpPr>
          <p:nvPr/>
        </p:nvSpPr>
        <p:spPr>
          <a:xfrm xmlns:a="http://schemas.openxmlformats.org/drawingml/2006/main">
            <a:off x="9010650" y="49911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Signalen vertalen naar concrete acties</a:t>
            </a:r>
          </a:p>
        </p:txBody>
      </p:sp>
    </p:spTree>
    <p:extLst>
      <p:ext uri="{BB962C8B-B14F-4D97-AF65-F5344CB8AC3E}">
        <p14:creationId xmlns:p14="http://schemas.microsoft.com/office/powerpoint/2010/main" val="2285409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36C0876-F537-4D75-ADD9-191F61753A54}"/>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BEWIJS VANDAAG</a:t>
            </a:r>
          </a:p>
        </p:txBody>
      </p:sp>
      <p:sp>
        <p:nvSpPr>
          <p:cNvPr id="2" name="">
            <a:extLst xmlns:a="http://schemas.openxmlformats.org/drawingml/2006/main">
              <a:ext uri="{FF2B5EF4-FFF2-40B4-BE49-F238E27FC236}">
                <a16:creationId xmlns:a16="http://schemas.microsoft.com/office/drawing/2014/main" id="{624E0BE0-17F1-4766-8DC8-76D24C64A6AA}"/>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Het productrisico is verlaagd; het commerciële risico is de volgende stap.</a:t>
            </a:r>
          </a:p>
        </p:txBody>
      </p:sp>
      <p:sp>
        <p:nvSpPr>
          <p:cNvPr id="3" name="">
            <a:extLst xmlns:a="http://schemas.openxmlformats.org/drawingml/2006/main">
              <a:ext uri="{FF2B5EF4-FFF2-40B4-BE49-F238E27FC236}">
                <a16:creationId xmlns:a16="http://schemas.microsoft.com/office/drawing/2014/main" id="{35EC0F52-42C7-4B3E-813C-CB47F048F88F}"/>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D6C4C518-5A8B-460A-93AD-895649017567}"/>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5192FEFE-568B-40D2-BFAC-B94F4F4B1A47}"/>
              </a:ext>
            </a:extLst>
          </p:cNvPr>
          <p:cNvSpPr>
            <a:spLocks xmlns:a="http://schemas.openxmlformats.org/drawingml/2006/main" noGrp="1"/>
          </p:cNvSpPr>
          <p:nvPr/>
        </p:nvSpPr>
        <p:spPr>
          <a:xfrm xmlns:a="http://schemas.openxmlformats.org/drawingml/2006/main">
            <a:off x="400050" y="161925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54"/>
          </a:bodyPr>
          <a:lstStyle xmlns:a="http://schemas.openxmlformats.org/drawingml/2006/main"/>
          <a:p xmlns:a="http://schemas.openxmlformats.org/drawingml/2006/main">
            <a:pPr algn="l">
              <a:defRPr sz="1950" b="1">
                <a:solidFill>
                  <a:srgbClr val="0B1220"/>
                </a:solidFill>
                <a:latin typeface="Helvetica Neue"/>
                <a:ea typeface="Helvetica Neue"/>
                <a:cs typeface="Helvetica Neue"/>
              </a:defRPr>
            </a:pPr>
            <a:r>
              <a:rPr sz="1950" b="1">
                <a:solidFill>
                  <a:srgbClr val="0B1220"/>
                </a:solidFill>
                <a:latin typeface="Helvetica Neue"/>
                <a:ea typeface="Helvetica Neue"/>
                <a:cs typeface="Helvetica Neue"/>
              </a:rPr>
              <a:t>Technische basis die al bestaat</a:t>
            </a:r>
          </a:p>
        </p:txBody>
      </p:sp>
      <p:sp>
        <p:nvSpPr>
          <p:cNvPr id="6" name="">
            <a:extLst xmlns:a="http://schemas.openxmlformats.org/drawingml/2006/main">
              <a:ext uri="{FF2B5EF4-FFF2-40B4-BE49-F238E27FC236}">
                <a16:creationId xmlns:a16="http://schemas.microsoft.com/office/drawing/2014/main" id="{EB4DBC72-D4CC-4AE7-9B10-3FF8853753BD}"/>
              </a:ext>
            </a:extLst>
          </p:cNvPr>
          <p:cNvSpPr>
            <a:spLocks xmlns:a="http://schemas.openxmlformats.org/drawingml/2006/main" noGrp="1"/>
          </p:cNvSpPr>
          <p:nvPr/>
        </p:nvSpPr>
        <p:spPr>
          <a:xfrm xmlns:a="http://schemas.openxmlformats.org/drawingml/2006/main">
            <a:off x="400050" y="2247900"/>
            <a:ext cx="3333750" cy="238125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89A5C61-0370-4C13-AE3D-4DCF24121943}"/>
              </a:ext>
            </a:extLst>
          </p:cNvPr>
          <p:cNvSpPr>
            <a:spLocks xmlns:a="http://schemas.openxmlformats.org/drawingml/2006/main" noGrp="1"/>
          </p:cNvSpPr>
          <p:nvPr/>
        </p:nvSpPr>
        <p:spPr>
          <a:xfrm xmlns:a="http://schemas.openxmlformats.org/drawingml/2006/main">
            <a:off x="62865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72</a:t>
            </a:r>
          </a:p>
        </p:txBody>
      </p:sp>
      <p:sp>
        <p:nvSpPr>
          <p:cNvPr id="8" name="">
            <a:extLst xmlns:a="http://schemas.openxmlformats.org/drawingml/2006/main">
              <a:ext uri="{FF2B5EF4-FFF2-40B4-BE49-F238E27FC236}">
                <a16:creationId xmlns:a16="http://schemas.microsoft.com/office/drawing/2014/main" id="{3258C4B5-84D5-4FC5-832C-F5141A31FC3C}"/>
              </a:ext>
            </a:extLst>
          </p:cNvPr>
          <p:cNvSpPr>
            <a:spLocks xmlns:a="http://schemas.openxmlformats.org/drawingml/2006/main" noGrp="1"/>
          </p:cNvSpPr>
          <p:nvPr/>
        </p:nvSpPr>
        <p:spPr>
          <a:xfrm xmlns:a="http://schemas.openxmlformats.org/drawingml/2006/main">
            <a:off x="62865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Supabase-migraties</a:t>
            </a:r>
          </a:p>
        </p:txBody>
      </p:sp>
      <p:sp>
        <p:nvSpPr>
          <p:cNvPr id="9" name="">
            <a:extLst xmlns:a="http://schemas.openxmlformats.org/drawingml/2006/main">
              <a:ext uri="{FF2B5EF4-FFF2-40B4-BE49-F238E27FC236}">
                <a16:creationId xmlns:a16="http://schemas.microsoft.com/office/drawing/2014/main" id="{1E5B677E-8494-48DF-873D-D170C8B0339D}"/>
              </a:ext>
            </a:extLst>
          </p:cNvPr>
          <p:cNvSpPr>
            <a:spLocks xmlns:a="http://schemas.openxmlformats.org/drawingml/2006/main" noGrp="1"/>
          </p:cNvSpPr>
          <p:nvPr/>
        </p:nvSpPr>
        <p:spPr>
          <a:xfrm xmlns:a="http://schemas.openxmlformats.org/drawingml/2006/main">
            <a:off x="62865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multi-tenant data, RLS en operationele workflows</a:t>
            </a:r>
          </a:p>
        </p:txBody>
      </p:sp>
      <p:sp>
        <p:nvSpPr>
          <p:cNvPr id="10" name="">
            <a:extLst xmlns:a="http://schemas.openxmlformats.org/drawingml/2006/main">
              <a:ext uri="{FF2B5EF4-FFF2-40B4-BE49-F238E27FC236}">
                <a16:creationId xmlns:a16="http://schemas.microsoft.com/office/drawing/2014/main" id="{F387FF7A-51C8-4610-8BE7-216391BD3725}"/>
              </a:ext>
            </a:extLst>
          </p:cNvPr>
          <p:cNvSpPr>
            <a:spLocks xmlns:a="http://schemas.openxmlformats.org/drawingml/2006/main" noGrp="1"/>
          </p:cNvSpPr>
          <p:nvPr/>
        </p:nvSpPr>
        <p:spPr>
          <a:xfrm xmlns:a="http://schemas.openxmlformats.org/drawingml/2006/main">
            <a:off x="4114800" y="2247900"/>
            <a:ext cx="3333750" cy="23812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3CAB9A3-AE1E-472A-95FC-084CDD0C51E1}"/>
              </a:ext>
            </a:extLst>
          </p:cNvPr>
          <p:cNvSpPr>
            <a:spLocks xmlns:a="http://schemas.openxmlformats.org/drawingml/2006/main" noGrp="1"/>
          </p:cNvSpPr>
          <p:nvPr/>
        </p:nvSpPr>
        <p:spPr>
          <a:xfrm xmlns:a="http://schemas.openxmlformats.org/drawingml/2006/main">
            <a:off x="434340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308</a:t>
            </a:r>
          </a:p>
        </p:txBody>
      </p:sp>
      <p:sp>
        <p:nvSpPr>
          <p:cNvPr id="12" name="">
            <a:extLst xmlns:a="http://schemas.openxmlformats.org/drawingml/2006/main">
              <a:ext uri="{FF2B5EF4-FFF2-40B4-BE49-F238E27FC236}">
                <a16:creationId xmlns:a16="http://schemas.microsoft.com/office/drawing/2014/main" id="{F092A347-0981-4429-990E-2E1AE6E2892F}"/>
              </a:ext>
            </a:extLst>
          </p:cNvPr>
          <p:cNvSpPr>
            <a:spLocks xmlns:a="http://schemas.openxmlformats.org/drawingml/2006/main" noGrp="1"/>
          </p:cNvSpPr>
          <p:nvPr/>
        </p:nvSpPr>
        <p:spPr>
          <a:xfrm xmlns:a="http://schemas.openxmlformats.org/drawingml/2006/main">
            <a:off x="434340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producten gevalideerd</a:t>
            </a:r>
          </a:p>
        </p:txBody>
      </p:sp>
      <p:sp>
        <p:nvSpPr>
          <p:cNvPr id="13" name="">
            <a:extLst xmlns:a="http://schemas.openxmlformats.org/drawingml/2006/main">
              <a:ext uri="{FF2B5EF4-FFF2-40B4-BE49-F238E27FC236}">
                <a16:creationId xmlns:a16="http://schemas.microsoft.com/office/drawing/2014/main" id="{F57DF5E8-C82C-46D2-84CA-7CCC4347B751}"/>
              </a:ext>
            </a:extLst>
          </p:cNvPr>
          <p:cNvSpPr>
            <a:spLocks xmlns:a="http://schemas.openxmlformats.org/drawingml/2006/main" noGrp="1"/>
          </p:cNvSpPr>
          <p:nvPr/>
        </p:nvSpPr>
        <p:spPr>
          <a:xfrm xmlns:a="http://schemas.openxmlformats.org/drawingml/2006/main">
            <a:off x="434340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families, varianten, identifiers en voorraadprofielen</a:t>
            </a:r>
          </a:p>
        </p:txBody>
      </p:sp>
      <p:sp>
        <p:nvSpPr>
          <p:cNvPr id="14" name="">
            <a:extLst xmlns:a="http://schemas.openxmlformats.org/drawingml/2006/main">
              <a:ext uri="{FF2B5EF4-FFF2-40B4-BE49-F238E27FC236}">
                <a16:creationId xmlns:a16="http://schemas.microsoft.com/office/drawing/2014/main" id="{E1C866C4-4D67-4022-9009-E3BA5168BD2E}"/>
              </a:ext>
            </a:extLst>
          </p:cNvPr>
          <p:cNvSpPr>
            <a:spLocks xmlns:a="http://schemas.openxmlformats.org/drawingml/2006/main" noGrp="1"/>
          </p:cNvSpPr>
          <p:nvPr/>
        </p:nvSpPr>
        <p:spPr>
          <a:xfrm xmlns:a="http://schemas.openxmlformats.org/drawingml/2006/main">
            <a:off x="7829550" y="2247900"/>
            <a:ext cx="3333750" cy="23812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536FB05-7224-4833-9ACF-0D99174B5937}"/>
              </a:ext>
            </a:extLst>
          </p:cNvPr>
          <p:cNvSpPr>
            <a:spLocks xmlns:a="http://schemas.openxmlformats.org/drawingml/2006/main" noGrp="1"/>
          </p:cNvSpPr>
          <p:nvPr/>
        </p:nvSpPr>
        <p:spPr>
          <a:xfrm xmlns:a="http://schemas.openxmlformats.org/drawingml/2006/main">
            <a:off x="805815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1.997</a:t>
            </a:r>
          </a:p>
        </p:txBody>
      </p:sp>
      <p:sp>
        <p:nvSpPr>
          <p:cNvPr id="16" name="">
            <a:extLst xmlns:a="http://schemas.openxmlformats.org/drawingml/2006/main">
              <a:ext uri="{FF2B5EF4-FFF2-40B4-BE49-F238E27FC236}">
                <a16:creationId xmlns:a16="http://schemas.microsoft.com/office/drawing/2014/main" id="{E4AFC472-51F0-4B6C-8C56-7CBC02B2A803}"/>
              </a:ext>
            </a:extLst>
          </p:cNvPr>
          <p:cNvSpPr>
            <a:spLocks xmlns:a="http://schemas.openxmlformats.org/drawingml/2006/main" noGrp="1"/>
          </p:cNvSpPr>
          <p:nvPr/>
        </p:nvSpPr>
        <p:spPr>
          <a:xfrm xmlns:a="http://schemas.openxmlformats.org/drawingml/2006/main">
            <a:off x="805815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historische transacties</a:t>
            </a:r>
          </a:p>
        </p:txBody>
      </p:sp>
      <p:sp>
        <p:nvSpPr>
          <p:cNvPr id="17" name="">
            <a:extLst xmlns:a="http://schemas.openxmlformats.org/drawingml/2006/main">
              <a:ext uri="{FF2B5EF4-FFF2-40B4-BE49-F238E27FC236}">
                <a16:creationId xmlns:a16="http://schemas.microsoft.com/office/drawing/2014/main" id="{67838DFD-5CEE-4C6E-B429-1BEDEB9F2604}"/>
              </a:ext>
            </a:extLst>
          </p:cNvPr>
          <p:cNvSpPr>
            <a:spLocks xmlns:a="http://schemas.openxmlformats.org/drawingml/2006/main" noGrp="1"/>
          </p:cNvSpPr>
          <p:nvPr/>
        </p:nvSpPr>
        <p:spPr>
          <a:xfrm xmlns:a="http://schemas.openxmlformats.org/drawingml/2006/main">
            <a:off x="805815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bewaard met geldige fiscale snapshots</a:t>
            </a:r>
          </a:p>
        </p:txBody>
      </p:sp>
      <p:sp>
        <p:nvSpPr>
          <p:cNvPr id="18" name="">
            <a:extLst xmlns:a="http://schemas.openxmlformats.org/drawingml/2006/main">
              <a:ext uri="{FF2B5EF4-FFF2-40B4-BE49-F238E27FC236}">
                <a16:creationId xmlns:a16="http://schemas.microsoft.com/office/drawing/2014/main" id="{79257645-84E3-4303-972B-533B607B1779}"/>
              </a:ext>
            </a:extLst>
          </p:cNvPr>
          <p:cNvSpPr>
            <a:spLocks xmlns:a="http://schemas.openxmlformats.org/drawingml/2006/main" noGrp="1"/>
          </p:cNvSpPr>
          <p:nvPr/>
        </p:nvSpPr>
        <p:spPr>
          <a:xfrm xmlns:a="http://schemas.openxmlformats.org/drawingml/2006/main">
            <a:off x="400050" y="5067300"/>
            <a:ext cx="10763250" cy="6858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DE4C72B-6E6C-4AF9-B6D3-1889DD72E933}"/>
              </a:ext>
            </a:extLst>
          </p:cNvPr>
          <p:cNvSpPr>
            <a:spLocks xmlns:a="http://schemas.openxmlformats.org/drawingml/2006/main" noGrp="1"/>
          </p:cNvSpPr>
          <p:nvPr/>
        </p:nvSpPr>
        <p:spPr>
          <a:xfrm xmlns:a="http://schemas.openxmlformats.org/drawingml/2006/main">
            <a:off x="647700" y="52768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Eerlijk uitgangspunt: dit is productbewijs, geen claim van bewezen paid traction.</a:t>
            </a:r>
          </a:p>
        </p:txBody>
      </p:sp>
    </p:spTree>
    <p:extLst>
      <p:ext uri="{BB962C8B-B14F-4D97-AF65-F5344CB8AC3E}">
        <p14:creationId xmlns:p14="http://schemas.microsoft.com/office/powerpoint/2010/main" val="19967090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70C5614-40D3-4BA4-9595-7C441BDE0326}"/>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VERDIENMODEL</a:t>
            </a:r>
          </a:p>
        </p:txBody>
      </p:sp>
      <p:sp>
        <p:nvSpPr>
          <p:cNvPr id="2" name="">
            <a:extLst xmlns:a="http://schemas.openxmlformats.org/drawingml/2006/main">
              <a:ext uri="{FF2B5EF4-FFF2-40B4-BE49-F238E27FC236}">
                <a16:creationId xmlns:a16="http://schemas.microsoft.com/office/drawing/2014/main" id="{FF75BC59-0B70-431F-9D50-1FFDB228E762}"/>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Een eenvoudig abonnement — met ruimte om per locatie mee te groeien.</a:t>
            </a:r>
          </a:p>
        </p:txBody>
      </p:sp>
      <p:sp>
        <p:nvSpPr>
          <p:cNvPr id="3" name="">
            <a:extLst xmlns:a="http://schemas.openxmlformats.org/drawingml/2006/main">
              <a:ext uri="{FF2B5EF4-FFF2-40B4-BE49-F238E27FC236}">
                <a16:creationId xmlns:a16="http://schemas.microsoft.com/office/drawing/2014/main" id="{64CE55A7-6499-439F-956C-90DA3914F743}"/>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0DAB6E10-F614-4F40-A46C-92289BC59DFC}"/>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9903A6EE-C4BF-4B92-9997-961FB9077991}"/>
              </a:ext>
            </a:extLst>
          </p:cNvPr>
          <p:cNvSpPr>
            <a:spLocks xmlns:a="http://schemas.openxmlformats.org/drawingml/2006/main" noGrp="1"/>
          </p:cNvSpPr>
          <p:nvPr/>
        </p:nvSpPr>
        <p:spPr>
          <a:xfrm xmlns:a="http://schemas.openxmlformats.org/drawingml/2006/main">
            <a:off x="400050" y="1714500"/>
            <a:ext cx="3429000" cy="31242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8345A1F-E0D2-439D-B879-24E7D5B49A1B}"/>
              </a:ext>
            </a:extLst>
          </p:cNvPr>
          <p:cNvSpPr>
            <a:spLocks xmlns:a="http://schemas.openxmlformats.org/drawingml/2006/main" noGrp="1"/>
          </p:cNvSpPr>
          <p:nvPr/>
        </p:nvSpPr>
        <p:spPr>
          <a:xfrm xmlns:a="http://schemas.openxmlformats.org/drawingml/2006/main">
            <a:off x="628650" y="19812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ACQUISITIE</a:t>
            </a:r>
          </a:p>
        </p:txBody>
      </p:sp>
      <p:sp>
        <p:nvSpPr>
          <p:cNvPr id="7" name="">
            <a:extLst xmlns:a="http://schemas.openxmlformats.org/drawingml/2006/main">
              <a:ext uri="{FF2B5EF4-FFF2-40B4-BE49-F238E27FC236}">
                <a16:creationId xmlns:a16="http://schemas.microsoft.com/office/drawing/2014/main" id="{327A6D4D-F257-4AD7-BB0B-7B3F86136CD9}"/>
              </a:ext>
            </a:extLst>
          </p:cNvPr>
          <p:cNvSpPr>
            <a:spLocks xmlns:a="http://schemas.openxmlformats.org/drawingml/2006/main" noGrp="1"/>
          </p:cNvSpPr>
          <p:nvPr/>
        </p:nvSpPr>
        <p:spPr>
          <a:xfrm xmlns:a="http://schemas.openxmlformats.org/drawingml/2006/main">
            <a:off x="628650" y="240030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Basis</a:t>
            </a:r>
          </a:p>
        </p:txBody>
      </p:sp>
      <p:sp>
        <p:nvSpPr>
          <p:cNvPr id="8" name="">
            <a:extLst xmlns:a="http://schemas.openxmlformats.org/drawingml/2006/main">
              <a:ext uri="{FF2B5EF4-FFF2-40B4-BE49-F238E27FC236}">
                <a16:creationId xmlns:a16="http://schemas.microsoft.com/office/drawing/2014/main" id="{3BF2D08C-F404-489E-8109-66DAC50A5EC7}"/>
              </a:ext>
            </a:extLst>
          </p:cNvPr>
          <p:cNvSpPr>
            <a:spLocks xmlns:a="http://schemas.openxmlformats.org/drawingml/2006/main" noGrp="1"/>
          </p:cNvSpPr>
          <p:nvPr/>
        </p:nvSpPr>
        <p:spPr>
          <a:xfrm xmlns:a="http://schemas.openxmlformats.org/drawingml/2006/main">
            <a:off x="628650" y="31432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B1220"/>
                </a:solidFill>
                <a:latin typeface="Helvetica Neue"/>
                <a:ea typeface="Helvetica Neue"/>
                <a:cs typeface="Helvetica Neue"/>
              </a:defRPr>
            </a:pPr>
            <a:r>
              <a:rPr sz="2475" b="1">
                <a:solidFill>
                  <a:srgbClr val="0B1220"/>
                </a:solidFill>
                <a:latin typeface="Helvetica Neue"/>
                <a:ea typeface="Helvetica Neue"/>
                <a:cs typeface="Helvetica Neue"/>
              </a:rPr>
              <a:t>€ 0</a:t>
            </a:r>
          </a:p>
        </p:txBody>
      </p:sp>
      <p:sp>
        <p:nvSpPr>
          <p:cNvPr id="9" name="">
            <a:extLst xmlns:a="http://schemas.openxmlformats.org/drawingml/2006/main">
              <a:ext uri="{FF2B5EF4-FFF2-40B4-BE49-F238E27FC236}">
                <a16:creationId xmlns:a16="http://schemas.microsoft.com/office/drawing/2014/main" id="{D9455B74-F1F8-4E0B-B632-3A660C619352}"/>
              </a:ext>
            </a:extLst>
          </p:cNvPr>
          <p:cNvSpPr>
            <a:spLocks xmlns:a="http://schemas.openxmlformats.org/drawingml/2006/main" noGrp="1"/>
          </p:cNvSpPr>
          <p:nvPr/>
        </p:nvSpPr>
        <p:spPr>
          <a:xfrm xmlns:a="http://schemas.openxmlformats.org/drawingml/2006/main">
            <a:off x="628650" y="38671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1 locatie · 250 producten</a:t>
            </a:r>
          </a:p>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Basis POS en voorraad</a:t>
            </a:r>
          </a:p>
        </p:txBody>
      </p:sp>
      <p:sp>
        <p:nvSpPr>
          <p:cNvPr id="10" name="">
            <a:extLst xmlns:a="http://schemas.openxmlformats.org/drawingml/2006/main">
              <a:ext uri="{FF2B5EF4-FFF2-40B4-BE49-F238E27FC236}">
                <a16:creationId xmlns:a16="http://schemas.microsoft.com/office/drawing/2014/main" id="{C8939162-986D-4D27-83CC-86D9C7B6D86C}"/>
              </a:ext>
            </a:extLst>
          </p:cNvPr>
          <p:cNvSpPr>
            <a:spLocks xmlns:a="http://schemas.openxmlformats.org/drawingml/2006/main" noGrp="1"/>
          </p:cNvSpPr>
          <p:nvPr/>
        </p:nvSpPr>
        <p:spPr>
          <a:xfrm xmlns:a="http://schemas.openxmlformats.org/drawingml/2006/main">
            <a:off x="4191000" y="1714500"/>
            <a:ext cx="3429000" cy="312420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2171265-0ED8-4DE7-95EF-1C76AE7A9FC4}"/>
              </a:ext>
            </a:extLst>
          </p:cNvPr>
          <p:cNvSpPr>
            <a:spLocks xmlns:a="http://schemas.openxmlformats.org/drawingml/2006/main" noGrp="1"/>
          </p:cNvSpPr>
          <p:nvPr/>
        </p:nvSpPr>
        <p:spPr>
          <a:xfrm xmlns:a="http://schemas.openxmlformats.org/drawingml/2006/main">
            <a:off x="4419600" y="19812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KERNPRODUCT</a:t>
            </a:r>
          </a:p>
        </p:txBody>
      </p:sp>
      <p:sp>
        <p:nvSpPr>
          <p:cNvPr id="12" name="">
            <a:extLst xmlns:a="http://schemas.openxmlformats.org/drawingml/2006/main">
              <a:ext uri="{FF2B5EF4-FFF2-40B4-BE49-F238E27FC236}">
                <a16:creationId xmlns:a16="http://schemas.microsoft.com/office/drawing/2014/main" id="{4A9D19AD-C129-400A-BBA5-83A21995E0C9}"/>
              </a:ext>
            </a:extLst>
          </p:cNvPr>
          <p:cNvSpPr>
            <a:spLocks xmlns:a="http://schemas.openxmlformats.org/drawingml/2006/main" noGrp="1"/>
          </p:cNvSpPr>
          <p:nvPr/>
        </p:nvSpPr>
        <p:spPr>
          <a:xfrm xmlns:a="http://schemas.openxmlformats.org/drawingml/2006/main">
            <a:off x="4419600" y="240030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Retail Professional</a:t>
            </a:r>
          </a:p>
        </p:txBody>
      </p:sp>
      <p:sp>
        <p:nvSpPr>
          <p:cNvPr id="13" name="">
            <a:extLst xmlns:a="http://schemas.openxmlformats.org/drawingml/2006/main">
              <a:ext uri="{FF2B5EF4-FFF2-40B4-BE49-F238E27FC236}">
                <a16:creationId xmlns:a16="http://schemas.microsoft.com/office/drawing/2014/main" id="{A13B17C5-2557-4253-AB46-77C10B4BA3A5}"/>
              </a:ext>
            </a:extLst>
          </p:cNvPr>
          <p:cNvSpPr>
            <a:spLocks xmlns:a="http://schemas.openxmlformats.org/drawingml/2006/main" noGrp="1"/>
          </p:cNvSpPr>
          <p:nvPr/>
        </p:nvSpPr>
        <p:spPr>
          <a:xfrm xmlns:a="http://schemas.openxmlformats.org/drawingml/2006/main">
            <a:off x="4419600" y="31432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B1220"/>
                </a:solidFill>
                <a:latin typeface="Helvetica Neue"/>
                <a:ea typeface="Helvetica Neue"/>
                <a:cs typeface="Helvetica Neue"/>
              </a:defRPr>
            </a:pPr>
            <a:r>
              <a:rPr sz="2475" b="1">
                <a:solidFill>
                  <a:srgbClr val="0B1220"/>
                </a:solidFill>
                <a:latin typeface="Helvetica Neue"/>
                <a:ea typeface="Helvetica Neue"/>
                <a:cs typeface="Helvetica Neue"/>
              </a:rPr>
              <a:t>€ 69/mnd</a:t>
            </a:r>
          </a:p>
        </p:txBody>
      </p:sp>
      <p:sp>
        <p:nvSpPr>
          <p:cNvPr id="14" name="">
            <a:extLst xmlns:a="http://schemas.openxmlformats.org/drawingml/2006/main">
              <a:ext uri="{FF2B5EF4-FFF2-40B4-BE49-F238E27FC236}">
                <a16:creationId xmlns:a16="http://schemas.microsoft.com/office/drawing/2014/main" id="{2A6CFBA3-8E89-4F1B-A031-93477547BC47}"/>
              </a:ext>
            </a:extLst>
          </p:cNvPr>
          <p:cNvSpPr>
            <a:spLocks xmlns:a="http://schemas.openxmlformats.org/drawingml/2006/main" noGrp="1"/>
          </p:cNvSpPr>
          <p:nvPr/>
        </p:nvSpPr>
        <p:spPr>
          <a:xfrm xmlns:a="http://schemas.openxmlformats.org/drawingml/2006/main">
            <a:off x="4419600" y="38671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Actieve winkels</a:t>
            </a:r>
          </a:p>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CRM · webshop · inzichten</a:t>
            </a:r>
          </a:p>
        </p:txBody>
      </p:sp>
      <p:sp>
        <p:nvSpPr>
          <p:cNvPr id="15" name="">
            <a:extLst xmlns:a="http://schemas.openxmlformats.org/drawingml/2006/main">
              <a:ext uri="{FF2B5EF4-FFF2-40B4-BE49-F238E27FC236}">
                <a16:creationId xmlns:a16="http://schemas.microsoft.com/office/drawing/2014/main" id="{A5B78169-AA84-49F4-AD8A-9AEABF4854E9}"/>
              </a:ext>
            </a:extLst>
          </p:cNvPr>
          <p:cNvSpPr>
            <a:spLocks xmlns:a="http://schemas.openxmlformats.org/drawingml/2006/main" noGrp="1"/>
          </p:cNvSpPr>
          <p:nvPr/>
        </p:nvSpPr>
        <p:spPr>
          <a:xfrm xmlns:a="http://schemas.openxmlformats.org/drawingml/2006/main">
            <a:off x="7981950" y="1714500"/>
            <a:ext cx="3429000" cy="31242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9EF10DE-3E60-4D4D-A9B6-218656DBA8DA}"/>
              </a:ext>
            </a:extLst>
          </p:cNvPr>
          <p:cNvSpPr>
            <a:spLocks xmlns:a="http://schemas.openxmlformats.org/drawingml/2006/main" noGrp="1"/>
          </p:cNvSpPr>
          <p:nvPr/>
        </p:nvSpPr>
        <p:spPr>
          <a:xfrm xmlns:a="http://schemas.openxmlformats.org/drawingml/2006/main">
            <a:off x="8210550" y="19812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UITBREIDING</a:t>
            </a:r>
          </a:p>
        </p:txBody>
      </p:sp>
      <p:sp>
        <p:nvSpPr>
          <p:cNvPr id="17" name="">
            <a:extLst xmlns:a="http://schemas.openxmlformats.org/drawingml/2006/main">
              <a:ext uri="{FF2B5EF4-FFF2-40B4-BE49-F238E27FC236}">
                <a16:creationId xmlns:a16="http://schemas.microsoft.com/office/drawing/2014/main" id="{8E64BA76-EEE8-4475-8FA2-108B00DEC3B5}"/>
              </a:ext>
            </a:extLst>
          </p:cNvPr>
          <p:cNvSpPr>
            <a:spLocks xmlns:a="http://schemas.openxmlformats.org/drawingml/2006/main" noGrp="1"/>
          </p:cNvSpPr>
          <p:nvPr/>
        </p:nvSpPr>
        <p:spPr>
          <a:xfrm xmlns:a="http://schemas.openxmlformats.org/drawingml/2006/main">
            <a:off x="8210550" y="240030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Enterprise &amp; ketens</a:t>
            </a:r>
          </a:p>
        </p:txBody>
      </p:sp>
      <p:sp>
        <p:nvSpPr>
          <p:cNvPr id="18" name="">
            <a:extLst xmlns:a="http://schemas.openxmlformats.org/drawingml/2006/main">
              <a:ext uri="{FF2B5EF4-FFF2-40B4-BE49-F238E27FC236}">
                <a16:creationId xmlns:a16="http://schemas.microsoft.com/office/drawing/2014/main" id="{C2C42826-E707-459E-AF02-F79B3C206CED}"/>
              </a:ext>
            </a:extLst>
          </p:cNvPr>
          <p:cNvSpPr>
            <a:spLocks xmlns:a="http://schemas.openxmlformats.org/drawingml/2006/main" noGrp="1"/>
          </p:cNvSpPr>
          <p:nvPr/>
        </p:nvSpPr>
        <p:spPr>
          <a:xfrm xmlns:a="http://schemas.openxmlformats.org/drawingml/2006/main">
            <a:off x="8210550" y="31432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B1220"/>
                </a:solidFill>
                <a:latin typeface="Helvetica Neue"/>
                <a:ea typeface="Helvetica Neue"/>
                <a:cs typeface="Helvetica Neue"/>
              </a:defRPr>
            </a:pPr>
            <a:r>
              <a:rPr sz="2475" b="1">
                <a:solidFill>
                  <a:srgbClr val="0B1220"/>
                </a:solidFill>
                <a:latin typeface="Helvetica Neue"/>
                <a:ea typeface="Helvetica Neue"/>
                <a:cs typeface="Helvetica Neue"/>
              </a:rPr>
              <a:t>vanaf € 149/mnd</a:t>
            </a:r>
          </a:p>
        </p:txBody>
      </p:sp>
      <p:sp>
        <p:nvSpPr>
          <p:cNvPr id="19" name="">
            <a:extLst xmlns:a="http://schemas.openxmlformats.org/drawingml/2006/main">
              <a:ext uri="{FF2B5EF4-FFF2-40B4-BE49-F238E27FC236}">
                <a16:creationId xmlns:a16="http://schemas.microsoft.com/office/drawing/2014/main" id="{C83B84B6-FF7E-4EA3-B06F-726284B00B82}"/>
              </a:ext>
            </a:extLst>
          </p:cNvPr>
          <p:cNvSpPr>
            <a:spLocks xmlns:a="http://schemas.openxmlformats.org/drawingml/2006/main" noGrp="1"/>
          </p:cNvSpPr>
          <p:nvPr/>
        </p:nvSpPr>
        <p:spPr>
          <a:xfrm xmlns:a="http://schemas.openxmlformats.org/drawingml/2006/main">
            <a:off x="8210550" y="38671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Multi-store · workforce</a:t>
            </a:r>
          </a:p>
          <a:p xmlns:a="http://schemas.openxmlformats.org/drawingml/2006/main">
            <a:pPr algn="l">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API · audit · AI-forecast</a:t>
            </a:r>
          </a:p>
        </p:txBody>
      </p:sp>
      <p:sp>
        <p:nvSpPr>
          <p:cNvPr id="20" name="">
            <a:extLst xmlns:a="http://schemas.openxmlformats.org/drawingml/2006/main">
              <a:ext uri="{FF2B5EF4-FFF2-40B4-BE49-F238E27FC236}">
                <a16:creationId xmlns:a16="http://schemas.microsoft.com/office/drawing/2014/main" id="{7B8C73C3-677D-4B68-9A29-75BB233DAFAA}"/>
              </a:ext>
            </a:extLst>
          </p:cNvPr>
          <p:cNvSpPr>
            <a:spLocks xmlns:a="http://schemas.openxmlformats.org/drawingml/2006/main" noGrp="1"/>
          </p:cNvSpPr>
          <p:nvPr/>
        </p:nvSpPr>
        <p:spPr>
          <a:xfrm xmlns:a="http://schemas.openxmlformats.org/drawingml/2006/main">
            <a:off x="400050" y="52768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0B1220"/>
                </a:solidFill>
                <a:latin typeface="Helvetica Neue"/>
                <a:ea typeface="Helvetica Neue"/>
                <a:cs typeface="Helvetica Neue"/>
              </a:defRPr>
            </a:pPr>
            <a:r>
              <a:rPr sz="1500" b="1">
                <a:solidFill>
                  <a:srgbClr val="0B1220"/>
                </a:solidFill>
                <a:latin typeface="Helvetica Neue"/>
                <a:ea typeface="Helvetica Neue"/>
                <a:cs typeface="Helvetica Neue"/>
              </a:rPr>
              <a:t>Base-case model</a:t>
            </a:r>
          </a:p>
        </p:txBody>
      </p:sp>
      <p:sp>
        <p:nvSpPr>
          <p:cNvPr id="21" name="">
            <a:extLst xmlns:a="http://schemas.openxmlformats.org/drawingml/2006/main">
              <a:ext uri="{FF2B5EF4-FFF2-40B4-BE49-F238E27FC236}">
                <a16:creationId xmlns:a16="http://schemas.microsoft.com/office/drawing/2014/main" id="{06817FEE-F4C4-4994-B762-F43256EA34B5}"/>
              </a:ext>
            </a:extLst>
          </p:cNvPr>
          <p:cNvSpPr>
            <a:spLocks xmlns:a="http://schemas.openxmlformats.org/drawingml/2006/main" noGrp="1"/>
          </p:cNvSpPr>
          <p:nvPr/>
        </p:nvSpPr>
        <p:spPr>
          <a:xfrm xmlns:a="http://schemas.openxmlformats.org/drawingml/2006/main">
            <a:off x="2571750" y="52768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5E6878"/>
                </a:solidFill>
                <a:latin typeface="Helvetica Neue"/>
                <a:ea typeface="Helvetica Neue"/>
                <a:cs typeface="Helvetica Neue"/>
              </a:defRPr>
            </a:pPr>
            <a:r>
              <a:rPr sz="1425">
                <a:solidFill>
                  <a:srgbClr val="5E6878"/>
                </a:solidFill>
                <a:latin typeface="Helvetica Neue"/>
                <a:ea typeface="Helvetica Neue"/>
                <a:cs typeface="Helvetica Neue"/>
              </a:rPr>
              <a:t>Doel-ARPA € 90/mnd  ·  brutomarge &gt; 80%  ·  jaarlijkse betaling verlaagt churn en financieringsdruk.</a:t>
            </a:r>
          </a:p>
        </p:txBody>
      </p:sp>
    </p:spTree>
    <p:extLst>
      <p:ext uri="{BB962C8B-B14F-4D97-AF65-F5344CB8AC3E}">
        <p14:creationId xmlns:p14="http://schemas.microsoft.com/office/powerpoint/2010/main" val="13249416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3D561C2-DC2B-4F8D-B920-84215CE32006}"/>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MARKT</a:t>
            </a:r>
          </a:p>
        </p:txBody>
      </p:sp>
      <p:sp>
        <p:nvSpPr>
          <p:cNvPr id="2" name="">
            <a:extLst xmlns:a="http://schemas.openxmlformats.org/drawingml/2006/main">
              <a:ext uri="{FF2B5EF4-FFF2-40B4-BE49-F238E27FC236}">
                <a16:creationId xmlns:a16="http://schemas.microsoft.com/office/drawing/2014/main" id="{A4905C1F-E0A2-4805-B706-826FDDBD0236}"/>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De Belgische startmarkt is groot genoeg; focus maakt hem bereikbaar.</a:t>
            </a:r>
          </a:p>
        </p:txBody>
      </p:sp>
      <p:sp>
        <p:nvSpPr>
          <p:cNvPr id="3" name="">
            <a:extLst xmlns:a="http://schemas.openxmlformats.org/drawingml/2006/main">
              <a:ext uri="{FF2B5EF4-FFF2-40B4-BE49-F238E27FC236}">
                <a16:creationId xmlns:a16="http://schemas.microsoft.com/office/drawing/2014/main" id="{DDACB918-F2A5-4719-B1F3-81BFB51E82ED}"/>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58613FCC-D627-4D64-838F-3EB392DCEED1}"/>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94FF6484-E0FC-4010-89E3-C851B8ACB470}"/>
              </a:ext>
            </a:extLst>
          </p:cNvPr>
          <p:cNvSpPr>
            <a:spLocks xmlns:a="http://schemas.openxmlformats.org/drawingml/2006/main" noGrp="1"/>
          </p:cNvSpPr>
          <p:nvPr/>
        </p:nvSpPr>
        <p:spPr>
          <a:xfrm xmlns:a="http://schemas.openxmlformats.org/drawingml/2006/main">
            <a:off x="400050" y="1638300"/>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54"/>
          </a:bodyPr>
          <a:lstStyle xmlns:a="http://schemas.openxmlformats.org/drawingml/2006/main"/>
          <a:p xmlns:a="http://schemas.openxmlformats.org/drawingml/2006/main">
            <a:pPr algn="l">
              <a:defRPr sz="4800" b="1">
                <a:solidFill>
                  <a:srgbClr val="2186F3"/>
                </a:solidFill>
                <a:latin typeface="Helvetica Neue"/>
                <a:ea typeface="Helvetica Neue"/>
                <a:cs typeface="Helvetica Neue"/>
              </a:defRPr>
            </a:pPr>
            <a:r>
              <a:rPr sz="4800" b="1">
                <a:solidFill>
                  <a:srgbClr val="2186F3"/>
                </a:solidFill>
                <a:latin typeface="Helvetica Neue"/>
                <a:ea typeface="Helvetica Neue"/>
                <a:cs typeface="Helvetica Neue"/>
              </a:rPr>
              <a:t>187.082</a:t>
            </a:r>
          </a:p>
        </p:txBody>
      </p:sp>
      <p:sp>
        <p:nvSpPr>
          <p:cNvPr id="6" name="">
            <a:extLst xmlns:a="http://schemas.openxmlformats.org/drawingml/2006/main">
              <a:ext uri="{FF2B5EF4-FFF2-40B4-BE49-F238E27FC236}">
                <a16:creationId xmlns:a16="http://schemas.microsoft.com/office/drawing/2014/main" id="{A0C289EB-F8A0-4D82-9936-C2C17FB13CB3}"/>
              </a:ext>
            </a:extLst>
          </p:cNvPr>
          <p:cNvSpPr>
            <a:spLocks xmlns:a="http://schemas.openxmlformats.org/drawingml/2006/main" noGrp="1"/>
          </p:cNvSpPr>
          <p:nvPr/>
        </p:nvSpPr>
        <p:spPr>
          <a:xfrm xmlns:a="http://schemas.openxmlformats.org/drawingml/2006/main">
            <a:off x="400050" y="2400300"/>
            <a:ext cx="457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a:solidFill>
                  <a:srgbClr val="5E6878"/>
                </a:solidFill>
                <a:latin typeface="Helvetica Neue"/>
                <a:ea typeface="Helvetica Neue"/>
                <a:cs typeface="Helvetica Neue"/>
              </a:defRPr>
            </a:pPr>
            <a:r>
              <a:rPr sz="1650">
                <a:solidFill>
                  <a:srgbClr val="5E6878"/>
                </a:solidFill>
                <a:latin typeface="Helvetica Neue"/>
                <a:ea typeface="Helvetica Neue"/>
                <a:cs typeface="Helvetica Neue"/>
              </a:rPr>
              <a:t>btw-geregistreerde ondernemingen in Belgische handel (2023)</a:t>
            </a:r>
          </a:p>
        </p:txBody>
      </p:sp>
      <p:sp>
        <p:nvSpPr>
          <p:cNvPr id="7" name="">
            <a:extLst xmlns:a="http://schemas.openxmlformats.org/drawingml/2006/main">
              <a:ext uri="{FF2B5EF4-FFF2-40B4-BE49-F238E27FC236}">
                <a16:creationId xmlns:a16="http://schemas.microsoft.com/office/drawing/2014/main" id="{6F50F284-33B7-4C06-AB46-E9389E1ADBCD}"/>
              </a:ext>
            </a:extLst>
          </p:cNvPr>
          <p:cNvSpPr>
            <a:spLocks xmlns:a="http://schemas.openxmlformats.org/drawingml/2006/main" noGrp="1"/>
          </p:cNvSpPr>
          <p:nvPr/>
        </p:nvSpPr>
        <p:spPr>
          <a:xfrm xmlns:a="http://schemas.openxmlformats.org/drawingml/2006/main">
            <a:off x="400050" y="3333750"/>
            <a:ext cx="4953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59C47CD-26F0-4A1B-89FF-FF278F9AFE4B}"/>
              </a:ext>
            </a:extLst>
          </p:cNvPr>
          <p:cNvSpPr>
            <a:spLocks xmlns:a="http://schemas.openxmlformats.org/drawingml/2006/main" noGrp="1"/>
          </p:cNvSpPr>
          <p:nvPr/>
        </p:nvSpPr>
        <p:spPr>
          <a:xfrm xmlns:a="http://schemas.openxmlformats.org/drawingml/2006/main">
            <a:off x="400050" y="367665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0B1220"/>
                </a:solidFill>
                <a:latin typeface="Helvetica Neue"/>
                <a:ea typeface="Helvetica Neue"/>
                <a:cs typeface="Helvetica Neue"/>
              </a:defRPr>
            </a:pPr>
            <a:r>
              <a:rPr sz="1950" b="1">
                <a:solidFill>
                  <a:srgbClr val="0B1220"/>
                </a:solidFill>
                <a:latin typeface="Helvetica Neue"/>
                <a:ea typeface="Helvetica Neue"/>
                <a:cs typeface="Helvetica Neue"/>
              </a:rPr>
              <a:t>Wij starten niet bij “alle retail”.</a:t>
            </a:r>
          </a:p>
        </p:txBody>
      </p:sp>
      <p:sp>
        <p:nvSpPr>
          <p:cNvPr id="9" name="">
            <a:extLst xmlns:a="http://schemas.openxmlformats.org/drawingml/2006/main">
              <a:ext uri="{FF2B5EF4-FFF2-40B4-BE49-F238E27FC236}">
                <a16:creationId xmlns:a16="http://schemas.microsoft.com/office/drawing/2014/main" id="{C9A386DA-6EDA-4C60-899E-E29443DD062F}"/>
              </a:ext>
            </a:extLst>
          </p:cNvPr>
          <p:cNvSpPr>
            <a:spLocks xmlns:a="http://schemas.openxmlformats.org/drawingml/2006/main" noGrp="1"/>
          </p:cNvSpPr>
          <p:nvPr/>
        </p:nvSpPr>
        <p:spPr>
          <a:xfrm xmlns:a="http://schemas.openxmlformats.org/drawingml/2006/main">
            <a:off x="400050" y="4191000"/>
            <a:ext cx="4762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a:solidFill>
                  <a:srgbClr val="5E6878"/>
                </a:solidFill>
                <a:latin typeface="Helvetica Neue"/>
                <a:ea typeface="Helvetica Neue"/>
                <a:cs typeface="Helvetica Neue"/>
              </a:defRPr>
            </a:pPr>
            <a:r>
              <a:rPr sz="1500">
                <a:solidFill>
                  <a:srgbClr val="5E6878"/>
                </a:solidFill>
                <a:latin typeface="Helvetica Neue"/>
                <a:ea typeface="Helvetica Neue"/>
                <a:cs typeface="Helvetica Neue"/>
              </a:rPr>
              <a:t>De eerste doelgroep is gespecialiseerde retail met voorraadcomplexiteit, service en loyale klanten: skate, bike, outdoor, fashion en vergelijkbare verticals.</a:t>
            </a:r>
          </a:p>
        </p:txBody>
      </p:sp>
      <p:sp>
        <p:nvSpPr>
          <p:cNvPr id="10" name="">
            <a:extLst xmlns:a="http://schemas.openxmlformats.org/drawingml/2006/main">
              <a:ext uri="{FF2B5EF4-FFF2-40B4-BE49-F238E27FC236}">
                <a16:creationId xmlns:a16="http://schemas.microsoft.com/office/drawing/2014/main" id="{540FB3D3-585F-4221-A3A7-5B5423D863D0}"/>
              </a:ext>
            </a:extLst>
          </p:cNvPr>
          <p:cNvSpPr>
            <a:spLocks xmlns:a="http://schemas.openxmlformats.org/drawingml/2006/main" noGrp="1"/>
          </p:cNvSpPr>
          <p:nvPr/>
        </p:nvSpPr>
        <p:spPr>
          <a:xfrm xmlns:a="http://schemas.openxmlformats.org/drawingml/2006/main">
            <a:off x="6324600" y="1600200"/>
            <a:ext cx="5067300" cy="10668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4F2C7FE-9C3E-4605-A874-DC287A5D4043}"/>
              </a:ext>
            </a:extLst>
          </p:cNvPr>
          <p:cNvSpPr>
            <a:spLocks xmlns:a="http://schemas.openxmlformats.org/drawingml/2006/main" noGrp="1"/>
          </p:cNvSpPr>
          <p:nvPr/>
        </p:nvSpPr>
        <p:spPr>
          <a:xfrm xmlns:a="http://schemas.openxmlformats.org/drawingml/2006/main">
            <a:off x="6572250" y="18097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186F3"/>
                </a:solidFill>
                <a:latin typeface="Helvetica Neue"/>
                <a:ea typeface="Helvetica Neue"/>
                <a:cs typeface="Helvetica Neue"/>
              </a:defRPr>
            </a:pPr>
            <a:r>
              <a:rPr sz="975" b="1">
                <a:solidFill>
                  <a:srgbClr val="2186F3"/>
                </a:solidFill>
                <a:latin typeface="Helvetica Neue"/>
                <a:ea typeface="Helvetica Neue"/>
                <a:cs typeface="Helvetica Neue"/>
              </a:rPr>
              <a:t>TAM</a:t>
            </a:r>
          </a:p>
        </p:txBody>
      </p:sp>
      <p:sp>
        <p:nvSpPr>
          <p:cNvPr id="12" name="">
            <a:extLst xmlns:a="http://schemas.openxmlformats.org/drawingml/2006/main">
              <a:ext uri="{FF2B5EF4-FFF2-40B4-BE49-F238E27FC236}">
                <a16:creationId xmlns:a16="http://schemas.microsoft.com/office/drawing/2014/main" id="{E1C5E809-1C4E-4C9C-9241-6E4E33C05367}"/>
              </a:ext>
            </a:extLst>
          </p:cNvPr>
          <p:cNvSpPr>
            <a:spLocks xmlns:a="http://schemas.openxmlformats.org/drawingml/2006/main" noGrp="1"/>
          </p:cNvSpPr>
          <p:nvPr/>
        </p:nvSpPr>
        <p:spPr>
          <a:xfrm xmlns:a="http://schemas.openxmlformats.org/drawingml/2006/main">
            <a:off x="7524750" y="17526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0B1220"/>
                </a:solidFill>
                <a:latin typeface="Helvetica Neue"/>
                <a:ea typeface="Helvetica Neue"/>
                <a:cs typeface="Helvetica Neue"/>
              </a:defRPr>
            </a:pPr>
            <a:r>
              <a:rPr sz="2550" b="1">
                <a:solidFill>
                  <a:srgbClr val="0B1220"/>
                </a:solidFill>
                <a:latin typeface="Helvetica Neue"/>
                <a:ea typeface="Helvetica Neue"/>
                <a:cs typeface="Helvetica Neue"/>
              </a:rPr>
              <a:t>187k</a:t>
            </a:r>
          </a:p>
        </p:txBody>
      </p:sp>
      <p:sp>
        <p:nvSpPr>
          <p:cNvPr id="13" name="">
            <a:extLst xmlns:a="http://schemas.openxmlformats.org/drawingml/2006/main">
              <a:ext uri="{FF2B5EF4-FFF2-40B4-BE49-F238E27FC236}">
                <a16:creationId xmlns:a16="http://schemas.microsoft.com/office/drawing/2014/main" id="{9227F6B1-31F3-4B6C-9650-089ADB80AFDE}"/>
              </a:ext>
            </a:extLst>
          </p:cNvPr>
          <p:cNvSpPr>
            <a:spLocks xmlns:a="http://schemas.openxmlformats.org/drawingml/2006/main" noGrp="1"/>
          </p:cNvSpPr>
          <p:nvPr/>
        </p:nvSpPr>
        <p:spPr>
          <a:xfrm xmlns:a="http://schemas.openxmlformats.org/drawingml/2006/main">
            <a:off x="9010650" y="18288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Belgische handel</a:t>
            </a:r>
          </a:p>
        </p:txBody>
      </p:sp>
      <p:sp>
        <p:nvSpPr>
          <p:cNvPr id="14" name="">
            <a:extLst xmlns:a="http://schemas.openxmlformats.org/drawingml/2006/main">
              <a:ext uri="{FF2B5EF4-FFF2-40B4-BE49-F238E27FC236}">
                <a16:creationId xmlns:a16="http://schemas.microsoft.com/office/drawing/2014/main" id="{253E7855-04ED-439F-9F1A-44FEDD80CAEF}"/>
              </a:ext>
            </a:extLst>
          </p:cNvPr>
          <p:cNvSpPr>
            <a:spLocks xmlns:a="http://schemas.openxmlformats.org/drawingml/2006/main" noGrp="1"/>
          </p:cNvSpPr>
          <p:nvPr/>
        </p:nvSpPr>
        <p:spPr>
          <a:xfrm xmlns:a="http://schemas.openxmlformats.org/drawingml/2006/main">
            <a:off x="6629400" y="2990850"/>
            <a:ext cx="4457700" cy="106680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CB1CDAC-C91A-4DBE-9EF8-E2F9B0908ECF}"/>
              </a:ext>
            </a:extLst>
          </p:cNvPr>
          <p:cNvSpPr>
            <a:spLocks xmlns:a="http://schemas.openxmlformats.org/drawingml/2006/main" noGrp="1"/>
          </p:cNvSpPr>
          <p:nvPr/>
        </p:nvSpPr>
        <p:spPr>
          <a:xfrm xmlns:a="http://schemas.openxmlformats.org/drawingml/2006/main">
            <a:off x="6877050" y="32004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186F3"/>
                </a:solidFill>
                <a:latin typeface="Helvetica Neue"/>
                <a:ea typeface="Helvetica Neue"/>
                <a:cs typeface="Helvetica Neue"/>
              </a:defRPr>
            </a:pPr>
            <a:r>
              <a:rPr sz="975" b="1">
                <a:solidFill>
                  <a:srgbClr val="2186F3"/>
                </a:solidFill>
                <a:latin typeface="Helvetica Neue"/>
                <a:ea typeface="Helvetica Neue"/>
                <a:cs typeface="Helvetica Neue"/>
              </a:rPr>
              <a:t>SAM</a:t>
            </a:r>
          </a:p>
        </p:txBody>
      </p:sp>
      <p:sp>
        <p:nvSpPr>
          <p:cNvPr id="16" name="">
            <a:extLst xmlns:a="http://schemas.openxmlformats.org/drawingml/2006/main">
              <a:ext uri="{FF2B5EF4-FFF2-40B4-BE49-F238E27FC236}">
                <a16:creationId xmlns:a16="http://schemas.microsoft.com/office/drawing/2014/main" id="{6B5FAC6E-6CE1-4611-BC1E-EE849E75483B}"/>
              </a:ext>
            </a:extLst>
          </p:cNvPr>
          <p:cNvSpPr>
            <a:spLocks xmlns:a="http://schemas.openxmlformats.org/drawingml/2006/main" noGrp="1"/>
          </p:cNvSpPr>
          <p:nvPr/>
        </p:nvSpPr>
        <p:spPr>
          <a:xfrm xmlns:a="http://schemas.openxmlformats.org/drawingml/2006/main">
            <a:off x="7829550" y="31432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0B1220"/>
                </a:solidFill>
                <a:latin typeface="Helvetica Neue"/>
                <a:ea typeface="Helvetica Neue"/>
                <a:cs typeface="Helvetica Neue"/>
              </a:defRPr>
            </a:pPr>
            <a:r>
              <a:rPr sz="2550" b="1">
                <a:solidFill>
                  <a:srgbClr val="0B1220"/>
                </a:solidFill>
                <a:latin typeface="Helvetica Neue"/>
                <a:ea typeface="Helvetica Neue"/>
                <a:cs typeface="Helvetica Neue"/>
              </a:rPr>
              <a:t>20k</a:t>
            </a:r>
          </a:p>
        </p:txBody>
      </p:sp>
      <p:sp>
        <p:nvSpPr>
          <p:cNvPr id="17" name="">
            <a:extLst xmlns:a="http://schemas.openxmlformats.org/drawingml/2006/main">
              <a:ext uri="{FF2B5EF4-FFF2-40B4-BE49-F238E27FC236}">
                <a16:creationId xmlns:a16="http://schemas.microsoft.com/office/drawing/2014/main" id="{24F2A3F2-4AB1-4119-ABA9-E5DD9335871E}"/>
              </a:ext>
            </a:extLst>
          </p:cNvPr>
          <p:cNvSpPr>
            <a:spLocks xmlns:a="http://schemas.openxmlformats.org/drawingml/2006/main" noGrp="1"/>
          </p:cNvSpPr>
          <p:nvPr/>
        </p:nvSpPr>
        <p:spPr>
          <a:xfrm xmlns:a="http://schemas.openxmlformats.org/drawingml/2006/main">
            <a:off x="9163050" y="3219450"/>
            <a:ext cx="1847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interne aanname: specialist retail</a:t>
            </a:r>
          </a:p>
        </p:txBody>
      </p:sp>
      <p:sp>
        <p:nvSpPr>
          <p:cNvPr id="18" name="">
            <a:extLst xmlns:a="http://schemas.openxmlformats.org/drawingml/2006/main">
              <a:ext uri="{FF2B5EF4-FFF2-40B4-BE49-F238E27FC236}">
                <a16:creationId xmlns:a16="http://schemas.microsoft.com/office/drawing/2014/main" id="{F689FE53-C6FE-4810-9FA8-35C0DF06E1DA}"/>
              </a:ext>
            </a:extLst>
          </p:cNvPr>
          <p:cNvSpPr>
            <a:spLocks xmlns:a="http://schemas.openxmlformats.org/drawingml/2006/main" noGrp="1"/>
          </p:cNvSpPr>
          <p:nvPr/>
        </p:nvSpPr>
        <p:spPr>
          <a:xfrm xmlns:a="http://schemas.openxmlformats.org/drawingml/2006/main">
            <a:off x="6934200" y="4381500"/>
            <a:ext cx="3848100" cy="1066800"/>
          </a:xfrm>
          <a:prstGeom xmlns:a="http://schemas.openxmlformats.org/drawingml/2006/main" prst="rect">
            <a:avLst/>
          </a:prstGeom>
          <a:solidFill xmlns:a="http://schemas.openxmlformats.org/drawingml/2006/main">
            <a:srgbClr val="2186F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1D4ED84-2570-42E8-8196-A987CE7FCC89}"/>
              </a:ext>
            </a:extLst>
          </p:cNvPr>
          <p:cNvSpPr>
            <a:spLocks xmlns:a="http://schemas.openxmlformats.org/drawingml/2006/main" noGrp="1"/>
          </p:cNvSpPr>
          <p:nvPr/>
        </p:nvSpPr>
        <p:spPr>
          <a:xfrm xmlns:a="http://schemas.openxmlformats.org/drawingml/2006/main">
            <a:off x="7181850" y="45910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SOM</a:t>
            </a:r>
          </a:p>
        </p:txBody>
      </p:sp>
      <p:sp>
        <p:nvSpPr>
          <p:cNvPr id="20" name="">
            <a:extLst xmlns:a="http://schemas.openxmlformats.org/drawingml/2006/main">
              <a:ext uri="{FF2B5EF4-FFF2-40B4-BE49-F238E27FC236}">
                <a16:creationId xmlns:a16="http://schemas.microsoft.com/office/drawing/2014/main" id="{EE38AC0F-B7D0-4179-B473-BF154C538E0B}"/>
              </a:ext>
            </a:extLst>
          </p:cNvPr>
          <p:cNvSpPr>
            <a:spLocks xmlns:a="http://schemas.openxmlformats.org/drawingml/2006/main" noGrp="1"/>
          </p:cNvSpPr>
          <p:nvPr/>
        </p:nvSpPr>
        <p:spPr>
          <a:xfrm xmlns:a="http://schemas.openxmlformats.org/drawingml/2006/main">
            <a:off x="8134350" y="45339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1.000</a:t>
            </a:r>
          </a:p>
        </p:txBody>
      </p:sp>
      <p:sp>
        <p:nvSpPr>
          <p:cNvPr id="21" name="">
            <a:extLst xmlns:a="http://schemas.openxmlformats.org/drawingml/2006/main">
              <a:ext uri="{FF2B5EF4-FFF2-40B4-BE49-F238E27FC236}">
                <a16:creationId xmlns:a16="http://schemas.microsoft.com/office/drawing/2014/main" id="{B72FA543-DDE5-400A-9CAE-4BD46DE4BEEB}"/>
              </a:ext>
            </a:extLst>
          </p:cNvPr>
          <p:cNvSpPr>
            <a:spLocks xmlns:a="http://schemas.openxmlformats.org/drawingml/2006/main" noGrp="1"/>
          </p:cNvSpPr>
          <p:nvPr/>
        </p:nvSpPr>
        <p:spPr>
          <a:xfrm xmlns:a="http://schemas.openxmlformats.org/drawingml/2006/main">
            <a:off x="9315450" y="461010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FFFFFF"/>
                </a:solidFill>
                <a:latin typeface="Helvetica Neue"/>
                <a:ea typeface="Helvetica Neue"/>
                <a:cs typeface="Helvetica Neue"/>
              </a:defRPr>
            </a:pPr>
            <a:r>
              <a:rPr sz="1125">
                <a:solidFill>
                  <a:srgbClr val="FFFFFF"/>
                </a:solidFill>
                <a:latin typeface="Helvetica Neue"/>
                <a:ea typeface="Helvetica Neue"/>
                <a:cs typeface="Helvetica Neue"/>
              </a:rPr>
              <a:t>5% van de SAM</a:t>
            </a:r>
          </a:p>
        </p:txBody>
      </p:sp>
      <p:sp>
        <p:nvSpPr>
          <p:cNvPr id="22" name="">
            <a:extLst xmlns:a="http://schemas.openxmlformats.org/drawingml/2006/main">
              <a:ext uri="{FF2B5EF4-FFF2-40B4-BE49-F238E27FC236}">
                <a16:creationId xmlns:a16="http://schemas.microsoft.com/office/drawing/2014/main" id="{AC875C80-6208-4B0F-AFE4-78275F41D70A}"/>
              </a:ext>
            </a:extLst>
          </p:cNvPr>
          <p:cNvSpPr>
            <a:spLocks xmlns:a="http://schemas.openxmlformats.org/drawingml/2006/main" noGrp="1"/>
          </p:cNvSpPr>
          <p:nvPr/>
        </p:nvSpPr>
        <p:spPr>
          <a:xfrm xmlns:a="http://schemas.openxmlformats.org/drawingml/2006/main">
            <a:off x="6667500" y="58293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0B1220"/>
                </a:solidFill>
                <a:latin typeface="Helvetica Neue"/>
                <a:ea typeface="Helvetica Neue"/>
                <a:cs typeface="Helvetica Neue"/>
              </a:defRPr>
            </a:pPr>
            <a:r>
              <a:rPr sz="1650" b="1">
                <a:solidFill>
                  <a:srgbClr val="0B1220"/>
                </a:solidFill>
                <a:latin typeface="Helvetica Neue"/>
                <a:ea typeface="Helvetica Neue"/>
                <a:cs typeface="Helvetica Neue"/>
              </a:rPr>
              <a:t>1.000 locaties × € 90/mnd = € 1,08m ARR</a:t>
            </a:r>
          </a:p>
        </p:txBody>
      </p:sp>
    </p:spTree>
    <p:extLst>
      <p:ext uri="{BB962C8B-B14F-4D97-AF65-F5344CB8AC3E}">
        <p14:creationId xmlns:p14="http://schemas.microsoft.com/office/powerpoint/2010/main" val="232152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1A71784-6EE8-45CA-ACB6-0DF8AB70DF30}"/>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GO-TO-MARKET</a:t>
            </a:r>
          </a:p>
        </p:txBody>
      </p:sp>
      <p:sp>
        <p:nvSpPr>
          <p:cNvPr id="2" name="">
            <a:extLst xmlns:a="http://schemas.openxmlformats.org/drawingml/2006/main">
              <a:ext uri="{FF2B5EF4-FFF2-40B4-BE49-F238E27FC236}">
                <a16:creationId xmlns:a16="http://schemas.microsoft.com/office/drawing/2014/main" id="{59F77C01-B120-4B0D-9F6F-493170FF2A11}"/>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Eerst één vertical domineren; daarna dezelfde motor herhalen.</a:t>
            </a:r>
          </a:p>
        </p:txBody>
      </p:sp>
      <p:sp>
        <p:nvSpPr>
          <p:cNvPr id="3" name="">
            <a:extLst xmlns:a="http://schemas.openxmlformats.org/drawingml/2006/main">
              <a:ext uri="{FF2B5EF4-FFF2-40B4-BE49-F238E27FC236}">
                <a16:creationId xmlns:a16="http://schemas.microsoft.com/office/drawing/2014/main" id="{0F19333D-2AD9-4C4F-9DEA-50FBD97D15DB}"/>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6C8760FA-901C-417D-80A5-33B1F702DF67}"/>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EE50F397-BF5D-4F38-8E1C-E13456511429}"/>
              </a:ext>
            </a:extLst>
          </p:cNvPr>
          <p:cNvSpPr>
            <a:spLocks xmlns:a="http://schemas.openxmlformats.org/drawingml/2006/main" noGrp="1"/>
          </p:cNvSpPr>
          <p:nvPr/>
        </p:nvSpPr>
        <p:spPr>
          <a:xfrm xmlns:a="http://schemas.openxmlformats.org/drawingml/2006/main">
            <a:off x="723900" y="3257550"/>
            <a:ext cx="10096500" cy="1905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DA8EAFD-2F5E-49F8-9128-C4CEE0B0CC60}"/>
              </a:ext>
            </a:extLst>
          </p:cNvPr>
          <p:cNvSpPr>
            <a:spLocks xmlns:a="http://schemas.openxmlformats.org/drawingml/2006/main" noGrp="1"/>
          </p:cNvSpPr>
          <p:nvPr/>
        </p:nvSpPr>
        <p:spPr>
          <a:xfrm xmlns:a="http://schemas.openxmlformats.org/drawingml/2006/main">
            <a:off x="400050" y="2114550"/>
            <a:ext cx="3429000" cy="28575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69241BE-45D9-4D73-B471-AE1AD874FBA2}"/>
              </a:ext>
            </a:extLst>
          </p:cNvPr>
          <p:cNvSpPr>
            <a:spLocks xmlns:a="http://schemas.openxmlformats.org/drawingml/2006/main" noGrp="1"/>
          </p:cNvSpPr>
          <p:nvPr/>
        </p:nvSpPr>
        <p:spPr>
          <a:xfrm xmlns:a="http://schemas.openxmlformats.org/drawingml/2006/main">
            <a:off x="628650" y="23431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2186F3"/>
                </a:solidFill>
                <a:latin typeface="Helvetica Neue"/>
                <a:ea typeface="Helvetica Neue"/>
                <a:cs typeface="Helvetica Neue"/>
              </a:defRPr>
            </a:pPr>
            <a:r>
              <a:rPr sz="1275" b="1">
                <a:solidFill>
                  <a:srgbClr val="2186F3"/>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4C865229-99F0-49D2-96F4-CE5461A06D9D}"/>
              </a:ext>
            </a:extLst>
          </p:cNvPr>
          <p:cNvSpPr>
            <a:spLocks xmlns:a="http://schemas.openxmlformats.org/drawingml/2006/main" noGrp="1"/>
          </p:cNvSpPr>
          <p:nvPr/>
        </p:nvSpPr>
        <p:spPr>
          <a:xfrm xmlns:a="http://schemas.openxmlformats.org/drawingml/2006/main">
            <a:off x="628650" y="28003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Design partners</a:t>
            </a:r>
          </a:p>
        </p:txBody>
      </p:sp>
      <p:sp>
        <p:nvSpPr>
          <p:cNvPr id="9" name="">
            <a:extLst xmlns:a="http://schemas.openxmlformats.org/drawingml/2006/main">
              <a:ext uri="{FF2B5EF4-FFF2-40B4-BE49-F238E27FC236}">
                <a16:creationId xmlns:a16="http://schemas.microsoft.com/office/drawing/2014/main" id="{81357831-EAAD-4601-A754-ADEB4B47D981}"/>
              </a:ext>
            </a:extLst>
          </p:cNvPr>
          <p:cNvSpPr>
            <a:spLocks xmlns:a="http://schemas.openxmlformats.org/drawingml/2006/main" noGrp="1"/>
          </p:cNvSpPr>
          <p:nvPr/>
        </p:nvSpPr>
        <p:spPr>
          <a:xfrm xmlns:a="http://schemas.openxmlformats.org/drawingml/2006/main">
            <a:off x="590550" y="3200400"/>
            <a:ext cx="133350" cy="133350"/>
          </a:xfrm>
          <a:prstGeom xmlns:a="http://schemas.openxmlformats.org/drawingml/2006/main" prst="roundRect">
            <a:avLst>
              <a:gd name="adj" fmla="val 50000"/>
            </a:avLst>
          </a:prstGeom>
          <a:solidFill xmlns:a="http://schemas.openxmlformats.org/drawingml/2006/main">
            <a:srgbClr val="2186F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52B8B51-FE38-4198-99B9-8735AF0AE981}"/>
              </a:ext>
            </a:extLst>
          </p:cNvPr>
          <p:cNvSpPr>
            <a:spLocks xmlns:a="http://schemas.openxmlformats.org/drawingml/2006/main" noGrp="1"/>
          </p:cNvSpPr>
          <p:nvPr/>
        </p:nvSpPr>
        <p:spPr>
          <a:xfrm xmlns:a="http://schemas.openxmlformats.org/drawingml/2006/main">
            <a:off x="628650" y="363855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10 winkels</a:t>
            </a:r>
          </a:p>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Founder-led interviews</a:t>
            </a:r>
          </a:p>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Wekelijkse productfeedback</a:t>
            </a:r>
          </a:p>
        </p:txBody>
      </p:sp>
      <p:sp>
        <p:nvSpPr>
          <p:cNvPr id="11" name="">
            <a:extLst xmlns:a="http://schemas.openxmlformats.org/drawingml/2006/main">
              <a:ext uri="{FF2B5EF4-FFF2-40B4-BE49-F238E27FC236}">
                <a16:creationId xmlns:a16="http://schemas.microsoft.com/office/drawing/2014/main" id="{1A2561AE-EBC0-4AAD-8C92-E8511CE3EF5D}"/>
              </a:ext>
            </a:extLst>
          </p:cNvPr>
          <p:cNvSpPr>
            <a:spLocks xmlns:a="http://schemas.openxmlformats.org/drawingml/2006/main" noGrp="1"/>
          </p:cNvSpPr>
          <p:nvPr/>
        </p:nvSpPr>
        <p:spPr>
          <a:xfrm xmlns:a="http://schemas.openxmlformats.org/drawingml/2006/main">
            <a:off x="4229100" y="2114550"/>
            <a:ext cx="3429000" cy="285750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E2C988A-3809-4329-B162-DB76B173C044}"/>
              </a:ext>
            </a:extLst>
          </p:cNvPr>
          <p:cNvSpPr>
            <a:spLocks xmlns:a="http://schemas.openxmlformats.org/drawingml/2006/main" noGrp="1"/>
          </p:cNvSpPr>
          <p:nvPr/>
        </p:nvSpPr>
        <p:spPr>
          <a:xfrm xmlns:a="http://schemas.openxmlformats.org/drawingml/2006/main">
            <a:off x="4457700" y="23431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2186F3"/>
                </a:solidFill>
                <a:latin typeface="Helvetica Neue"/>
                <a:ea typeface="Helvetica Neue"/>
                <a:cs typeface="Helvetica Neue"/>
              </a:defRPr>
            </a:pPr>
            <a:r>
              <a:rPr sz="1275" b="1">
                <a:solidFill>
                  <a:srgbClr val="2186F3"/>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CB15B1EC-E942-4998-A1CD-7DAA5E27FBEF}"/>
              </a:ext>
            </a:extLst>
          </p:cNvPr>
          <p:cNvSpPr>
            <a:spLocks xmlns:a="http://schemas.openxmlformats.org/drawingml/2006/main" noGrp="1"/>
          </p:cNvSpPr>
          <p:nvPr/>
        </p:nvSpPr>
        <p:spPr>
          <a:xfrm xmlns:a="http://schemas.openxmlformats.org/drawingml/2006/main">
            <a:off x="4457700" y="28003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Betaalde cohort</a:t>
            </a:r>
          </a:p>
        </p:txBody>
      </p:sp>
      <p:sp>
        <p:nvSpPr>
          <p:cNvPr id="14" name="">
            <a:extLst xmlns:a="http://schemas.openxmlformats.org/drawingml/2006/main">
              <a:ext uri="{FF2B5EF4-FFF2-40B4-BE49-F238E27FC236}">
                <a16:creationId xmlns:a16="http://schemas.microsoft.com/office/drawing/2014/main" id="{34A92C59-7C5D-421E-9D8B-85C7DBAEA98F}"/>
              </a:ext>
            </a:extLst>
          </p:cNvPr>
          <p:cNvSpPr>
            <a:spLocks xmlns:a="http://schemas.openxmlformats.org/drawingml/2006/main" noGrp="1"/>
          </p:cNvSpPr>
          <p:nvPr/>
        </p:nvSpPr>
        <p:spPr>
          <a:xfrm xmlns:a="http://schemas.openxmlformats.org/drawingml/2006/main">
            <a:off x="4419600" y="3200400"/>
            <a:ext cx="133350" cy="133350"/>
          </a:xfrm>
          <a:prstGeom xmlns:a="http://schemas.openxmlformats.org/drawingml/2006/main" prst="roundRect">
            <a:avLst>
              <a:gd name="adj" fmla="val 50000"/>
            </a:avLst>
          </a:prstGeom>
          <a:solidFill xmlns:a="http://schemas.openxmlformats.org/drawingml/2006/main">
            <a:srgbClr val="2186F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574F408-3088-4A61-AD88-C5B6A786C07B}"/>
              </a:ext>
            </a:extLst>
          </p:cNvPr>
          <p:cNvSpPr>
            <a:spLocks xmlns:a="http://schemas.openxmlformats.org/drawingml/2006/main" noGrp="1"/>
          </p:cNvSpPr>
          <p:nvPr/>
        </p:nvSpPr>
        <p:spPr>
          <a:xfrm xmlns:a="http://schemas.openxmlformats.org/drawingml/2006/main">
            <a:off x="4457700" y="363855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30 locaties</a:t>
            </a:r>
          </a:p>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Gestandaardiseerde migratie</a:t>
            </a:r>
          </a:p>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Cases en referrals</a:t>
            </a:r>
          </a:p>
        </p:txBody>
      </p:sp>
      <p:sp>
        <p:nvSpPr>
          <p:cNvPr id="16" name="">
            <a:extLst xmlns:a="http://schemas.openxmlformats.org/drawingml/2006/main">
              <a:ext uri="{FF2B5EF4-FFF2-40B4-BE49-F238E27FC236}">
                <a16:creationId xmlns:a16="http://schemas.microsoft.com/office/drawing/2014/main" id="{2B2B8CA6-FB6D-4037-8D0C-E4AA5C7F05CF}"/>
              </a:ext>
            </a:extLst>
          </p:cNvPr>
          <p:cNvSpPr>
            <a:spLocks xmlns:a="http://schemas.openxmlformats.org/drawingml/2006/main" noGrp="1"/>
          </p:cNvSpPr>
          <p:nvPr/>
        </p:nvSpPr>
        <p:spPr>
          <a:xfrm xmlns:a="http://schemas.openxmlformats.org/drawingml/2006/main">
            <a:off x="8058150" y="2114550"/>
            <a:ext cx="3429000" cy="28575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8047E16-08F5-4324-A1E5-39B5491FF352}"/>
              </a:ext>
            </a:extLst>
          </p:cNvPr>
          <p:cNvSpPr>
            <a:spLocks xmlns:a="http://schemas.openxmlformats.org/drawingml/2006/main" noGrp="1"/>
          </p:cNvSpPr>
          <p:nvPr/>
        </p:nvSpPr>
        <p:spPr>
          <a:xfrm xmlns:a="http://schemas.openxmlformats.org/drawingml/2006/main">
            <a:off x="8286750" y="23431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2186F3"/>
                </a:solidFill>
                <a:latin typeface="Helvetica Neue"/>
                <a:ea typeface="Helvetica Neue"/>
                <a:cs typeface="Helvetica Neue"/>
              </a:defRPr>
            </a:pPr>
            <a:r>
              <a:rPr sz="1275" b="1">
                <a:solidFill>
                  <a:srgbClr val="2186F3"/>
                </a:solidFill>
                <a:latin typeface="Helvetica Neue"/>
                <a:ea typeface="Helvetica Neue"/>
                <a:cs typeface="Helvetica Neue"/>
              </a:rPr>
              <a:t>03</a:t>
            </a:r>
          </a:p>
        </p:txBody>
      </p:sp>
      <p:sp>
        <p:nvSpPr>
          <p:cNvPr id="18" name="">
            <a:extLst xmlns:a="http://schemas.openxmlformats.org/drawingml/2006/main">
              <a:ext uri="{FF2B5EF4-FFF2-40B4-BE49-F238E27FC236}">
                <a16:creationId xmlns:a16="http://schemas.microsoft.com/office/drawing/2014/main" id="{00D7E62B-E398-43D2-88F5-8000CE2B9AB8}"/>
              </a:ext>
            </a:extLst>
          </p:cNvPr>
          <p:cNvSpPr>
            <a:spLocks xmlns:a="http://schemas.openxmlformats.org/drawingml/2006/main" noGrp="1"/>
          </p:cNvSpPr>
          <p:nvPr/>
        </p:nvSpPr>
        <p:spPr>
          <a:xfrm xmlns:a="http://schemas.openxmlformats.org/drawingml/2006/main">
            <a:off x="8286750" y="28003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Kanaalmodel</a:t>
            </a:r>
          </a:p>
        </p:txBody>
      </p:sp>
      <p:sp>
        <p:nvSpPr>
          <p:cNvPr id="19" name="">
            <a:extLst xmlns:a="http://schemas.openxmlformats.org/drawingml/2006/main">
              <a:ext uri="{FF2B5EF4-FFF2-40B4-BE49-F238E27FC236}">
                <a16:creationId xmlns:a16="http://schemas.microsoft.com/office/drawing/2014/main" id="{7004DFB2-64A2-4AC1-ADBF-1A4BB9FC9E1E}"/>
              </a:ext>
            </a:extLst>
          </p:cNvPr>
          <p:cNvSpPr>
            <a:spLocks xmlns:a="http://schemas.openxmlformats.org/drawingml/2006/main" noGrp="1"/>
          </p:cNvSpPr>
          <p:nvPr/>
        </p:nvSpPr>
        <p:spPr>
          <a:xfrm xmlns:a="http://schemas.openxmlformats.org/drawingml/2006/main">
            <a:off x="8248650" y="3200400"/>
            <a:ext cx="133350" cy="133350"/>
          </a:xfrm>
          <a:prstGeom xmlns:a="http://schemas.openxmlformats.org/drawingml/2006/main" prst="roundRect">
            <a:avLst>
              <a:gd name="adj" fmla="val 50000"/>
            </a:avLst>
          </a:prstGeom>
          <a:solidFill xmlns:a="http://schemas.openxmlformats.org/drawingml/2006/main">
            <a:srgbClr val="2186F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7ED990F-62E4-4364-9F63-2DA203A00A7B}"/>
              </a:ext>
            </a:extLst>
          </p:cNvPr>
          <p:cNvSpPr>
            <a:spLocks xmlns:a="http://schemas.openxmlformats.org/drawingml/2006/main" noGrp="1"/>
          </p:cNvSpPr>
          <p:nvPr/>
        </p:nvSpPr>
        <p:spPr>
          <a:xfrm xmlns:a="http://schemas.openxmlformats.org/drawingml/2006/main">
            <a:off x="8286750" y="363855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100 locaties</a:t>
            </a:r>
          </a:p>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Hardware- en boekhoudpartners</a:t>
            </a:r>
          </a:p>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Vertical playbook</a:t>
            </a:r>
          </a:p>
        </p:txBody>
      </p:sp>
      <p:sp>
        <p:nvSpPr>
          <p:cNvPr id="21" name="">
            <a:extLst xmlns:a="http://schemas.openxmlformats.org/drawingml/2006/main">
              <a:ext uri="{FF2B5EF4-FFF2-40B4-BE49-F238E27FC236}">
                <a16:creationId xmlns:a16="http://schemas.microsoft.com/office/drawing/2014/main" id="{E994FD8E-E7D9-4E15-AE63-C479491AD58E}"/>
              </a:ext>
            </a:extLst>
          </p:cNvPr>
          <p:cNvSpPr>
            <a:spLocks xmlns:a="http://schemas.openxmlformats.org/drawingml/2006/main" noGrp="1"/>
          </p:cNvSpPr>
          <p:nvPr/>
        </p:nvSpPr>
        <p:spPr>
          <a:xfrm xmlns:a="http://schemas.openxmlformats.org/drawingml/2006/main">
            <a:off x="400050" y="5391150"/>
            <a:ext cx="11087100" cy="55245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8EEB6D4-1395-4962-AD44-A01B55AE8893}"/>
              </a:ext>
            </a:extLst>
          </p:cNvPr>
          <p:cNvSpPr>
            <a:spLocks xmlns:a="http://schemas.openxmlformats.org/drawingml/2006/main" noGrp="1"/>
          </p:cNvSpPr>
          <p:nvPr/>
        </p:nvSpPr>
        <p:spPr>
          <a:xfrm xmlns:a="http://schemas.openxmlformats.org/drawingml/2006/main">
            <a:off x="628650" y="5572125"/>
            <a:ext cx="1062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GTM-gates: CAC &lt; € 800  ·  payback &lt; 12 maanden  ·  70%+ activatie binnen 14 dagen  ·  churn gemeten per cohort</a:t>
            </a:r>
          </a:p>
        </p:txBody>
      </p:sp>
    </p:spTree>
    <p:extLst>
      <p:ext uri="{BB962C8B-B14F-4D97-AF65-F5344CB8AC3E}">
        <p14:creationId xmlns:p14="http://schemas.microsoft.com/office/powerpoint/2010/main" val="16334905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8FCD784-FFCB-4A2B-B9A7-4AA17C06BFAB}"/>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POSITIONERING</a:t>
            </a:r>
          </a:p>
        </p:txBody>
      </p:sp>
      <p:sp>
        <p:nvSpPr>
          <p:cNvPr id="2" name="">
            <a:extLst xmlns:a="http://schemas.openxmlformats.org/drawingml/2006/main">
              <a:ext uri="{FF2B5EF4-FFF2-40B4-BE49-F238E27FC236}">
                <a16:creationId xmlns:a16="http://schemas.microsoft.com/office/drawing/2014/main" id="{5E394DA3-C0EC-427C-9708-AA4504119916}"/>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PWAYMENT wint niet op één feature, maar op samenhang en retailcontext.</a:t>
            </a:r>
          </a:p>
        </p:txBody>
      </p:sp>
      <p:sp>
        <p:nvSpPr>
          <p:cNvPr id="3" name="">
            <a:extLst xmlns:a="http://schemas.openxmlformats.org/drawingml/2006/main">
              <a:ext uri="{FF2B5EF4-FFF2-40B4-BE49-F238E27FC236}">
                <a16:creationId xmlns:a16="http://schemas.microsoft.com/office/drawing/2014/main" id="{64160F75-C0FF-4B70-9D60-B91FB3AB899D}"/>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EC0A9BB9-C3C0-44C6-B33B-D6E8385B97F6}"/>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55ACEABD-5295-4C6D-99E9-EEFA607BE2E4}"/>
              </a:ext>
            </a:extLst>
          </p:cNvPr>
          <p:cNvSpPr>
            <a:spLocks xmlns:a="http://schemas.openxmlformats.org/drawingml/2006/main" noGrp="1"/>
          </p:cNvSpPr>
          <p:nvPr/>
        </p:nvSpPr>
        <p:spPr>
          <a:xfrm xmlns:a="http://schemas.openxmlformats.org/drawingml/2006/main">
            <a:off x="400050" y="16573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Wat telt voor de winkel</a:t>
            </a:r>
          </a:p>
        </p:txBody>
      </p:sp>
      <p:sp>
        <p:nvSpPr>
          <p:cNvPr id="6" name="">
            <a:extLst xmlns:a="http://schemas.openxmlformats.org/drawingml/2006/main">
              <a:ext uri="{FF2B5EF4-FFF2-40B4-BE49-F238E27FC236}">
                <a16:creationId xmlns:a16="http://schemas.microsoft.com/office/drawing/2014/main" id="{3BC5B61F-DE3E-4B00-8EF6-D7B65BF18A0B}"/>
              </a:ext>
            </a:extLst>
          </p:cNvPr>
          <p:cNvSpPr>
            <a:spLocks xmlns:a="http://schemas.openxmlformats.org/drawingml/2006/main" noGrp="1"/>
          </p:cNvSpPr>
          <p:nvPr/>
        </p:nvSpPr>
        <p:spPr>
          <a:xfrm xmlns:a="http://schemas.openxmlformats.org/drawingml/2006/main">
            <a:off x="4095750" y="1657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0B1220"/>
                </a:solidFill>
                <a:latin typeface="Helvetica Neue"/>
                <a:ea typeface="Helvetica Neue"/>
                <a:cs typeface="Helvetica Neue"/>
              </a:defRPr>
            </a:pPr>
            <a:r>
              <a:rPr sz="1500" b="1">
                <a:solidFill>
                  <a:srgbClr val="0B1220"/>
                </a:solidFill>
                <a:latin typeface="Helvetica Neue"/>
                <a:ea typeface="Helvetica Neue"/>
                <a:cs typeface="Helvetica Neue"/>
              </a:rPr>
              <a:t>Legacy POS</a:t>
            </a:r>
          </a:p>
        </p:txBody>
      </p:sp>
      <p:sp>
        <p:nvSpPr>
          <p:cNvPr id="7" name="">
            <a:extLst xmlns:a="http://schemas.openxmlformats.org/drawingml/2006/main">
              <a:ext uri="{FF2B5EF4-FFF2-40B4-BE49-F238E27FC236}">
                <a16:creationId xmlns:a16="http://schemas.microsoft.com/office/drawing/2014/main" id="{294C8EEF-81D3-4F88-9669-8A8E2EB1C917}"/>
              </a:ext>
            </a:extLst>
          </p:cNvPr>
          <p:cNvSpPr>
            <a:spLocks xmlns:a="http://schemas.openxmlformats.org/drawingml/2006/main" noGrp="1"/>
          </p:cNvSpPr>
          <p:nvPr/>
        </p:nvSpPr>
        <p:spPr>
          <a:xfrm xmlns:a="http://schemas.openxmlformats.org/drawingml/2006/main">
            <a:off x="6686550" y="1657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0B1220"/>
                </a:solidFill>
                <a:latin typeface="Helvetica Neue"/>
                <a:ea typeface="Helvetica Neue"/>
                <a:cs typeface="Helvetica Neue"/>
              </a:defRPr>
            </a:pPr>
            <a:r>
              <a:rPr sz="1500" b="1">
                <a:solidFill>
                  <a:srgbClr val="0B1220"/>
                </a:solidFill>
                <a:latin typeface="Helvetica Neue"/>
                <a:ea typeface="Helvetica Neue"/>
                <a:cs typeface="Helvetica Neue"/>
              </a:rPr>
              <a:t>Horizontale SaaS</a:t>
            </a:r>
          </a:p>
        </p:txBody>
      </p:sp>
      <p:sp>
        <p:nvSpPr>
          <p:cNvPr id="8" name="">
            <a:extLst xmlns:a="http://schemas.openxmlformats.org/drawingml/2006/main">
              <a:ext uri="{FF2B5EF4-FFF2-40B4-BE49-F238E27FC236}">
                <a16:creationId xmlns:a16="http://schemas.microsoft.com/office/drawing/2014/main" id="{E0572B4D-6629-4B5E-AE19-523CF4297DD7}"/>
              </a:ext>
            </a:extLst>
          </p:cNvPr>
          <p:cNvSpPr>
            <a:spLocks xmlns:a="http://schemas.openxmlformats.org/drawingml/2006/main" noGrp="1"/>
          </p:cNvSpPr>
          <p:nvPr/>
        </p:nvSpPr>
        <p:spPr>
          <a:xfrm xmlns:a="http://schemas.openxmlformats.org/drawingml/2006/main">
            <a:off x="9277350" y="1657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2186F3"/>
                </a:solidFill>
                <a:latin typeface="Helvetica Neue"/>
                <a:ea typeface="Helvetica Neue"/>
                <a:cs typeface="Helvetica Neue"/>
              </a:defRPr>
            </a:pPr>
            <a:r>
              <a:rPr sz="1500" b="1">
                <a:solidFill>
                  <a:srgbClr val="2186F3"/>
                </a:solidFill>
                <a:latin typeface="Helvetica Neue"/>
                <a:ea typeface="Helvetica Neue"/>
                <a:cs typeface="Helvetica Neue"/>
              </a:rPr>
              <a:t>PWAYMENT</a:t>
            </a:r>
          </a:p>
        </p:txBody>
      </p:sp>
      <p:sp>
        <p:nvSpPr>
          <p:cNvPr id="9" name="">
            <a:extLst xmlns:a="http://schemas.openxmlformats.org/drawingml/2006/main">
              <a:ext uri="{FF2B5EF4-FFF2-40B4-BE49-F238E27FC236}">
                <a16:creationId xmlns:a16="http://schemas.microsoft.com/office/drawing/2014/main" id="{6DDAD256-1ADF-47E9-82CA-6577BE1392E5}"/>
              </a:ext>
            </a:extLst>
          </p:cNvPr>
          <p:cNvSpPr>
            <a:spLocks xmlns:a="http://schemas.openxmlformats.org/drawingml/2006/main" noGrp="1"/>
          </p:cNvSpPr>
          <p:nvPr/>
        </p:nvSpPr>
        <p:spPr>
          <a:xfrm xmlns:a="http://schemas.openxmlformats.org/drawingml/2006/main">
            <a:off x="400050" y="2171700"/>
            <a:ext cx="11087100" cy="5524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4F9791-5483-427D-867F-815EBA37D5BE}"/>
              </a:ext>
            </a:extLst>
          </p:cNvPr>
          <p:cNvSpPr>
            <a:spLocks xmlns:a="http://schemas.openxmlformats.org/drawingml/2006/main" noGrp="1"/>
          </p:cNvSpPr>
          <p:nvPr/>
        </p:nvSpPr>
        <p:spPr>
          <a:xfrm xmlns:a="http://schemas.openxmlformats.org/drawingml/2006/main">
            <a:off x="571500" y="23431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Offline-first POS</a:t>
            </a:r>
          </a:p>
        </p:txBody>
      </p:sp>
      <p:sp>
        <p:nvSpPr>
          <p:cNvPr id="11" name="">
            <a:extLst xmlns:a="http://schemas.openxmlformats.org/drawingml/2006/main">
              <a:ext uri="{FF2B5EF4-FFF2-40B4-BE49-F238E27FC236}">
                <a16:creationId xmlns:a16="http://schemas.microsoft.com/office/drawing/2014/main" id="{6EB534C3-EB1D-4C57-8DCC-8DD93F762FA7}"/>
              </a:ext>
            </a:extLst>
          </p:cNvPr>
          <p:cNvSpPr>
            <a:spLocks xmlns:a="http://schemas.openxmlformats.org/drawingml/2006/main" noGrp="1"/>
          </p:cNvSpPr>
          <p:nvPr/>
        </p:nvSpPr>
        <p:spPr>
          <a:xfrm xmlns:a="http://schemas.openxmlformats.org/drawingml/2006/main">
            <a:off x="4191000" y="23431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0B1220"/>
                </a:solidFill>
                <a:latin typeface="Helvetica Neue"/>
                <a:ea typeface="Helvetica Neue"/>
                <a:cs typeface="Helvetica Neue"/>
              </a:defRPr>
            </a:pPr>
            <a:r>
              <a:rPr sz="1200" b="0">
                <a:solidFill>
                  <a:srgbClr val="0B1220"/>
                </a:solidFill>
                <a:latin typeface="Helvetica Neue"/>
                <a:ea typeface="Helvetica Neue"/>
                <a:cs typeface="Helvetica Neue"/>
              </a:rPr>
              <a:t>Sterk</a:t>
            </a:r>
          </a:p>
        </p:txBody>
      </p:sp>
      <p:sp>
        <p:nvSpPr>
          <p:cNvPr id="12" name="">
            <a:extLst xmlns:a="http://schemas.openxmlformats.org/drawingml/2006/main">
              <a:ext uri="{FF2B5EF4-FFF2-40B4-BE49-F238E27FC236}">
                <a16:creationId xmlns:a16="http://schemas.microsoft.com/office/drawing/2014/main" id="{64273FD7-234A-4372-9654-D04C062556A6}"/>
              </a:ext>
            </a:extLst>
          </p:cNvPr>
          <p:cNvSpPr>
            <a:spLocks xmlns:a="http://schemas.openxmlformats.org/drawingml/2006/main" noGrp="1"/>
          </p:cNvSpPr>
          <p:nvPr/>
        </p:nvSpPr>
        <p:spPr>
          <a:xfrm xmlns:a="http://schemas.openxmlformats.org/drawingml/2006/main">
            <a:off x="6781800" y="23431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0B1220"/>
                </a:solidFill>
                <a:latin typeface="Helvetica Neue"/>
                <a:ea typeface="Helvetica Neue"/>
                <a:cs typeface="Helvetica Neue"/>
              </a:defRPr>
            </a:pPr>
            <a:r>
              <a:rPr sz="1200" b="0">
                <a:solidFill>
                  <a:srgbClr val="0B1220"/>
                </a:solidFill>
                <a:latin typeface="Helvetica Neue"/>
                <a:ea typeface="Helvetica Neue"/>
                <a:cs typeface="Helvetica Neue"/>
              </a:rPr>
              <a:t>Wisselend</a:t>
            </a:r>
          </a:p>
        </p:txBody>
      </p:sp>
      <p:sp>
        <p:nvSpPr>
          <p:cNvPr id="13" name="">
            <a:extLst xmlns:a="http://schemas.openxmlformats.org/drawingml/2006/main">
              <a:ext uri="{FF2B5EF4-FFF2-40B4-BE49-F238E27FC236}">
                <a16:creationId xmlns:a16="http://schemas.microsoft.com/office/drawing/2014/main" id="{EE17D7A1-42D0-49E6-8083-E80583A1766B}"/>
              </a:ext>
            </a:extLst>
          </p:cNvPr>
          <p:cNvSpPr>
            <a:spLocks xmlns:a="http://schemas.openxmlformats.org/drawingml/2006/main" noGrp="1"/>
          </p:cNvSpPr>
          <p:nvPr/>
        </p:nvSpPr>
        <p:spPr>
          <a:xfrm xmlns:a="http://schemas.openxmlformats.org/drawingml/2006/main">
            <a:off x="9372600" y="23431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2186F3"/>
                </a:solidFill>
                <a:latin typeface="Helvetica Neue"/>
                <a:ea typeface="Helvetica Neue"/>
                <a:cs typeface="Helvetica Neue"/>
              </a:defRPr>
            </a:pPr>
            <a:r>
              <a:rPr sz="1200" b="1">
                <a:solidFill>
                  <a:srgbClr val="2186F3"/>
                </a:solidFill>
                <a:latin typeface="Helvetica Neue"/>
                <a:ea typeface="Helvetica Neue"/>
                <a:cs typeface="Helvetica Neue"/>
              </a:rPr>
              <a:t>Sterk</a:t>
            </a:r>
          </a:p>
        </p:txBody>
      </p:sp>
      <p:sp>
        <p:nvSpPr>
          <p:cNvPr id="14" name="">
            <a:extLst xmlns:a="http://schemas.openxmlformats.org/drawingml/2006/main">
              <a:ext uri="{FF2B5EF4-FFF2-40B4-BE49-F238E27FC236}">
                <a16:creationId xmlns:a16="http://schemas.microsoft.com/office/drawing/2014/main" id="{610DD759-8B57-49AF-93E3-2DAD02FADBDB}"/>
              </a:ext>
            </a:extLst>
          </p:cNvPr>
          <p:cNvSpPr>
            <a:spLocks xmlns:a="http://schemas.openxmlformats.org/drawingml/2006/main" noGrp="1"/>
          </p:cNvSpPr>
          <p:nvPr/>
        </p:nvSpPr>
        <p:spPr>
          <a:xfrm xmlns:a="http://schemas.openxmlformats.org/drawingml/2006/main">
            <a:off x="400050" y="2857500"/>
            <a:ext cx="11087100" cy="552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64702FA-9988-40ED-B85A-85FE5EEEB332}"/>
              </a:ext>
            </a:extLst>
          </p:cNvPr>
          <p:cNvSpPr>
            <a:spLocks xmlns:a="http://schemas.openxmlformats.org/drawingml/2006/main" noGrp="1"/>
          </p:cNvSpPr>
          <p:nvPr/>
        </p:nvSpPr>
        <p:spPr>
          <a:xfrm xmlns:a="http://schemas.openxmlformats.org/drawingml/2006/main">
            <a:off x="571500" y="30289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Voorraad + webshop + CRM</a:t>
            </a:r>
          </a:p>
        </p:txBody>
      </p:sp>
      <p:sp>
        <p:nvSpPr>
          <p:cNvPr id="16" name="">
            <a:extLst xmlns:a="http://schemas.openxmlformats.org/drawingml/2006/main">
              <a:ext uri="{FF2B5EF4-FFF2-40B4-BE49-F238E27FC236}">
                <a16:creationId xmlns:a16="http://schemas.microsoft.com/office/drawing/2014/main" id="{8426ABAC-A23D-4374-B3AA-A69AE2361552}"/>
              </a:ext>
            </a:extLst>
          </p:cNvPr>
          <p:cNvSpPr>
            <a:spLocks xmlns:a="http://schemas.openxmlformats.org/drawingml/2006/main" noGrp="1"/>
          </p:cNvSpPr>
          <p:nvPr/>
        </p:nvSpPr>
        <p:spPr>
          <a:xfrm xmlns:a="http://schemas.openxmlformats.org/drawingml/2006/main">
            <a:off x="4191000" y="30289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0B1220"/>
                </a:solidFill>
                <a:latin typeface="Helvetica Neue"/>
                <a:ea typeface="Helvetica Neue"/>
                <a:cs typeface="Helvetica Neue"/>
              </a:defRPr>
            </a:pPr>
            <a:r>
              <a:rPr sz="1200" b="0">
                <a:solidFill>
                  <a:srgbClr val="0B1220"/>
                </a:solidFill>
                <a:latin typeface="Helvetica Neue"/>
                <a:ea typeface="Helvetica Neue"/>
                <a:cs typeface="Helvetica Neue"/>
              </a:rPr>
              <a:t>Add-ons</a:t>
            </a:r>
          </a:p>
        </p:txBody>
      </p:sp>
      <p:sp>
        <p:nvSpPr>
          <p:cNvPr id="17" name="">
            <a:extLst xmlns:a="http://schemas.openxmlformats.org/drawingml/2006/main">
              <a:ext uri="{FF2B5EF4-FFF2-40B4-BE49-F238E27FC236}">
                <a16:creationId xmlns:a16="http://schemas.microsoft.com/office/drawing/2014/main" id="{B081F609-2F7B-4377-BCFB-0509D3929C35}"/>
              </a:ext>
            </a:extLst>
          </p:cNvPr>
          <p:cNvSpPr>
            <a:spLocks xmlns:a="http://schemas.openxmlformats.org/drawingml/2006/main" noGrp="1"/>
          </p:cNvSpPr>
          <p:nvPr/>
        </p:nvSpPr>
        <p:spPr>
          <a:xfrm xmlns:a="http://schemas.openxmlformats.org/drawingml/2006/main">
            <a:off x="6781800" y="30289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0B1220"/>
                </a:solidFill>
                <a:latin typeface="Helvetica Neue"/>
                <a:ea typeface="Helvetica Neue"/>
                <a:cs typeface="Helvetica Neue"/>
              </a:defRPr>
            </a:pPr>
            <a:r>
              <a:rPr sz="1200" b="0">
                <a:solidFill>
                  <a:srgbClr val="0B1220"/>
                </a:solidFill>
                <a:latin typeface="Helvetica Neue"/>
                <a:ea typeface="Helvetica Neue"/>
                <a:cs typeface="Helvetica Neue"/>
              </a:rPr>
              <a:t>Losse tools</a:t>
            </a:r>
          </a:p>
        </p:txBody>
      </p:sp>
      <p:sp>
        <p:nvSpPr>
          <p:cNvPr id="18" name="">
            <a:extLst xmlns:a="http://schemas.openxmlformats.org/drawingml/2006/main">
              <a:ext uri="{FF2B5EF4-FFF2-40B4-BE49-F238E27FC236}">
                <a16:creationId xmlns:a16="http://schemas.microsoft.com/office/drawing/2014/main" id="{D8246242-9DB7-4443-BFED-B97FC2768396}"/>
              </a:ext>
            </a:extLst>
          </p:cNvPr>
          <p:cNvSpPr>
            <a:spLocks xmlns:a="http://schemas.openxmlformats.org/drawingml/2006/main" noGrp="1"/>
          </p:cNvSpPr>
          <p:nvPr/>
        </p:nvSpPr>
        <p:spPr>
          <a:xfrm xmlns:a="http://schemas.openxmlformats.org/drawingml/2006/main">
            <a:off x="9372600" y="30289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2186F3"/>
                </a:solidFill>
                <a:latin typeface="Helvetica Neue"/>
                <a:ea typeface="Helvetica Neue"/>
                <a:cs typeface="Helvetica Neue"/>
              </a:defRPr>
            </a:pPr>
            <a:r>
              <a:rPr sz="1200" b="1">
                <a:solidFill>
                  <a:srgbClr val="2186F3"/>
                </a:solidFill>
                <a:latin typeface="Helvetica Neue"/>
                <a:ea typeface="Helvetica Neue"/>
                <a:cs typeface="Helvetica Neue"/>
              </a:rPr>
              <a:t>Eén datalaag</a:t>
            </a:r>
          </a:p>
        </p:txBody>
      </p:sp>
      <p:sp>
        <p:nvSpPr>
          <p:cNvPr id="19" name="">
            <a:extLst xmlns:a="http://schemas.openxmlformats.org/drawingml/2006/main">
              <a:ext uri="{FF2B5EF4-FFF2-40B4-BE49-F238E27FC236}">
                <a16:creationId xmlns:a16="http://schemas.microsoft.com/office/drawing/2014/main" id="{FBE59D1F-C031-41E3-BA4C-AF046E932834}"/>
              </a:ext>
            </a:extLst>
          </p:cNvPr>
          <p:cNvSpPr>
            <a:spLocks xmlns:a="http://schemas.openxmlformats.org/drawingml/2006/main" noGrp="1"/>
          </p:cNvSpPr>
          <p:nvPr/>
        </p:nvSpPr>
        <p:spPr>
          <a:xfrm xmlns:a="http://schemas.openxmlformats.org/drawingml/2006/main">
            <a:off x="400050" y="3543300"/>
            <a:ext cx="11087100" cy="5524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765EE91-3DE5-463B-A403-493D1CE584DA}"/>
              </a:ext>
            </a:extLst>
          </p:cNvPr>
          <p:cNvSpPr>
            <a:spLocks xmlns:a="http://schemas.openxmlformats.org/drawingml/2006/main" noGrp="1"/>
          </p:cNvSpPr>
          <p:nvPr/>
        </p:nvSpPr>
        <p:spPr>
          <a:xfrm xmlns:a="http://schemas.openxmlformats.org/drawingml/2006/main">
            <a:off x="571500" y="3714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Belgische retailflows</a:t>
            </a:r>
          </a:p>
        </p:txBody>
      </p:sp>
      <p:sp>
        <p:nvSpPr>
          <p:cNvPr id="21" name="">
            <a:extLst xmlns:a="http://schemas.openxmlformats.org/drawingml/2006/main">
              <a:ext uri="{FF2B5EF4-FFF2-40B4-BE49-F238E27FC236}">
                <a16:creationId xmlns:a16="http://schemas.microsoft.com/office/drawing/2014/main" id="{3DD4DAFA-431E-441C-AFDC-4CC6DBEF2D63}"/>
              </a:ext>
            </a:extLst>
          </p:cNvPr>
          <p:cNvSpPr>
            <a:spLocks xmlns:a="http://schemas.openxmlformats.org/drawingml/2006/main" noGrp="1"/>
          </p:cNvSpPr>
          <p:nvPr/>
        </p:nvSpPr>
        <p:spPr>
          <a:xfrm xmlns:a="http://schemas.openxmlformats.org/drawingml/2006/main">
            <a:off x="4191000" y="37147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0B1220"/>
                </a:solidFill>
                <a:latin typeface="Helvetica Neue"/>
                <a:ea typeface="Helvetica Neue"/>
                <a:cs typeface="Helvetica Neue"/>
              </a:defRPr>
            </a:pPr>
            <a:r>
              <a:rPr sz="1200" b="0">
                <a:solidFill>
                  <a:srgbClr val="0B1220"/>
                </a:solidFill>
                <a:latin typeface="Helvetica Neue"/>
                <a:ea typeface="Helvetica Neue"/>
                <a:cs typeface="Helvetica Neue"/>
              </a:rPr>
              <a:t>Wisselend</a:t>
            </a:r>
          </a:p>
        </p:txBody>
      </p:sp>
      <p:sp>
        <p:nvSpPr>
          <p:cNvPr id="22" name="">
            <a:extLst xmlns:a="http://schemas.openxmlformats.org/drawingml/2006/main">
              <a:ext uri="{FF2B5EF4-FFF2-40B4-BE49-F238E27FC236}">
                <a16:creationId xmlns:a16="http://schemas.microsoft.com/office/drawing/2014/main" id="{1312A2F1-F5DD-445C-AFF8-58D2E5F1B750}"/>
              </a:ext>
            </a:extLst>
          </p:cNvPr>
          <p:cNvSpPr>
            <a:spLocks xmlns:a="http://schemas.openxmlformats.org/drawingml/2006/main" noGrp="1"/>
          </p:cNvSpPr>
          <p:nvPr/>
        </p:nvSpPr>
        <p:spPr>
          <a:xfrm xmlns:a="http://schemas.openxmlformats.org/drawingml/2006/main">
            <a:off x="6781800" y="37147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0B1220"/>
                </a:solidFill>
                <a:latin typeface="Helvetica Neue"/>
                <a:ea typeface="Helvetica Neue"/>
                <a:cs typeface="Helvetica Neue"/>
              </a:defRPr>
            </a:pPr>
            <a:r>
              <a:rPr sz="1200" b="0">
                <a:solidFill>
                  <a:srgbClr val="0B1220"/>
                </a:solidFill>
                <a:latin typeface="Helvetica Neue"/>
                <a:ea typeface="Helvetica Neue"/>
                <a:cs typeface="Helvetica Neue"/>
              </a:rPr>
              <a:t>Beperkt</a:t>
            </a:r>
          </a:p>
        </p:txBody>
      </p:sp>
      <p:sp>
        <p:nvSpPr>
          <p:cNvPr id="23" name="">
            <a:extLst xmlns:a="http://schemas.openxmlformats.org/drawingml/2006/main">
              <a:ext uri="{FF2B5EF4-FFF2-40B4-BE49-F238E27FC236}">
                <a16:creationId xmlns:a16="http://schemas.microsoft.com/office/drawing/2014/main" id="{65B11632-F8BF-4EE7-8659-7BE0275AB49F}"/>
              </a:ext>
            </a:extLst>
          </p:cNvPr>
          <p:cNvSpPr>
            <a:spLocks xmlns:a="http://schemas.openxmlformats.org/drawingml/2006/main" noGrp="1"/>
          </p:cNvSpPr>
          <p:nvPr/>
        </p:nvSpPr>
        <p:spPr>
          <a:xfrm xmlns:a="http://schemas.openxmlformats.org/drawingml/2006/main">
            <a:off x="9372600" y="37147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2186F3"/>
                </a:solidFill>
                <a:latin typeface="Helvetica Neue"/>
                <a:ea typeface="Helvetica Neue"/>
                <a:cs typeface="Helvetica Neue"/>
              </a:defRPr>
            </a:pPr>
            <a:r>
              <a:rPr sz="1200" b="1">
                <a:solidFill>
                  <a:srgbClr val="2186F3"/>
                </a:solidFill>
                <a:latin typeface="Helvetica Neue"/>
                <a:ea typeface="Helvetica Neue"/>
                <a:cs typeface="Helvetica Neue"/>
              </a:rPr>
              <a:t>In de kern</a:t>
            </a:r>
          </a:p>
        </p:txBody>
      </p:sp>
      <p:sp>
        <p:nvSpPr>
          <p:cNvPr id="24" name="">
            <a:extLst xmlns:a="http://schemas.openxmlformats.org/drawingml/2006/main">
              <a:ext uri="{FF2B5EF4-FFF2-40B4-BE49-F238E27FC236}">
                <a16:creationId xmlns:a16="http://schemas.microsoft.com/office/drawing/2014/main" id="{6791987C-0DC6-4D90-9C3A-DC4E06FA414E}"/>
              </a:ext>
            </a:extLst>
          </p:cNvPr>
          <p:cNvSpPr>
            <a:spLocks xmlns:a="http://schemas.openxmlformats.org/drawingml/2006/main" noGrp="1"/>
          </p:cNvSpPr>
          <p:nvPr/>
        </p:nvSpPr>
        <p:spPr>
          <a:xfrm xmlns:a="http://schemas.openxmlformats.org/drawingml/2006/main">
            <a:off x="400050" y="4229100"/>
            <a:ext cx="11087100" cy="55245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47B4217-DCC0-4BC1-B96A-7432FA876CCA}"/>
              </a:ext>
            </a:extLst>
          </p:cNvPr>
          <p:cNvSpPr>
            <a:spLocks xmlns:a="http://schemas.openxmlformats.org/drawingml/2006/main" noGrp="1"/>
          </p:cNvSpPr>
          <p:nvPr/>
        </p:nvSpPr>
        <p:spPr>
          <a:xfrm xmlns:a="http://schemas.openxmlformats.org/drawingml/2006/main">
            <a:off x="571500" y="44005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Actiegerichte intelligence</a:t>
            </a:r>
          </a:p>
        </p:txBody>
      </p:sp>
      <p:sp>
        <p:nvSpPr>
          <p:cNvPr id="26" name="">
            <a:extLst xmlns:a="http://schemas.openxmlformats.org/drawingml/2006/main">
              <a:ext uri="{FF2B5EF4-FFF2-40B4-BE49-F238E27FC236}">
                <a16:creationId xmlns:a16="http://schemas.microsoft.com/office/drawing/2014/main" id="{915B08F8-51AE-4D02-812C-C8CABCD4DB43}"/>
              </a:ext>
            </a:extLst>
          </p:cNvPr>
          <p:cNvSpPr>
            <a:spLocks xmlns:a="http://schemas.openxmlformats.org/drawingml/2006/main" noGrp="1"/>
          </p:cNvSpPr>
          <p:nvPr/>
        </p:nvSpPr>
        <p:spPr>
          <a:xfrm xmlns:a="http://schemas.openxmlformats.org/drawingml/2006/main">
            <a:off x="4191000" y="44005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0B1220"/>
                </a:solidFill>
                <a:latin typeface="Helvetica Neue"/>
                <a:ea typeface="Helvetica Neue"/>
                <a:cs typeface="Helvetica Neue"/>
              </a:defRPr>
            </a:pPr>
            <a:r>
              <a:rPr sz="1200" b="0">
                <a:solidFill>
                  <a:srgbClr val="0B1220"/>
                </a:solidFill>
                <a:latin typeface="Helvetica Neue"/>
                <a:ea typeface="Helvetica Neue"/>
                <a:cs typeface="Helvetica Neue"/>
              </a:rPr>
              <a:t>Rapporten</a:t>
            </a:r>
          </a:p>
        </p:txBody>
      </p:sp>
      <p:sp>
        <p:nvSpPr>
          <p:cNvPr id="27" name="">
            <a:extLst xmlns:a="http://schemas.openxmlformats.org/drawingml/2006/main">
              <a:ext uri="{FF2B5EF4-FFF2-40B4-BE49-F238E27FC236}">
                <a16:creationId xmlns:a16="http://schemas.microsoft.com/office/drawing/2014/main" id="{F1282933-F4B0-4BBE-8F94-B184AA8AADF6}"/>
              </a:ext>
            </a:extLst>
          </p:cNvPr>
          <p:cNvSpPr>
            <a:spLocks xmlns:a="http://schemas.openxmlformats.org/drawingml/2006/main" noGrp="1"/>
          </p:cNvSpPr>
          <p:nvPr/>
        </p:nvSpPr>
        <p:spPr>
          <a:xfrm xmlns:a="http://schemas.openxmlformats.org/drawingml/2006/main">
            <a:off x="6781800" y="44005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0B1220"/>
                </a:solidFill>
                <a:latin typeface="Helvetica Neue"/>
                <a:ea typeface="Helvetica Neue"/>
                <a:cs typeface="Helvetica Neue"/>
              </a:defRPr>
            </a:pPr>
            <a:r>
              <a:rPr sz="1200" b="0">
                <a:solidFill>
                  <a:srgbClr val="0B1220"/>
                </a:solidFill>
                <a:latin typeface="Helvetica Neue"/>
                <a:ea typeface="Helvetica Neue"/>
                <a:cs typeface="Helvetica Neue"/>
              </a:rPr>
              <a:t>Generiek</a:t>
            </a:r>
          </a:p>
        </p:txBody>
      </p:sp>
      <p:sp>
        <p:nvSpPr>
          <p:cNvPr id="28" name="">
            <a:extLst xmlns:a="http://schemas.openxmlformats.org/drawingml/2006/main">
              <a:ext uri="{FF2B5EF4-FFF2-40B4-BE49-F238E27FC236}">
                <a16:creationId xmlns:a16="http://schemas.microsoft.com/office/drawing/2014/main" id="{D14D6217-DB5C-4416-94B2-B6CA78B193BD}"/>
              </a:ext>
            </a:extLst>
          </p:cNvPr>
          <p:cNvSpPr>
            <a:spLocks xmlns:a="http://schemas.openxmlformats.org/drawingml/2006/main" noGrp="1"/>
          </p:cNvSpPr>
          <p:nvPr/>
        </p:nvSpPr>
        <p:spPr>
          <a:xfrm xmlns:a="http://schemas.openxmlformats.org/drawingml/2006/main">
            <a:off x="9372600" y="44005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2186F3"/>
                </a:solidFill>
                <a:latin typeface="Helvetica Neue"/>
                <a:ea typeface="Helvetica Neue"/>
                <a:cs typeface="Helvetica Neue"/>
              </a:defRPr>
            </a:pPr>
            <a:r>
              <a:rPr sz="1200" b="1">
                <a:solidFill>
                  <a:srgbClr val="2186F3"/>
                </a:solidFill>
                <a:latin typeface="Helvetica Neue"/>
                <a:ea typeface="Helvetica Neue"/>
                <a:cs typeface="Helvetica Neue"/>
              </a:rPr>
              <a:t>Retailcontext</a:t>
            </a:r>
          </a:p>
        </p:txBody>
      </p:sp>
      <p:sp>
        <p:nvSpPr>
          <p:cNvPr id="29" name="">
            <a:extLst xmlns:a="http://schemas.openxmlformats.org/drawingml/2006/main">
              <a:ext uri="{FF2B5EF4-FFF2-40B4-BE49-F238E27FC236}">
                <a16:creationId xmlns:a16="http://schemas.microsoft.com/office/drawing/2014/main" id="{82F57E05-674C-41DF-94C7-B1B66CD87A63}"/>
              </a:ext>
            </a:extLst>
          </p:cNvPr>
          <p:cNvSpPr>
            <a:spLocks xmlns:a="http://schemas.openxmlformats.org/drawingml/2006/main" noGrp="1"/>
          </p:cNvSpPr>
          <p:nvPr/>
        </p:nvSpPr>
        <p:spPr>
          <a:xfrm xmlns:a="http://schemas.openxmlformats.org/drawingml/2006/main">
            <a:off x="400050" y="4914900"/>
            <a:ext cx="11087100" cy="5524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3BE5DBE-4425-4B43-B1A0-279C9291E983}"/>
              </a:ext>
            </a:extLst>
          </p:cNvPr>
          <p:cNvSpPr>
            <a:spLocks xmlns:a="http://schemas.openxmlformats.org/drawingml/2006/main" noGrp="1"/>
          </p:cNvSpPr>
          <p:nvPr/>
        </p:nvSpPr>
        <p:spPr>
          <a:xfrm xmlns:a="http://schemas.openxmlformats.org/drawingml/2006/main">
            <a:off x="571500" y="50863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Implementatie voor specialist retail</a:t>
            </a:r>
          </a:p>
        </p:txBody>
      </p:sp>
      <p:sp>
        <p:nvSpPr>
          <p:cNvPr id="31" name="">
            <a:extLst xmlns:a="http://schemas.openxmlformats.org/drawingml/2006/main">
              <a:ext uri="{FF2B5EF4-FFF2-40B4-BE49-F238E27FC236}">
                <a16:creationId xmlns:a16="http://schemas.microsoft.com/office/drawing/2014/main" id="{08D8C144-25EF-4F73-9BBF-9747D727EEB4}"/>
              </a:ext>
            </a:extLst>
          </p:cNvPr>
          <p:cNvSpPr>
            <a:spLocks xmlns:a="http://schemas.openxmlformats.org/drawingml/2006/main" noGrp="1"/>
          </p:cNvSpPr>
          <p:nvPr/>
        </p:nvSpPr>
        <p:spPr>
          <a:xfrm xmlns:a="http://schemas.openxmlformats.org/drawingml/2006/main">
            <a:off x="4191000" y="50863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0B1220"/>
                </a:solidFill>
                <a:latin typeface="Helvetica Neue"/>
                <a:ea typeface="Helvetica Neue"/>
                <a:cs typeface="Helvetica Neue"/>
              </a:defRPr>
            </a:pPr>
            <a:r>
              <a:rPr sz="1200" b="0">
                <a:solidFill>
                  <a:srgbClr val="0B1220"/>
                </a:solidFill>
                <a:latin typeface="Helvetica Neue"/>
                <a:ea typeface="Helvetica Neue"/>
                <a:cs typeface="Helvetica Neue"/>
              </a:rPr>
              <a:t>Projectmatig</a:t>
            </a:r>
          </a:p>
        </p:txBody>
      </p:sp>
      <p:sp>
        <p:nvSpPr>
          <p:cNvPr id="32" name="">
            <a:extLst xmlns:a="http://schemas.openxmlformats.org/drawingml/2006/main">
              <a:ext uri="{FF2B5EF4-FFF2-40B4-BE49-F238E27FC236}">
                <a16:creationId xmlns:a16="http://schemas.microsoft.com/office/drawing/2014/main" id="{233B2A80-FC54-418B-86D8-DC97233F00FC}"/>
              </a:ext>
            </a:extLst>
          </p:cNvPr>
          <p:cNvSpPr>
            <a:spLocks xmlns:a="http://schemas.openxmlformats.org/drawingml/2006/main" noGrp="1"/>
          </p:cNvSpPr>
          <p:nvPr/>
        </p:nvSpPr>
        <p:spPr>
          <a:xfrm xmlns:a="http://schemas.openxmlformats.org/drawingml/2006/main">
            <a:off x="6781800" y="50863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0B1220"/>
                </a:solidFill>
                <a:latin typeface="Helvetica Neue"/>
                <a:ea typeface="Helvetica Neue"/>
                <a:cs typeface="Helvetica Neue"/>
              </a:defRPr>
            </a:pPr>
            <a:r>
              <a:rPr sz="1200" b="0">
                <a:solidFill>
                  <a:srgbClr val="0B1220"/>
                </a:solidFill>
                <a:latin typeface="Helvetica Neue"/>
                <a:ea typeface="Helvetica Neue"/>
                <a:cs typeface="Helvetica Neue"/>
              </a:rPr>
              <a:t>Self-service</a:t>
            </a:r>
          </a:p>
        </p:txBody>
      </p:sp>
      <p:sp>
        <p:nvSpPr>
          <p:cNvPr id="33" name="">
            <a:extLst xmlns:a="http://schemas.openxmlformats.org/drawingml/2006/main">
              <a:ext uri="{FF2B5EF4-FFF2-40B4-BE49-F238E27FC236}">
                <a16:creationId xmlns:a16="http://schemas.microsoft.com/office/drawing/2014/main" id="{0C2AF160-256F-47AA-B491-EB3F04A42185}"/>
              </a:ext>
            </a:extLst>
          </p:cNvPr>
          <p:cNvSpPr>
            <a:spLocks xmlns:a="http://schemas.openxmlformats.org/drawingml/2006/main" noGrp="1"/>
          </p:cNvSpPr>
          <p:nvPr/>
        </p:nvSpPr>
        <p:spPr>
          <a:xfrm xmlns:a="http://schemas.openxmlformats.org/drawingml/2006/main">
            <a:off x="9372600" y="50863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2186F3"/>
                </a:solidFill>
                <a:latin typeface="Helvetica Neue"/>
                <a:ea typeface="Helvetica Neue"/>
                <a:cs typeface="Helvetica Neue"/>
              </a:defRPr>
            </a:pPr>
            <a:r>
              <a:rPr sz="1200" b="1">
                <a:solidFill>
                  <a:srgbClr val="2186F3"/>
                </a:solidFill>
                <a:latin typeface="Helvetica Neue"/>
                <a:ea typeface="Helvetica Neue"/>
                <a:cs typeface="Helvetica Neue"/>
              </a:rPr>
              <a:t>Vertical playbook</a:t>
            </a:r>
          </a:p>
        </p:txBody>
      </p:sp>
      <p:sp>
        <p:nvSpPr>
          <p:cNvPr id="34" name="">
            <a:extLst xmlns:a="http://schemas.openxmlformats.org/drawingml/2006/main">
              <a:ext uri="{FF2B5EF4-FFF2-40B4-BE49-F238E27FC236}">
                <a16:creationId xmlns:a16="http://schemas.microsoft.com/office/drawing/2014/main" id="{EAD6E28C-F8A2-4C29-91D0-F4041B6E6159}"/>
              </a:ext>
            </a:extLst>
          </p:cNvPr>
          <p:cNvSpPr>
            <a:spLocks xmlns:a="http://schemas.openxmlformats.org/drawingml/2006/main" noGrp="1"/>
          </p:cNvSpPr>
          <p:nvPr/>
        </p:nvSpPr>
        <p:spPr>
          <a:xfrm xmlns:a="http://schemas.openxmlformats.org/drawingml/2006/main">
            <a:off x="400050" y="584835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Verdedigbare laag: transactiedata + operationele workflows + verticale implementatiekennis.</a:t>
            </a:r>
          </a:p>
        </p:txBody>
      </p:sp>
    </p:spTree>
    <p:extLst>
      <p:ext uri="{BB962C8B-B14F-4D97-AF65-F5344CB8AC3E}">
        <p14:creationId xmlns:p14="http://schemas.microsoft.com/office/powerpoint/2010/main" val="9435534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4017EC9-8D62-4B87-B00B-770D82C9E0D1}"/>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USE OF FUNDS</a:t>
            </a:r>
          </a:p>
        </p:txBody>
      </p:sp>
      <p:sp>
        <p:nvSpPr>
          <p:cNvPr id="2" name="">
            <a:extLst xmlns:a="http://schemas.openxmlformats.org/drawingml/2006/main">
              <a:ext uri="{FF2B5EF4-FFF2-40B4-BE49-F238E27FC236}">
                <a16:creationId xmlns:a16="http://schemas.microsoft.com/office/drawing/2014/main" id="{E258843E-ED14-44C3-80B5-B687D1A5B055}"/>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€ 250.000 koopt 18 maanden focus — met een harde commerciële opdracht.</a:t>
            </a:r>
          </a:p>
        </p:txBody>
      </p:sp>
      <p:sp>
        <p:nvSpPr>
          <p:cNvPr id="3" name="">
            <a:extLst xmlns:a="http://schemas.openxmlformats.org/drawingml/2006/main">
              <a:ext uri="{FF2B5EF4-FFF2-40B4-BE49-F238E27FC236}">
                <a16:creationId xmlns:a16="http://schemas.microsoft.com/office/drawing/2014/main" id="{D605CA54-52BB-42E7-B052-008754DB7CD6}"/>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C2C5211F-C401-437E-8DF5-2254AD9B9E8B}"/>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09</a:t>
            </a:r>
          </a:p>
        </p:txBody>
      </p:sp>
      <p:graphicFrame>
        <p:nvGraphicFramePr>
          <p:cNvPr id="23" name="Chart"/>
          <p:cNvGraphicFramePr/>
          <p:nvPr/>
        </p:nvGraphicFramePr>
        <p:xfrm>
          <a:off xmlns:a="http://schemas.openxmlformats.org/drawingml/2006/main" x="400050" y="1581150"/>
          <a:ext xmlns:a="http://schemas.openxmlformats.org/drawingml/2006/main" cx="6191250" cy="4267200"/>
        </p:xfrm>
        <a:graphic xmlns:a="http://schemas.openxmlformats.org/drawingml/2006/main">
          <a:graphicData uri="http://schemas.openxmlformats.org/drawingml/2006/chart">
            <c:chart xmlns:r="http://schemas.openxmlformats.org/officeDocument/2006/relationships" xmlns:c="http://schemas.openxmlformats.org/drawingml/2006/chart" r:id="R1f7c5af5d298439b"/>
          </a:graphicData>
        </a:graphic>
      </p:graphicFrame>
      <p:sp>
        <p:nvSpPr>
          <p:cNvPr id="6" name="">
            <a:extLst xmlns:a="http://schemas.openxmlformats.org/drawingml/2006/main">
              <a:ext uri="{FF2B5EF4-FFF2-40B4-BE49-F238E27FC236}">
                <a16:creationId xmlns:a16="http://schemas.microsoft.com/office/drawing/2014/main" id="{ADBE69B1-EADD-4998-97AC-D3225DEB4643}"/>
              </a:ext>
            </a:extLst>
          </p:cNvPr>
          <p:cNvSpPr>
            <a:spLocks xmlns:a="http://schemas.openxmlformats.org/drawingml/2006/main" noGrp="1"/>
          </p:cNvSpPr>
          <p:nvPr/>
        </p:nvSpPr>
        <p:spPr>
          <a:xfrm xmlns:a="http://schemas.openxmlformats.org/drawingml/2006/main">
            <a:off x="7143750" y="1619250"/>
            <a:ext cx="4343400" cy="116205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628059F-1B3E-4A21-AB4D-47CDFB1A3FD9}"/>
              </a:ext>
            </a:extLst>
          </p:cNvPr>
          <p:cNvSpPr>
            <a:spLocks xmlns:a="http://schemas.openxmlformats.org/drawingml/2006/main" noGrp="1"/>
          </p:cNvSpPr>
          <p:nvPr/>
        </p:nvSpPr>
        <p:spPr>
          <a:xfrm xmlns:a="http://schemas.openxmlformats.org/drawingml/2006/main">
            <a:off x="7372350" y="1828800"/>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38%</a:t>
            </a:r>
          </a:p>
        </p:txBody>
      </p:sp>
      <p:sp>
        <p:nvSpPr>
          <p:cNvPr id="8" name="">
            <a:extLst xmlns:a="http://schemas.openxmlformats.org/drawingml/2006/main">
              <a:ext uri="{FF2B5EF4-FFF2-40B4-BE49-F238E27FC236}">
                <a16:creationId xmlns:a16="http://schemas.microsoft.com/office/drawing/2014/main" id="{DFCBF676-3F5D-4A50-8421-E01D7A4309DC}"/>
              </a:ext>
            </a:extLst>
          </p:cNvPr>
          <p:cNvSpPr>
            <a:spLocks xmlns:a="http://schemas.openxmlformats.org/drawingml/2006/main" noGrp="1"/>
          </p:cNvSpPr>
          <p:nvPr/>
        </p:nvSpPr>
        <p:spPr>
          <a:xfrm xmlns:a="http://schemas.openxmlformats.org/drawingml/2006/main">
            <a:off x="8515350" y="1809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Product</a:t>
            </a:r>
          </a:p>
        </p:txBody>
      </p:sp>
      <p:sp>
        <p:nvSpPr>
          <p:cNvPr id="9" name="">
            <a:extLst xmlns:a="http://schemas.openxmlformats.org/drawingml/2006/main">
              <a:ext uri="{FF2B5EF4-FFF2-40B4-BE49-F238E27FC236}">
                <a16:creationId xmlns:a16="http://schemas.microsoft.com/office/drawing/2014/main" id="{28865FFD-43EE-4881-8676-F700BE4D31C6}"/>
              </a:ext>
            </a:extLst>
          </p:cNvPr>
          <p:cNvSpPr>
            <a:spLocks xmlns:a="http://schemas.openxmlformats.org/drawingml/2006/main" noGrp="1"/>
          </p:cNvSpPr>
          <p:nvPr/>
        </p:nvSpPr>
        <p:spPr>
          <a:xfrm xmlns:a="http://schemas.openxmlformats.org/drawingml/2006/main">
            <a:off x="8515350" y="217170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Senior engineeringcapaciteit, stabiliteit, billing en integraties.</a:t>
            </a:r>
          </a:p>
        </p:txBody>
      </p:sp>
      <p:sp>
        <p:nvSpPr>
          <p:cNvPr id="10" name="">
            <a:extLst xmlns:a="http://schemas.openxmlformats.org/drawingml/2006/main">
              <a:ext uri="{FF2B5EF4-FFF2-40B4-BE49-F238E27FC236}">
                <a16:creationId xmlns:a16="http://schemas.microsoft.com/office/drawing/2014/main" id="{18F8482B-5729-4CC3-B440-B716A4A12B23}"/>
              </a:ext>
            </a:extLst>
          </p:cNvPr>
          <p:cNvSpPr>
            <a:spLocks xmlns:a="http://schemas.openxmlformats.org/drawingml/2006/main" noGrp="1"/>
          </p:cNvSpPr>
          <p:nvPr/>
        </p:nvSpPr>
        <p:spPr>
          <a:xfrm xmlns:a="http://schemas.openxmlformats.org/drawingml/2006/main">
            <a:off x="7143750" y="3009900"/>
            <a:ext cx="4343400" cy="11620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F218D1F-EDDE-4469-A515-FF064DA12D79}"/>
              </a:ext>
            </a:extLst>
          </p:cNvPr>
          <p:cNvSpPr>
            <a:spLocks xmlns:a="http://schemas.openxmlformats.org/drawingml/2006/main" noGrp="1"/>
          </p:cNvSpPr>
          <p:nvPr/>
        </p:nvSpPr>
        <p:spPr>
          <a:xfrm xmlns:a="http://schemas.openxmlformats.org/drawingml/2006/main">
            <a:off x="7372350" y="3219450"/>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22%</a:t>
            </a:r>
          </a:p>
        </p:txBody>
      </p:sp>
      <p:sp>
        <p:nvSpPr>
          <p:cNvPr id="12" name="">
            <a:extLst xmlns:a="http://schemas.openxmlformats.org/drawingml/2006/main">
              <a:ext uri="{FF2B5EF4-FFF2-40B4-BE49-F238E27FC236}">
                <a16:creationId xmlns:a16="http://schemas.microsoft.com/office/drawing/2014/main" id="{29C10BE2-DB99-45C0-B6D8-6666F7BEB0FB}"/>
              </a:ext>
            </a:extLst>
          </p:cNvPr>
          <p:cNvSpPr>
            <a:spLocks xmlns:a="http://schemas.openxmlformats.org/drawingml/2006/main" noGrp="1"/>
          </p:cNvSpPr>
          <p:nvPr/>
        </p:nvSpPr>
        <p:spPr>
          <a:xfrm xmlns:a="http://schemas.openxmlformats.org/drawingml/2006/main">
            <a:off x="8515350" y="32004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Verkoop</a:t>
            </a:r>
          </a:p>
        </p:txBody>
      </p:sp>
      <p:sp>
        <p:nvSpPr>
          <p:cNvPr id="13" name="">
            <a:extLst xmlns:a="http://schemas.openxmlformats.org/drawingml/2006/main">
              <a:ext uri="{FF2B5EF4-FFF2-40B4-BE49-F238E27FC236}">
                <a16:creationId xmlns:a16="http://schemas.microsoft.com/office/drawing/2014/main" id="{37206D11-9C90-459A-A506-0334C2AE156D}"/>
              </a:ext>
            </a:extLst>
          </p:cNvPr>
          <p:cNvSpPr>
            <a:spLocks xmlns:a="http://schemas.openxmlformats.org/drawingml/2006/main" noGrp="1"/>
          </p:cNvSpPr>
          <p:nvPr/>
        </p:nvSpPr>
        <p:spPr>
          <a:xfrm xmlns:a="http://schemas.openxmlformats.org/drawingml/2006/main">
            <a:off x="8515350" y="35623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83"/>
          </a:bodyPr>
          <a:lstStyle xmlns:a="http://schemas.openxmlformats.org/drawingml/2006/main"/>
          <a:p xmlns:a="http://schemas.openxmlformats.org/drawingml/2006/main">
            <a:pPr algn="l">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Founder-led pipeline, vertical campagnes, events en partnerenablement.</a:t>
            </a:r>
          </a:p>
        </p:txBody>
      </p:sp>
      <p:sp>
        <p:nvSpPr>
          <p:cNvPr id="14" name="">
            <a:extLst xmlns:a="http://schemas.openxmlformats.org/drawingml/2006/main">
              <a:ext uri="{FF2B5EF4-FFF2-40B4-BE49-F238E27FC236}">
                <a16:creationId xmlns:a16="http://schemas.microsoft.com/office/drawing/2014/main" id="{1AD471E2-C96C-411D-938D-ED43683F2705}"/>
              </a:ext>
            </a:extLst>
          </p:cNvPr>
          <p:cNvSpPr>
            <a:spLocks xmlns:a="http://schemas.openxmlformats.org/drawingml/2006/main" noGrp="1"/>
          </p:cNvSpPr>
          <p:nvPr/>
        </p:nvSpPr>
        <p:spPr>
          <a:xfrm xmlns:a="http://schemas.openxmlformats.org/drawingml/2006/main">
            <a:off x="7143750" y="4400550"/>
            <a:ext cx="4343400" cy="11620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1B8B20C-4D65-4D40-92FD-8BDA141E6F23}"/>
              </a:ext>
            </a:extLst>
          </p:cNvPr>
          <p:cNvSpPr>
            <a:spLocks xmlns:a="http://schemas.openxmlformats.org/drawingml/2006/main" noGrp="1"/>
          </p:cNvSpPr>
          <p:nvPr/>
        </p:nvSpPr>
        <p:spPr>
          <a:xfrm xmlns:a="http://schemas.openxmlformats.org/drawingml/2006/main">
            <a:off x="7372350" y="4610100"/>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12%</a:t>
            </a:r>
          </a:p>
        </p:txBody>
      </p:sp>
      <p:sp>
        <p:nvSpPr>
          <p:cNvPr id="16" name="">
            <a:extLst xmlns:a="http://schemas.openxmlformats.org/drawingml/2006/main">
              <a:ext uri="{FF2B5EF4-FFF2-40B4-BE49-F238E27FC236}">
                <a16:creationId xmlns:a16="http://schemas.microsoft.com/office/drawing/2014/main" id="{BD5939F1-939A-4BA2-944E-713535F46E12}"/>
              </a:ext>
            </a:extLst>
          </p:cNvPr>
          <p:cNvSpPr>
            <a:spLocks xmlns:a="http://schemas.openxmlformats.org/drawingml/2006/main" noGrp="1"/>
          </p:cNvSpPr>
          <p:nvPr/>
        </p:nvSpPr>
        <p:spPr>
          <a:xfrm xmlns:a="http://schemas.openxmlformats.org/drawingml/2006/main">
            <a:off x="8515350" y="45910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Reserve</a:t>
            </a:r>
          </a:p>
        </p:txBody>
      </p:sp>
      <p:sp>
        <p:nvSpPr>
          <p:cNvPr id="17" name="">
            <a:extLst xmlns:a="http://schemas.openxmlformats.org/drawingml/2006/main">
              <a:ext uri="{FF2B5EF4-FFF2-40B4-BE49-F238E27FC236}">
                <a16:creationId xmlns:a16="http://schemas.microsoft.com/office/drawing/2014/main" id="{D3345096-7B3D-4927-A02D-B61346281BDF}"/>
              </a:ext>
            </a:extLst>
          </p:cNvPr>
          <p:cNvSpPr>
            <a:spLocks xmlns:a="http://schemas.openxmlformats.org/drawingml/2006/main" noGrp="1"/>
          </p:cNvSpPr>
          <p:nvPr/>
        </p:nvSpPr>
        <p:spPr>
          <a:xfrm xmlns:a="http://schemas.openxmlformats.org/drawingml/2006/main">
            <a:off x="8515350" y="495300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Buffer voor langere salescycli; alleen vrij bij gemiste/versnelde gates.</a:t>
            </a:r>
          </a:p>
        </p:txBody>
      </p:sp>
      <p:sp>
        <p:nvSpPr>
          <p:cNvPr id="18" name="">
            <a:extLst xmlns:a="http://schemas.openxmlformats.org/drawingml/2006/main">
              <a:ext uri="{FF2B5EF4-FFF2-40B4-BE49-F238E27FC236}">
                <a16:creationId xmlns:a16="http://schemas.microsoft.com/office/drawing/2014/main" id="{AB08D4F0-6075-44A2-BE09-3B6000D920DE}"/>
              </a:ext>
            </a:extLst>
          </p:cNvPr>
          <p:cNvSpPr>
            <a:spLocks xmlns:a="http://schemas.openxmlformats.org/drawingml/2006/main" noGrp="1"/>
          </p:cNvSpPr>
          <p:nvPr/>
        </p:nvSpPr>
        <p:spPr>
          <a:xfrm xmlns:a="http://schemas.openxmlformats.org/drawingml/2006/main">
            <a:off x="7143750" y="5715000"/>
            <a:ext cx="434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41"/>
          </a:bodyPr>
          <a:lstStyle xmlns:a="http://schemas.openxmlformats.org/drawingml/2006/main"/>
          <a:p xmlns:a="http://schemas.openxmlformats.org/drawingml/2006/main">
            <a:pPr algn="l">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Gemiddelde netto burn: € 13,9k per maand. Omzet verlengt de runway; ze is niet nodig om de eerste 18 maanden te modelleren.</a:t>
            </a:r>
          </a:p>
        </p:txBody>
      </p:sp>
    </p:spTree>
    <p:extLst>
      <p:ext uri="{BB962C8B-B14F-4D97-AF65-F5344CB8AC3E}">
        <p14:creationId xmlns:p14="http://schemas.microsoft.com/office/powerpoint/2010/main" val="9306091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6805D6F-3978-4130-B7DD-234697CC8277}"/>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18-MAANDENPLAN</a:t>
            </a:r>
          </a:p>
        </p:txBody>
      </p:sp>
      <p:sp>
        <p:nvSpPr>
          <p:cNvPr id="2" name="">
            <a:extLst xmlns:a="http://schemas.openxmlformats.org/drawingml/2006/main">
              <a:ext uri="{FF2B5EF4-FFF2-40B4-BE49-F238E27FC236}">
                <a16:creationId xmlns:a16="http://schemas.microsoft.com/office/drawing/2014/main" id="{95A56584-39BF-48FD-BEBE-2568FB6A21E4}"/>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Elke tranche van tijd eindigt in bewijs, niet alleen in output.</a:t>
            </a:r>
          </a:p>
        </p:txBody>
      </p:sp>
      <p:sp>
        <p:nvSpPr>
          <p:cNvPr id="3" name="">
            <a:extLst xmlns:a="http://schemas.openxmlformats.org/drawingml/2006/main">
              <a:ext uri="{FF2B5EF4-FFF2-40B4-BE49-F238E27FC236}">
                <a16:creationId xmlns:a16="http://schemas.microsoft.com/office/drawing/2014/main" id="{4B165B9F-4123-4AE7-9239-B23B2AB7862F}"/>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C270234F-E2AF-4EA1-AE54-BEA9845FA7D2}"/>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8CF8F74A-2006-4946-A67C-3CC140FB7EE1}"/>
              </a:ext>
            </a:extLst>
          </p:cNvPr>
          <p:cNvSpPr>
            <a:spLocks xmlns:a="http://schemas.openxmlformats.org/drawingml/2006/main" noGrp="1"/>
          </p:cNvSpPr>
          <p:nvPr/>
        </p:nvSpPr>
        <p:spPr>
          <a:xfrm xmlns:a="http://schemas.openxmlformats.org/drawingml/2006/main">
            <a:off x="400050" y="3333750"/>
            <a:ext cx="11087100" cy="1905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8F8655-A53E-436A-9988-64F91EB0C494}"/>
              </a:ext>
            </a:extLst>
          </p:cNvPr>
          <p:cNvSpPr>
            <a:spLocks xmlns:a="http://schemas.openxmlformats.org/drawingml/2006/main" noGrp="1"/>
          </p:cNvSpPr>
          <p:nvPr/>
        </p:nvSpPr>
        <p:spPr>
          <a:xfrm xmlns:a="http://schemas.openxmlformats.org/drawingml/2006/main">
            <a:off x="400050" y="2419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2186F3"/>
                </a:solidFill>
                <a:latin typeface="Helvetica Neue"/>
                <a:ea typeface="Helvetica Neue"/>
                <a:cs typeface="Helvetica Neue"/>
              </a:defRPr>
            </a:pPr>
            <a:r>
              <a:rPr sz="1425" b="1">
                <a:solidFill>
                  <a:srgbClr val="2186F3"/>
                </a:solidFill>
                <a:latin typeface="Helvetica Neue"/>
                <a:ea typeface="Helvetica Neue"/>
                <a:cs typeface="Helvetica Neue"/>
              </a:rPr>
              <a:t>M0–3</a:t>
            </a:r>
          </a:p>
        </p:txBody>
      </p:sp>
      <p:sp>
        <p:nvSpPr>
          <p:cNvPr id="7" name="">
            <a:extLst xmlns:a="http://schemas.openxmlformats.org/drawingml/2006/main">
              <a:ext uri="{FF2B5EF4-FFF2-40B4-BE49-F238E27FC236}">
                <a16:creationId xmlns:a16="http://schemas.microsoft.com/office/drawing/2014/main" id="{A9E2C9DA-CC25-4B06-AF6F-D14B27EF15F3}"/>
              </a:ext>
            </a:extLst>
          </p:cNvPr>
          <p:cNvSpPr>
            <a:spLocks xmlns:a="http://schemas.openxmlformats.org/drawingml/2006/main" noGrp="1"/>
          </p:cNvSpPr>
          <p:nvPr/>
        </p:nvSpPr>
        <p:spPr>
          <a:xfrm xmlns:a="http://schemas.openxmlformats.org/drawingml/2006/main">
            <a:off x="400050" y="3276600"/>
            <a:ext cx="152400" cy="152400"/>
          </a:xfrm>
          <a:prstGeom xmlns:a="http://schemas.openxmlformats.org/drawingml/2006/main" prst="roundRect">
            <a:avLst>
              <a:gd name="adj" fmla="val 50000"/>
            </a:avLst>
          </a:prstGeom>
          <a:solidFill xmlns:a="http://schemas.openxmlformats.org/drawingml/2006/main">
            <a:srgbClr val="2186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D022389-8268-40EE-B7B5-31234521E4B3}"/>
              </a:ext>
            </a:extLst>
          </p:cNvPr>
          <p:cNvSpPr>
            <a:spLocks xmlns:a="http://schemas.openxmlformats.org/drawingml/2006/main" noGrp="1"/>
          </p:cNvSpPr>
          <p:nvPr/>
        </p:nvSpPr>
        <p:spPr>
          <a:xfrm xmlns:a="http://schemas.openxmlformats.org/drawingml/2006/main">
            <a:off x="400050" y="37338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Product verkoopbaar</a:t>
            </a:r>
          </a:p>
        </p:txBody>
      </p:sp>
      <p:sp>
        <p:nvSpPr>
          <p:cNvPr id="9" name="">
            <a:extLst xmlns:a="http://schemas.openxmlformats.org/drawingml/2006/main">
              <a:ext uri="{FF2B5EF4-FFF2-40B4-BE49-F238E27FC236}">
                <a16:creationId xmlns:a16="http://schemas.microsoft.com/office/drawing/2014/main" id="{DF251CB0-7DF6-4580-8A89-A26D0BFC05BE}"/>
              </a:ext>
            </a:extLst>
          </p:cNvPr>
          <p:cNvSpPr>
            <a:spLocks xmlns:a="http://schemas.openxmlformats.org/drawingml/2006/main" noGrp="1"/>
          </p:cNvSpPr>
          <p:nvPr/>
        </p:nvSpPr>
        <p:spPr>
          <a:xfrm xmlns:a="http://schemas.openxmlformats.org/drawingml/2006/main">
            <a:off x="400050" y="42672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Billing live</a:t>
            </a:r>
          </a:p>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Migratie &lt; 1 dag</a:t>
            </a:r>
          </a:p>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10 design partners</a:t>
            </a:r>
          </a:p>
        </p:txBody>
      </p:sp>
      <p:sp>
        <p:nvSpPr>
          <p:cNvPr id="10" name="">
            <a:extLst xmlns:a="http://schemas.openxmlformats.org/drawingml/2006/main">
              <a:ext uri="{FF2B5EF4-FFF2-40B4-BE49-F238E27FC236}">
                <a16:creationId xmlns:a16="http://schemas.microsoft.com/office/drawing/2014/main" id="{911B0523-1BE4-43D4-9361-14F54769B707}"/>
              </a:ext>
            </a:extLst>
          </p:cNvPr>
          <p:cNvSpPr>
            <a:spLocks xmlns:a="http://schemas.openxmlformats.org/drawingml/2006/main" noGrp="1"/>
          </p:cNvSpPr>
          <p:nvPr/>
        </p:nvSpPr>
        <p:spPr>
          <a:xfrm xmlns:a="http://schemas.openxmlformats.org/drawingml/2006/main">
            <a:off x="400050" y="5257800"/>
            <a:ext cx="3333750" cy="4000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FD382E8-74E2-4978-A219-6317D978D805}"/>
              </a:ext>
            </a:extLst>
          </p:cNvPr>
          <p:cNvSpPr>
            <a:spLocks xmlns:a="http://schemas.openxmlformats.org/drawingml/2006/main" noGrp="1"/>
          </p:cNvSpPr>
          <p:nvPr/>
        </p:nvSpPr>
        <p:spPr>
          <a:xfrm xmlns:a="http://schemas.openxmlformats.org/drawingml/2006/main">
            <a:off x="533400" y="5381625"/>
            <a:ext cx="3067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0B1220"/>
                </a:solidFill>
                <a:latin typeface="Helvetica Neue"/>
                <a:ea typeface="Helvetica Neue"/>
                <a:cs typeface="Helvetica Neue"/>
              </a:defRPr>
            </a:pPr>
            <a:r>
              <a:rPr sz="1050" b="1">
                <a:solidFill>
                  <a:srgbClr val="0B1220"/>
                </a:solidFill>
                <a:latin typeface="Helvetica Neue"/>
                <a:ea typeface="Helvetica Neue"/>
                <a:cs typeface="Helvetica Neue"/>
              </a:rPr>
              <a:t>GO: 5 actief per week</a:t>
            </a:r>
          </a:p>
        </p:txBody>
      </p:sp>
      <p:sp>
        <p:nvSpPr>
          <p:cNvPr id="12" name="">
            <a:extLst xmlns:a="http://schemas.openxmlformats.org/drawingml/2006/main">
              <a:ext uri="{FF2B5EF4-FFF2-40B4-BE49-F238E27FC236}">
                <a16:creationId xmlns:a16="http://schemas.microsoft.com/office/drawing/2014/main" id="{A3B29128-0739-42E7-9D92-613C3C2DE2B3}"/>
              </a:ext>
            </a:extLst>
          </p:cNvPr>
          <p:cNvSpPr>
            <a:spLocks xmlns:a="http://schemas.openxmlformats.org/drawingml/2006/main" noGrp="1"/>
          </p:cNvSpPr>
          <p:nvPr/>
        </p:nvSpPr>
        <p:spPr>
          <a:xfrm xmlns:a="http://schemas.openxmlformats.org/drawingml/2006/main">
            <a:off x="4229100" y="2419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2186F3"/>
                </a:solidFill>
                <a:latin typeface="Helvetica Neue"/>
                <a:ea typeface="Helvetica Neue"/>
                <a:cs typeface="Helvetica Neue"/>
              </a:defRPr>
            </a:pPr>
            <a:r>
              <a:rPr sz="1425" b="1">
                <a:solidFill>
                  <a:srgbClr val="2186F3"/>
                </a:solidFill>
                <a:latin typeface="Helvetica Neue"/>
                <a:ea typeface="Helvetica Neue"/>
                <a:cs typeface="Helvetica Neue"/>
              </a:rPr>
              <a:t>M4–9</a:t>
            </a:r>
          </a:p>
        </p:txBody>
      </p:sp>
      <p:sp>
        <p:nvSpPr>
          <p:cNvPr id="13" name="">
            <a:extLst xmlns:a="http://schemas.openxmlformats.org/drawingml/2006/main">
              <a:ext uri="{FF2B5EF4-FFF2-40B4-BE49-F238E27FC236}">
                <a16:creationId xmlns:a16="http://schemas.microsoft.com/office/drawing/2014/main" id="{EC0E4D5B-E602-4BD6-A108-0D8C935FDA26}"/>
              </a:ext>
            </a:extLst>
          </p:cNvPr>
          <p:cNvSpPr>
            <a:spLocks xmlns:a="http://schemas.openxmlformats.org/drawingml/2006/main" noGrp="1"/>
          </p:cNvSpPr>
          <p:nvPr/>
        </p:nvSpPr>
        <p:spPr>
          <a:xfrm xmlns:a="http://schemas.openxmlformats.org/drawingml/2006/main">
            <a:off x="4229100" y="3276600"/>
            <a:ext cx="152400" cy="152400"/>
          </a:xfrm>
          <a:prstGeom xmlns:a="http://schemas.openxmlformats.org/drawingml/2006/main" prst="roundRect">
            <a:avLst>
              <a:gd name="adj" fmla="val 50000"/>
            </a:avLst>
          </a:prstGeom>
          <a:solidFill xmlns:a="http://schemas.openxmlformats.org/drawingml/2006/main">
            <a:srgbClr val="2186F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F4F8B2F-EC85-4EB8-B9FF-FC4E51D0F154}"/>
              </a:ext>
            </a:extLst>
          </p:cNvPr>
          <p:cNvSpPr>
            <a:spLocks xmlns:a="http://schemas.openxmlformats.org/drawingml/2006/main" noGrp="1"/>
          </p:cNvSpPr>
          <p:nvPr/>
        </p:nvSpPr>
        <p:spPr>
          <a:xfrm xmlns:a="http://schemas.openxmlformats.org/drawingml/2006/main">
            <a:off x="4229100" y="37338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Cohort converteert</a:t>
            </a:r>
          </a:p>
        </p:txBody>
      </p:sp>
      <p:sp>
        <p:nvSpPr>
          <p:cNvPr id="15" name="">
            <a:extLst xmlns:a="http://schemas.openxmlformats.org/drawingml/2006/main">
              <a:ext uri="{FF2B5EF4-FFF2-40B4-BE49-F238E27FC236}">
                <a16:creationId xmlns:a16="http://schemas.microsoft.com/office/drawing/2014/main" id="{C375E11D-29D3-4F1D-8D7E-EA0E7FB6CE21}"/>
              </a:ext>
            </a:extLst>
          </p:cNvPr>
          <p:cNvSpPr>
            <a:spLocks xmlns:a="http://schemas.openxmlformats.org/drawingml/2006/main" noGrp="1"/>
          </p:cNvSpPr>
          <p:nvPr/>
        </p:nvSpPr>
        <p:spPr>
          <a:xfrm xmlns:a="http://schemas.openxmlformats.org/drawingml/2006/main">
            <a:off x="4229100" y="42672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30 betalende locaties</a:t>
            </a:r>
          </a:p>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€ 2,7k MRR</a:t>
            </a:r>
          </a:p>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Eerste 3 cases</a:t>
            </a:r>
          </a:p>
        </p:txBody>
      </p:sp>
      <p:sp>
        <p:nvSpPr>
          <p:cNvPr id="16" name="">
            <a:extLst xmlns:a="http://schemas.openxmlformats.org/drawingml/2006/main">
              <a:ext uri="{FF2B5EF4-FFF2-40B4-BE49-F238E27FC236}">
                <a16:creationId xmlns:a16="http://schemas.microsoft.com/office/drawing/2014/main" id="{803B83DA-587F-4F81-813C-6A1FDFBAFFDB}"/>
              </a:ext>
            </a:extLst>
          </p:cNvPr>
          <p:cNvSpPr>
            <a:spLocks xmlns:a="http://schemas.openxmlformats.org/drawingml/2006/main" noGrp="1"/>
          </p:cNvSpPr>
          <p:nvPr/>
        </p:nvSpPr>
        <p:spPr>
          <a:xfrm xmlns:a="http://schemas.openxmlformats.org/drawingml/2006/main">
            <a:off x="4229100" y="5257800"/>
            <a:ext cx="3333750" cy="4000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87C3B5A-E649-4C7F-AD50-9D69F155432D}"/>
              </a:ext>
            </a:extLst>
          </p:cNvPr>
          <p:cNvSpPr>
            <a:spLocks xmlns:a="http://schemas.openxmlformats.org/drawingml/2006/main" noGrp="1"/>
          </p:cNvSpPr>
          <p:nvPr/>
        </p:nvSpPr>
        <p:spPr>
          <a:xfrm xmlns:a="http://schemas.openxmlformats.org/drawingml/2006/main">
            <a:off x="4362450" y="5381625"/>
            <a:ext cx="3067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0B1220"/>
                </a:solidFill>
                <a:latin typeface="Helvetica Neue"/>
                <a:ea typeface="Helvetica Neue"/>
                <a:cs typeface="Helvetica Neue"/>
              </a:defRPr>
            </a:pPr>
            <a:r>
              <a:rPr sz="1050" b="1">
                <a:solidFill>
                  <a:srgbClr val="0B1220"/>
                </a:solidFill>
                <a:latin typeface="Helvetica Neue"/>
                <a:ea typeface="Helvetica Neue"/>
                <a:cs typeface="Helvetica Neue"/>
              </a:rPr>
              <a:t>GO: CAC &lt; € 1.000</a:t>
            </a:r>
          </a:p>
        </p:txBody>
      </p:sp>
      <p:sp>
        <p:nvSpPr>
          <p:cNvPr id="18" name="">
            <a:extLst xmlns:a="http://schemas.openxmlformats.org/drawingml/2006/main">
              <a:ext uri="{FF2B5EF4-FFF2-40B4-BE49-F238E27FC236}">
                <a16:creationId xmlns:a16="http://schemas.microsoft.com/office/drawing/2014/main" id="{6E515313-C8C9-427F-8C28-1FD144A54E5E}"/>
              </a:ext>
            </a:extLst>
          </p:cNvPr>
          <p:cNvSpPr>
            <a:spLocks xmlns:a="http://schemas.openxmlformats.org/drawingml/2006/main" noGrp="1"/>
          </p:cNvSpPr>
          <p:nvPr/>
        </p:nvSpPr>
        <p:spPr>
          <a:xfrm xmlns:a="http://schemas.openxmlformats.org/drawingml/2006/main">
            <a:off x="8058150" y="2419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2186F3"/>
                </a:solidFill>
                <a:latin typeface="Helvetica Neue"/>
                <a:ea typeface="Helvetica Neue"/>
                <a:cs typeface="Helvetica Neue"/>
              </a:defRPr>
            </a:pPr>
            <a:r>
              <a:rPr sz="1425" b="1">
                <a:solidFill>
                  <a:srgbClr val="2186F3"/>
                </a:solidFill>
                <a:latin typeface="Helvetica Neue"/>
                <a:ea typeface="Helvetica Neue"/>
                <a:cs typeface="Helvetica Neue"/>
              </a:rPr>
              <a:t>M10–18</a:t>
            </a:r>
          </a:p>
        </p:txBody>
      </p:sp>
      <p:sp>
        <p:nvSpPr>
          <p:cNvPr id="19" name="">
            <a:extLst xmlns:a="http://schemas.openxmlformats.org/drawingml/2006/main">
              <a:ext uri="{FF2B5EF4-FFF2-40B4-BE49-F238E27FC236}">
                <a16:creationId xmlns:a16="http://schemas.microsoft.com/office/drawing/2014/main" id="{4E79422E-68DE-4AED-8E2C-7D324A8361FA}"/>
              </a:ext>
            </a:extLst>
          </p:cNvPr>
          <p:cNvSpPr>
            <a:spLocks xmlns:a="http://schemas.openxmlformats.org/drawingml/2006/main" noGrp="1"/>
          </p:cNvSpPr>
          <p:nvPr/>
        </p:nvSpPr>
        <p:spPr>
          <a:xfrm xmlns:a="http://schemas.openxmlformats.org/drawingml/2006/main">
            <a:off x="8058150" y="3276600"/>
            <a:ext cx="152400" cy="152400"/>
          </a:xfrm>
          <a:prstGeom xmlns:a="http://schemas.openxmlformats.org/drawingml/2006/main" prst="roundRect">
            <a:avLst>
              <a:gd name="adj" fmla="val 50000"/>
            </a:avLst>
          </a:prstGeom>
          <a:solidFill xmlns:a="http://schemas.openxmlformats.org/drawingml/2006/main">
            <a:srgbClr val="2186F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48F98FC-8139-4A49-A459-35289AF31A87}"/>
              </a:ext>
            </a:extLst>
          </p:cNvPr>
          <p:cNvSpPr>
            <a:spLocks xmlns:a="http://schemas.openxmlformats.org/drawingml/2006/main" noGrp="1"/>
          </p:cNvSpPr>
          <p:nvPr/>
        </p:nvSpPr>
        <p:spPr>
          <a:xfrm xmlns:a="http://schemas.openxmlformats.org/drawingml/2006/main">
            <a:off x="8058150" y="37338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Kanaal herhaalbaar</a:t>
            </a:r>
          </a:p>
        </p:txBody>
      </p:sp>
      <p:sp>
        <p:nvSpPr>
          <p:cNvPr id="21" name="">
            <a:extLst xmlns:a="http://schemas.openxmlformats.org/drawingml/2006/main">
              <a:ext uri="{FF2B5EF4-FFF2-40B4-BE49-F238E27FC236}">
                <a16:creationId xmlns:a16="http://schemas.microsoft.com/office/drawing/2014/main" id="{32CD8062-3AE4-4166-8457-C67D9AF31838}"/>
              </a:ext>
            </a:extLst>
          </p:cNvPr>
          <p:cNvSpPr>
            <a:spLocks xmlns:a="http://schemas.openxmlformats.org/drawingml/2006/main" noGrp="1"/>
          </p:cNvSpPr>
          <p:nvPr/>
        </p:nvSpPr>
        <p:spPr>
          <a:xfrm xmlns:a="http://schemas.openxmlformats.org/drawingml/2006/main">
            <a:off x="8058150" y="42672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100 betalende locaties</a:t>
            </a:r>
          </a:p>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€ 9k MRR</a:t>
            </a:r>
          </a:p>
          <a:p xmlns:a="http://schemas.openxmlformats.org/drawingml/2006/main">
            <a:pPr algn="l">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GM &gt; 80%</a:t>
            </a:r>
          </a:p>
        </p:txBody>
      </p:sp>
      <p:sp>
        <p:nvSpPr>
          <p:cNvPr id="22" name="">
            <a:extLst xmlns:a="http://schemas.openxmlformats.org/drawingml/2006/main">
              <a:ext uri="{FF2B5EF4-FFF2-40B4-BE49-F238E27FC236}">
                <a16:creationId xmlns:a16="http://schemas.microsoft.com/office/drawing/2014/main" id="{60E36D0B-EAF7-494B-878A-71AE40242082}"/>
              </a:ext>
            </a:extLst>
          </p:cNvPr>
          <p:cNvSpPr>
            <a:spLocks xmlns:a="http://schemas.openxmlformats.org/drawingml/2006/main" noGrp="1"/>
          </p:cNvSpPr>
          <p:nvPr/>
        </p:nvSpPr>
        <p:spPr>
          <a:xfrm xmlns:a="http://schemas.openxmlformats.org/drawingml/2006/main">
            <a:off x="8058150" y="5257800"/>
            <a:ext cx="3333750" cy="400050"/>
          </a:xfrm>
          <a:prstGeom xmlns:a="http://schemas.openxmlformats.org/drawingml/2006/main" prst="rect">
            <a:avLst/>
          </a:prstGeom>
          <a:solidFill xmlns:a="http://schemas.openxmlformats.org/drawingml/2006/main">
            <a:srgbClr val="2186F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73813F8-BF9A-416E-BCE9-8CAFAC9FBD90}"/>
              </a:ext>
            </a:extLst>
          </p:cNvPr>
          <p:cNvSpPr>
            <a:spLocks xmlns:a="http://schemas.openxmlformats.org/drawingml/2006/main" noGrp="1"/>
          </p:cNvSpPr>
          <p:nvPr/>
        </p:nvSpPr>
        <p:spPr>
          <a:xfrm xmlns:a="http://schemas.openxmlformats.org/drawingml/2006/main">
            <a:off x="8191500" y="5381625"/>
            <a:ext cx="3067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GO: payback &lt; 12 mnd</a:t>
            </a:r>
          </a:p>
        </p:txBody>
      </p:sp>
    </p:spTree>
    <p:extLst>
      <p:ext uri="{BB962C8B-B14F-4D97-AF65-F5344CB8AC3E}">
        <p14:creationId xmlns:p14="http://schemas.microsoft.com/office/powerpoint/2010/main" val="2151308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9288EAF-C1DF-4344-8216-A1396E7368C2}"/>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FINANCIEEL MODEL</a:t>
            </a:r>
          </a:p>
        </p:txBody>
      </p:sp>
      <p:sp>
        <p:nvSpPr>
          <p:cNvPr id="2" name="">
            <a:extLst xmlns:a="http://schemas.openxmlformats.org/drawingml/2006/main">
              <a:ext uri="{FF2B5EF4-FFF2-40B4-BE49-F238E27FC236}">
                <a16:creationId xmlns:a16="http://schemas.microsoft.com/office/drawing/2014/main" id="{8296E5C5-B687-4726-9360-00439FD194A4}"/>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De base case bewijst repeatability; winstgevendheid volgt na de ronde.</a:t>
            </a:r>
          </a:p>
        </p:txBody>
      </p:sp>
      <p:sp>
        <p:nvSpPr>
          <p:cNvPr id="3" name="">
            <a:extLst xmlns:a="http://schemas.openxmlformats.org/drawingml/2006/main">
              <a:ext uri="{FF2B5EF4-FFF2-40B4-BE49-F238E27FC236}">
                <a16:creationId xmlns:a16="http://schemas.microsoft.com/office/drawing/2014/main" id="{F53C97AD-2821-4771-AA27-797C7E479BA5}"/>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14F7F27F-5348-4675-BCA3-D239862CFBAC}"/>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11</a:t>
            </a:r>
          </a:p>
        </p:txBody>
      </p:sp>
      <p:graphicFrame>
        <p:nvGraphicFramePr>
          <p:cNvPr id="20" name="Chart"/>
          <p:cNvGraphicFramePr/>
          <p:nvPr/>
        </p:nvGraphicFramePr>
        <p:xfrm>
          <a:off xmlns:a="http://schemas.openxmlformats.org/drawingml/2006/main" x="400050" y="1676400"/>
          <a:ext xmlns:a="http://schemas.openxmlformats.org/drawingml/2006/main" cx="6362700" cy="4076700"/>
        </p:xfrm>
        <a:graphic xmlns:a="http://schemas.openxmlformats.org/drawingml/2006/main">
          <a:graphicData uri="http://schemas.openxmlformats.org/drawingml/2006/chart">
            <c:chart xmlns:r="http://schemas.openxmlformats.org/officeDocument/2006/relationships" xmlns:c="http://schemas.openxmlformats.org/drawingml/2006/chart" r:id="R0c4f2b51bb074d40"/>
          </a:graphicData>
        </a:graphic>
      </p:graphicFrame>
      <p:sp>
        <p:nvSpPr>
          <p:cNvPr id="6" name="">
            <a:extLst xmlns:a="http://schemas.openxmlformats.org/drawingml/2006/main">
              <a:ext uri="{FF2B5EF4-FFF2-40B4-BE49-F238E27FC236}">
                <a16:creationId xmlns:a16="http://schemas.microsoft.com/office/drawing/2014/main" id="{28FC7823-508A-4FD2-B495-95B65D2347A5}"/>
              </a:ext>
            </a:extLst>
          </p:cNvPr>
          <p:cNvSpPr>
            <a:spLocks xmlns:a="http://schemas.openxmlformats.org/drawingml/2006/main" noGrp="1"/>
          </p:cNvSpPr>
          <p:nvPr/>
        </p:nvSpPr>
        <p:spPr>
          <a:xfrm xmlns:a="http://schemas.openxmlformats.org/drawingml/2006/main">
            <a:off x="7429500" y="1676400"/>
            <a:ext cx="4057650" cy="10668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D81C58C-7383-4BCB-A69C-5835A6520D13}"/>
              </a:ext>
            </a:extLst>
          </p:cNvPr>
          <p:cNvSpPr>
            <a:spLocks xmlns:a="http://schemas.openxmlformats.org/drawingml/2006/main" noGrp="1"/>
          </p:cNvSpPr>
          <p:nvPr/>
        </p:nvSpPr>
        <p:spPr>
          <a:xfrm xmlns:a="http://schemas.openxmlformats.org/drawingml/2006/main">
            <a:off x="7696200" y="184785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€ 1,35k</a:t>
            </a:r>
          </a:p>
        </p:txBody>
      </p:sp>
      <p:sp>
        <p:nvSpPr>
          <p:cNvPr id="8" name="">
            <a:extLst xmlns:a="http://schemas.openxmlformats.org/drawingml/2006/main">
              <a:ext uri="{FF2B5EF4-FFF2-40B4-BE49-F238E27FC236}">
                <a16:creationId xmlns:a16="http://schemas.microsoft.com/office/drawing/2014/main" id="{9E317FBB-C548-4CEA-B4DC-7AD9825D230F}"/>
              </a:ext>
            </a:extLst>
          </p:cNvPr>
          <p:cNvSpPr>
            <a:spLocks xmlns:a="http://schemas.openxmlformats.org/drawingml/2006/main" noGrp="1"/>
          </p:cNvSpPr>
          <p:nvPr/>
        </p:nvSpPr>
        <p:spPr>
          <a:xfrm xmlns:a="http://schemas.openxmlformats.org/drawingml/2006/main">
            <a:off x="9525000" y="19621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B1220"/>
                </a:solidFill>
                <a:latin typeface="Helvetica Neue"/>
                <a:ea typeface="Helvetica Neue"/>
                <a:cs typeface="Helvetica Neue"/>
              </a:defRPr>
            </a:pPr>
            <a:r>
              <a:rPr sz="1275" b="1">
                <a:solidFill>
                  <a:srgbClr val="0B1220"/>
                </a:solidFill>
                <a:latin typeface="Helvetica Neue"/>
                <a:ea typeface="Helvetica Neue"/>
                <a:cs typeface="Helvetica Neue"/>
              </a:rPr>
              <a:t>MRR maand 6</a:t>
            </a:r>
          </a:p>
        </p:txBody>
      </p:sp>
      <p:sp>
        <p:nvSpPr>
          <p:cNvPr id="9" name="">
            <a:extLst xmlns:a="http://schemas.openxmlformats.org/drawingml/2006/main">
              <a:ext uri="{FF2B5EF4-FFF2-40B4-BE49-F238E27FC236}">
                <a16:creationId xmlns:a16="http://schemas.microsoft.com/office/drawing/2014/main" id="{6B9BB05F-B27C-459E-AC5D-5A09DFF61E42}"/>
              </a:ext>
            </a:extLst>
          </p:cNvPr>
          <p:cNvSpPr>
            <a:spLocks xmlns:a="http://schemas.openxmlformats.org/drawingml/2006/main" noGrp="1"/>
          </p:cNvSpPr>
          <p:nvPr/>
        </p:nvSpPr>
        <p:spPr>
          <a:xfrm xmlns:a="http://schemas.openxmlformats.org/drawingml/2006/main">
            <a:off x="7429500" y="3028950"/>
            <a:ext cx="4057650" cy="10668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2F830E0-88CF-4C0A-A785-C71795944DB7}"/>
              </a:ext>
            </a:extLst>
          </p:cNvPr>
          <p:cNvSpPr>
            <a:spLocks xmlns:a="http://schemas.openxmlformats.org/drawingml/2006/main" noGrp="1"/>
          </p:cNvSpPr>
          <p:nvPr/>
        </p:nvSpPr>
        <p:spPr>
          <a:xfrm xmlns:a="http://schemas.openxmlformats.org/drawingml/2006/main">
            <a:off x="7696200" y="32004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€ 4,5k</a:t>
            </a:r>
          </a:p>
        </p:txBody>
      </p:sp>
      <p:sp>
        <p:nvSpPr>
          <p:cNvPr id="11" name="">
            <a:extLst xmlns:a="http://schemas.openxmlformats.org/drawingml/2006/main">
              <a:ext uri="{FF2B5EF4-FFF2-40B4-BE49-F238E27FC236}">
                <a16:creationId xmlns:a16="http://schemas.microsoft.com/office/drawing/2014/main" id="{1CD1074B-7D25-415F-89EB-FAB604A5CDDA}"/>
              </a:ext>
            </a:extLst>
          </p:cNvPr>
          <p:cNvSpPr>
            <a:spLocks xmlns:a="http://schemas.openxmlformats.org/drawingml/2006/main" noGrp="1"/>
          </p:cNvSpPr>
          <p:nvPr/>
        </p:nvSpPr>
        <p:spPr>
          <a:xfrm xmlns:a="http://schemas.openxmlformats.org/drawingml/2006/main">
            <a:off x="9525000" y="3314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B1220"/>
                </a:solidFill>
                <a:latin typeface="Helvetica Neue"/>
                <a:ea typeface="Helvetica Neue"/>
                <a:cs typeface="Helvetica Neue"/>
              </a:defRPr>
            </a:pPr>
            <a:r>
              <a:rPr sz="1275" b="1">
                <a:solidFill>
                  <a:srgbClr val="0B1220"/>
                </a:solidFill>
                <a:latin typeface="Helvetica Neue"/>
                <a:ea typeface="Helvetica Neue"/>
                <a:cs typeface="Helvetica Neue"/>
              </a:rPr>
              <a:t>MRR maand 12</a:t>
            </a:r>
          </a:p>
        </p:txBody>
      </p:sp>
      <p:sp>
        <p:nvSpPr>
          <p:cNvPr id="12" name="">
            <a:extLst xmlns:a="http://schemas.openxmlformats.org/drawingml/2006/main">
              <a:ext uri="{FF2B5EF4-FFF2-40B4-BE49-F238E27FC236}">
                <a16:creationId xmlns:a16="http://schemas.microsoft.com/office/drawing/2014/main" id="{994FC410-27D2-4AD2-AA45-CF1114326543}"/>
              </a:ext>
            </a:extLst>
          </p:cNvPr>
          <p:cNvSpPr>
            <a:spLocks xmlns:a="http://schemas.openxmlformats.org/drawingml/2006/main" noGrp="1"/>
          </p:cNvSpPr>
          <p:nvPr/>
        </p:nvSpPr>
        <p:spPr>
          <a:xfrm xmlns:a="http://schemas.openxmlformats.org/drawingml/2006/main">
            <a:off x="7429500" y="4381500"/>
            <a:ext cx="4057650" cy="1066800"/>
          </a:xfrm>
          <a:prstGeom xmlns:a="http://schemas.openxmlformats.org/drawingml/2006/main" prst="rect">
            <a:avLst/>
          </a:prstGeom>
          <a:solidFill xmlns:a="http://schemas.openxmlformats.org/drawingml/2006/main">
            <a:srgbClr val="2186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F353D96-657D-4801-A785-593F08084577}"/>
              </a:ext>
            </a:extLst>
          </p:cNvPr>
          <p:cNvSpPr>
            <a:spLocks xmlns:a="http://schemas.openxmlformats.org/drawingml/2006/main" noGrp="1"/>
          </p:cNvSpPr>
          <p:nvPr/>
        </p:nvSpPr>
        <p:spPr>
          <a:xfrm xmlns:a="http://schemas.openxmlformats.org/drawingml/2006/main">
            <a:off x="7696200" y="455295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€ 9,0k</a:t>
            </a:r>
          </a:p>
        </p:txBody>
      </p:sp>
      <p:sp>
        <p:nvSpPr>
          <p:cNvPr id="14" name="">
            <a:extLst xmlns:a="http://schemas.openxmlformats.org/drawingml/2006/main">
              <a:ext uri="{FF2B5EF4-FFF2-40B4-BE49-F238E27FC236}">
                <a16:creationId xmlns:a16="http://schemas.microsoft.com/office/drawing/2014/main" id="{A1D8E8F2-565F-42E6-93E8-ADC0C38FCC61}"/>
              </a:ext>
            </a:extLst>
          </p:cNvPr>
          <p:cNvSpPr>
            <a:spLocks xmlns:a="http://schemas.openxmlformats.org/drawingml/2006/main" noGrp="1"/>
          </p:cNvSpPr>
          <p:nvPr/>
        </p:nvSpPr>
        <p:spPr>
          <a:xfrm xmlns:a="http://schemas.openxmlformats.org/drawingml/2006/main">
            <a:off x="9525000" y="46672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MRR maand 18</a:t>
            </a:r>
          </a:p>
        </p:txBody>
      </p:sp>
      <p:sp>
        <p:nvSpPr>
          <p:cNvPr id="15" name="">
            <a:extLst xmlns:a="http://schemas.openxmlformats.org/drawingml/2006/main">
              <a:ext uri="{FF2B5EF4-FFF2-40B4-BE49-F238E27FC236}">
                <a16:creationId xmlns:a16="http://schemas.microsoft.com/office/drawing/2014/main" id="{52F8922D-C64E-46FB-9A03-807564FEFB95}"/>
              </a:ext>
            </a:extLst>
          </p:cNvPr>
          <p:cNvSpPr>
            <a:spLocks xmlns:a="http://schemas.openxmlformats.org/drawingml/2006/main" noGrp="1"/>
          </p:cNvSpPr>
          <p:nvPr/>
        </p:nvSpPr>
        <p:spPr>
          <a:xfrm xmlns:a="http://schemas.openxmlformats.org/drawingml/2006/main">
            <a:off x="7429500" y="5810250"/>
            <a:ext cx="4057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970"/>
          </a:bodyPr>
          <a:lstStyle xmlns:a="http://schemas.openxmlformats.org/drawingml/2006/main"/>
          <a:p xmlns:a="http://schemas.openxmlformats.org/drawingml/2006/main">
            <a:pPr algn="l">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Aannames: € 90 blended ARPA · geen omzetclaim vandaag · volgende financieringsbeslissing rond maand 15 als groei kapitaal vraagt.</a:t>
            </a:r>
          </a:p>
        </p:txBody>
      </p:sp>
    </p:spTree>
    <p:extLst>
      <p:ext uri="{BB962C8B-B14F-4D97-AF65-F5344CB8AC3E}">
        <p14:creationId xmlns:p14="http://schemas.microsoft.com/office/powerpoint/2010/main" val="20168953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1AF3031-1067-48C4-A75B-BF773954C980}"/>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INVESTERINGSLOGICA</a:t>
            </a:r>
          </a:p>
        </p:txBody>
      </p:sp>
      <p:sp>
        <p:nvSpPr>
          <p:cNvPr id="2" name="">
            <a:extLst xmlns:a="http://schemas.openxmlformats.org/drawingml/2006/main">
              <a:ext uri="{FF2B5EF4-FFF2-40B4-BE49-F238E27FC236}">
                <a16:creationId xmlns:a16="http://schemas.microsoft.com/office/drawing/2014/main" id="{04B04634-29E2-4B7B-B323-F9E0E8ABEABF}"/>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Na 18 maanden zijn de drie grootste onzekerheden meetbaar kleiner.</a:t>
            </a:r>
          </a:p>
        </p:txBody>
      </p:sp>
      <p:sp>
        <p:nvSpPr>
          <p:cNvPr id="3" name="">
            <a:extLst xmlns:a="http://schemas.openxmlformats.org/drawingml/2006/main">
              <a:ext uri="{FF2B5EF4-FFF2-40B4-BE49-F238E27FC236}">
                <a16:creationId xmlns:a16="http://schemas.microsoft.com/office/drawing/2014/main" id="{B0F67161-65FB-4623-9C91-71227F49AC50}"/>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11B2E1F7-59AC-461A-8798-D880D8CC7858}"/>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9A68C8C2-AB3F-461E-A861-C86278A71CF0}"/>
              </a:ext>
            </a:extLst>
          </p:cNvPr>
          <p:cNvSpPr>
            <a:spLocks xmlns:a="http://schemas.openxmlformats.org/drawingml/2006/main" noGrp="1"/>
          </p:cNvSpPr>
          <p:nvPr/>
        </p:nvSpPr>
        <p:spPr>
          <a:xfrm xmlns:a="http://schemas.openxmlformats.org/drawingml/2006/main">
            <a:off x="400050" y="1809750"/>
            <a:ext cx="3429000" cy="33718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D6E73F9-FDAC-426D-BFEA-159DACDB2C33}"/>
              </a:ext>
            </a:extLst>
          </p:cNvPr>
          <p:cNvSpPr>
            <a:spLocks xmlns:a="http://schemas.openxmlformats.org/drawingml/2006/main" noGrp="1"/>
          </p:cNvSpPr>
          <p:nvPr/>
        </p:nvSpPr>
        <p:spPr>
          <a:xfrm xmlns:a="http://schemas.openxmlformats.org/drawingml/2006/main">
            <a:off x="628650" y="2076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186F3"/>
                </a:solidFill>
                <a:latin typeface="Helvetica Neue"/>
                <a:ea typeface="Helvetica Neue"/>
                <a:cs typeface="Helvetica Neue"/>
              </a:defRPr>
            </a:pPr>
            <a:r>
              <a:rPr sz="975" b="1">
                <a:solidFill>
                  <a:srgbClr val="2186F3"/>
                </a:solidFill>
                <a:latin typeface="Helvetica Neue"/>
                <a:ea typeface="Helvetica Neue"/>
                <a:cs typeface="Helvetica Neue"/>
              </a:rPr>
              <a:t>PRODUCT</a:t>
            </a:r>
          </a:p>
        </p:txBody>
      </p:sp>
      <p:sp>
        <p:nvSpPr>
          <p:cNvPr id="7" name="">
            <a:extLst xmlns:a="http://schemas.openxmlformats.org/drawingml/2006/main">
              <a:ext uri="{FF2B5EF4-FFF2-40B4-BE49-F238E27FC236}">
                <a16:creationId xmlns:a16="http://schemas.microsoft.com/office/drawing/2014/main" id="{D9CA0CD0-3AA0-424E-A1B1-8EBCA5518923}"/>
              </a:ext>
            </a:extLst>
          </p:cNvPr>
          <p:cNvSpPr>
            <a:spLocks xmlns:a="http://schemas.openxmlformats.org/drawingml/2006/main" noGrp="1"/>
          </p:cNvSpPr>
          <p:nvPr/>
        </p:nvSpPr>
        <p:spPr>
          <a:xfrm xmlns:a="http://schemas.openxmlformats.org/drawingml/2006/main">
            <a:off x="628650" y="257175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B1220"/>
                </a:solidFill>
                <a:latin typeface="Helvetica Neue"/>
                <a:ea typeface="Helvetica Neue"/>
                <a:cs typeface="Helvetica Neue"/>
              </a:defRPr>
            </a:pPr>
            <a:r>
              <a:rPr sz="1800" b="1">
                <a:solidFill>
                  <a:srgbClr val="0B1220"/>
                </a:solidFill>
                <a:latin typeface="Helvetica Neue"/>
                <a:ea typeface="Helvetica Neue"/>
                <a:cs typeface="Helvetica Neue"/>
              </a:rPr>
              <a:t>Kan een winkel zonder maatwerk live?</a:t>
            </a:r>
          </a:p>
        </p:txBody>
      </p:sp>
      <p:sp>
        <p:nvSpPr>
          <p:cNvPr id="8" name="">
            <a:extLst xmlns:a="http://schemas.openxmlformats.org/drawingml/2006/main">
              <a:ext uri="{FF2B5EF4-FFF2-40B4-BE49-F238E27FC236}">
                <a16:creationId xmlns:a16="http://schemas.microsoft.com/office/drawing/2014/main" id="{60BE7773-4EC5-4302-9F35-C691C6E54221}"/>
              </a:ext>
            </a:extLst>
          </p:cNvPr>
          <p:cNvSpPr>
            <a:spLocks xmlns:a="http://schemas.openxmlformats.org/drawingml/2006/main" noGrp="1"/>
          </p:cNvSpPr>
          <p:nvPr/>
        </p:nvSpPr>
        <p:spPr>
          <a:xfrm xmlns:a="http://schemas.openxmlformats.org/drawingml/2006/main">
            <a:off x="628650" y="3467100"/>
            <a:ext cx="29718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A739FF0-722D-4E9B-9C5E-C0F41D7EB2ED}"/>
              </a:ext>
            </a:extLst>
          </p:cNvPr>
          <p:cNvSpPr>
            <a:spLocks xmlns:a="http://schemas.openxmlformats.org/drawingml/2006/main" noGrp="1"/>
          </p:cNvSpPr>
          <p:nvPr/>
        </p:nvSpPr>
        <p:spPr>
          <a:xfrm xmlns:a="http://schemas.openxmlformats.org/drawingml/2006/main">
            <a:off x="628650" y="3790950"/>
            <a:ext cx="2857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5E6878"/>
                </a:solidFill>
                <a:latin typeface="Helvetica Neue"/>
                <a:ea typeface="Helvetica Neue"/>
                <a:cs typeface="Helvetica Neue"/>
              </a:defRPr>
            </a:pPr>
            <a:r>
              <a:rPr sz="1425">
                <a:solidFill>
                  <a:srgbClr val="5E6878"/>
                </a:solidFill>
                <a:latin typeface="Helvetica Neue"/>
                <a:ea typeface="Helvetica Neue"/>
                <a:cs typeface="Helvetica Neue"/>
              </a:rPr>
              <a:t>Migratie &lt; 1 dag</a:t>
            </a:r>
          </a:p>
          <a:p xmlns:a="http://schemas.openxmlformats.org/drawingml/2006/main">
            <a:pPr algn="l">
              <a:defRPr sz="1425">
                <a:solidFill>
                  <a:srgbClr val="5E6878"/>
                </a:solidFill>
                <a:latin typeface="Helvetica Neue"/>
                <a:ea typeface="Helvetica Neue"/>
                <a:cs typeface="Helvetica Neue"/>
              </a:defRPr>
            </a:pPr>
            <a:r>
              <a:rPr sz="1425">
                <a:solidFill>
                  <a:srgbClr val="5E6878"/>
                </a:solidFill>
                <a:latin typeface="Helvetica Neue"/>
                <a:ea typeface="Helvetica Neue"/>
                <a:cs typeface="Helvetica Neue"/>
              </a:rPr>
              <a:t>Activatie &gt; 70%</a:t>
            </a:r>
          </a:p>
          <a:p xmlns:a="http://schemas.openxmlformats.org/drawingml/2006/main">
            <a:pPr algn="l">
              <a:defRPr sz="1425">
                <a:solidFill>
                  <a:srgbClr val="5E6878"/>
                </a:solidFill>
                <a:latin typeface="Helvetica Neue"/>
                <a:ea typeface="Helvetica Neue"/>
                <a:cs typeface="Helvetica Neue"/>
              </a:defRPr>
            </a:pPr>
            <a:r>
              <a:rPr sz="1425">
                <a:solidFill>
                  <a:srgbClr val="5E6878"/>
                </a:solidFill>
                <a:latin typeface="Helvetica Neue"/>
                <a:ea typeface="Helvetica Neue"/>
                <a:cs typeface="Helvetica Neue"/>
              </a:rPr>
              <a:t>Stabiele checkout</a:t>
            </a:r>
          </a:p>
        </p:txBody>
      </p:sp>
      <p:sp>
        <p:nvSpPr>
          <p:cNvPr id="10" name="">
            <a:extLst xmlns:a="http://schemas.openxmlformats.org/drawingml/2006/main">
              <a:ext uri="{FF2B5EF4-FFF2-40B4-BE49-F238E27FC236}">
                <a16:creationId xmlns:a16="http://schemas.microsoft.com/office/drawing/2014/main" id="{7372D9E4-2CCC-4A85-BEC3-144BD13B62FF}"/>
              </a:ext>
            </a:extLst>
          </p:cNvPr>
          <p:cNvSpPr>
            <a:spLocks xmlns:a="http://schemas.openxmlformats.org/drawingml/2006/main" noGrp="1"/>
          </p:cNvSpPr>
          <p:nvPr/>
        </p:nvSpPr>
        <p:spPr>
          <a:xfrm xmlns:a="http://schemas.openxmlformats.org/drawingml/2006/main">
            <a:off x="4191000" y="1809750"/>
            <a:ext cx="3429000" cy="337185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37416AD-F539-4FF0-90B9-4F048C78A1CB}"/>
              </a:ext>
            </a:extLst>
          </p:cNvPr>
          <p:cNvSpPr>
            <a:spLocks xmlns:a="http://schemas.openxmlformats.org/drawingml/2006/main" noGrp="1"/>
          </p:cNvSpPr>
          <p:nvPr/>
        </p:nvSpPr>
        <p:spPr>
          <a:xfrm xmlns:a="http://schemas.openxmlformats.org/drawingml/2006/main">
            <a:off x="4419600" y="2076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186F3"/>
                </a:solidFill>
                <a:latin typeface="Helvetica Neue"/>
                <a:ea typeface="Helvetica Neue"/>
                <a:cs typeface="Helvetica Neue"/>
              </a:defRPr>
            </a:pPr>
            <a:r>
              <a:rPr sz="975" b="1">
                <a:solidFill>
                  <a:srgbClr val="2186F3"/>
                </a:solidFill>
                <a:latin typeface="Helvetica Neue"/>
                <a:ea typeface="Helvetica Neue"/>
                <a:cs typeface="Helvetica Neue"/>
              </a:rPr>
              <a:t>DISTRIBUTIE</a:t>
            </a:r>
          </a:p>
        </p:txBody>
      </p:sp>
      <p:sp>
        <p:nvSpPr>
          <p:cNvPr id="12" name="">
            <a:extLst xmlns:a="http://schemas.openxmlformats.org/drawingml/2006/main">
              <a:ext uri="{FF2B5EF4-FFF2-40B4-BE49-F238E27FC236}">
                <a16:creationId xmlns:a16="http://schemas.microsoft.com/office/drawing/2014/main" id="{93F5A8E4-FB2B-4771-9636-9211AFC67D95}"/>
              </a:ext>
            </a:extLst>
          </p:cNvPr>
          <p:cNvSpPr>
            <a:spLocks xmlns:a="http://schemas.openxmlformats.org/drawingml/2006/main" noGrp="1"/>
          </p:cNvSpPr>
          <p:nvPr/>
        </p:nvSpPr>
        <p:spPr>
          <a:xfrm xmlns:a="http://schemas.openxmlformats.org/drawingml/2006/main">
            <a:off x="4419600" y="257175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B1220"/>
                </a:solidFill>
                <a:latin typeface="Helvetica Neue"/>
                <a:ea typeface="Helvetica Neue"/>
                <a:cs typeface="Helvetica Neue"/>
              </a:defRPr>
            </a:pPr>
            <a:r>
              <a:rPr sz="1800" b="1">
                <a:solidFill>
                  <a:srgbClr val="0B1220"/>
                </a:solidFill>
                <a:latin typeface="Helvetica Neue"/>
                <a:ea typeface="Helvetica Neue"/>
                <a:cs typeface="Helvetica Neue"/>
              </a:rPr>
              <a:t>Kunnen we klanten voorspelbaar winnen?</a:t>
            </a:r>
          </a:p>
        </p:txBody>
      </p:sp>
      <p:sp>
        <p:nvSpPr>
          <p:cNvPr id="13" name="">
            <a:extLst xmlns:a="http://schemas.openxmlformats.org/drawingml/2006/main">
              <a:ext uri="{FF2B5EF4-FFF2-40B4-BE49-F238E27FC236}">
                <a16:creationId xmlns:a16="http://schemas.microsoft.com/office/drawing/2014/main" id="{78BC7C99-B7DD-491F-B3BB-26A2340A5161}"/>
              </a:ext>
            </a:extLst>
          </p:cNvPr>
          <p:cNvSpPr>
            <a:spLocks xmlns:a="http://schemas.openxmlformats.org/drawingml/2006/main" noGrp="1"/>
          </p:cNvSpPr>
          <p:nvPr/>
        </p:nvSpPr>
        <p:spPr>
          <a:xfrm xmlns:a="http://schemas.openxmlformats.org/drawingml/2006/main">
            <a:off x="4419600" y="3467100"/>
            <a:ext cx="29718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6E73235-A233-42CA-B7CC-FC2F4F5D66A1}"/>
              </a:ext>
            </a:extLst>
          </p:cNvPr>
          <p:cNvSpPr>
            <a:spLocks xmlns:a="http://schemas.openxmlformats.org/drawingml/2006/main" noGrp="1"/>
          </p:cNvSpPr>
          <p:nvPr/>
        </p:nvSpPr>
        <p:spPr>
          <a:xfrm xmlns:a="http://schemas.openxmlformats.org/drawingml/2006/main">
            <a:off x="4419600" y="3790950"/>
            <a:ext cx="2857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5E6878"/>
                </a:solidFill>
                <a:latin typeface="Helvetica Neue"/>
                <a:ea typeface="Helvetica Neue"/>
                <a:cs typeface="Helvetica Neue"/>
              </a:defRPr>
            </a:pPr>
            <a:r>
              <a:rPr sz="1425">
                <a:solidFill>
                  <a:srgbClr val="5E6878"/>
                </a:solidFill>
                <a:latin typeface="Helvetica Neue"/>
                <a:ea typeface="Helvetica Neue"/>
                <a:cs typeface="Helvetica Neue"/>
              </a:rPr>
              <a:t>100 betalende locaties</a:t>
            </a:r>
          </a:p>
          <a:p xmlns:a="http://schemas.openxmlformats.org/drawingml/2006/main">
            <a:pPr algn="l">
              <a:defRPr sz="1425">
                <a:solidFill>
                  <a:srgbClr val="5E6878"/>
                </a:solidFill>
                <a:latin typeface="Helvetica Neue"/>
                <a:ea typeface="Helvetica Neue"/>
                <a:cs typeface="Helvetica Neue"/>
              </a:defRPr>
            </a:pPr>
            <a:r>
              <a:rPr sz="1425">
                <a:solidFill>
                  <a:srgbClr val="5E6878"/>
                </a:solidFill>
                <a:latin typeface="Helvetica Neue"/>
                <a:ea typeface="Helvetica Neue"/>
                <a:cs typeface="Helvetica Neue"/>
              </a:rPr>
              <a:t>3 werkende kanalen</a:t>
            </a:r>
          </a:p>
          <a:p xmlns:a="http://schemas.openxmlformats.org/drawingml/2006/main">
            <a:pPr algn="l">
              <a:defRPr sz="1425">
                <a:solidFill>
                  <a:srgbClr val="5E6878"/>
                </a:solidFill>
                <a:latin typeface="Helvetica Neue"/>
                <a:ea typeface="Helvetica Neue"/>
                <a:cs typeface="Helvetica Neue"/>
              </a:defRPr>
            </a:pPr>
            <a:r>
              <a:rPr sz="1425">
                <a:solidFill>
                  <a:srgbClr val="5E6878"/>
                </a:solidFill>
                <a:latin typeface="Helvetica Neue"/>
                <a:ea typeface="Helvetica Neue"/>
                <a:cs typeface="Helvetica Neue"/>
              </a:rPr>
              <a:t>CAC &lt; € 800</a:t>
            </a:r>
          </a:p>
        </p:txBody>
      </p:sp>
      <p:sp>
        <p:nvSpPr>
          <p:cNvPr id="15" name="">
            <a:extLst xmlns:a="http://schemas.openxmlformats.org/drawingml/2006/main">
              <a:ext uri="{FF2B5EF4-FFF2-40B4-BE49-F238E27FC236}">
                <a16:creationId xmlns:a16="http://schemas.microsoft.com/office/drawing/2014/main" id="{AD8A75E1-DFE4-4268-982E-747CCDA7347C}"/>
              </a:ext>
            </a:extLst>
          </p:cNvPr>
          <p:cNvSpPr>
            <a:spLocks xmlns:a="http://schemas.openxmlformats.org/drawingml/2006/main" noGrp="1"/>
          </p:cNvSpPr>
          <p:nvPr/>
        </p:nvSpPr>
        <p:spPr>
          <a:xfrm xmlns:a="http://schemas.openxmlformats.org/drawingml/2006/main">
            <a:off x="7981950" y="1809750"/>
            <a:ext cx="3429000" cy="33718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6ADEC2C-9ABA-4A26-944B-CD50109DF20D}"/>
              </a:ext>
            </a:extLst>
          </p:cNvPr>
          <p:cNvSpPr>
            <a:spLocks xmlns:a="http://schemas.openxmlformats.org/drawingml/2006/main" noGrp="1"/>
          </p:cNvSpPr>
          <p:nvPr/>
        </p:nvSpPr>
        <p:spPr>
          <a:xfrm xmlns:a="http://schemas.openxmlformats.org/drawingml/2006/main">
            <a:off x="8210550" y="2076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186F3"/>
                </a:solidFill>
                <a:latin typeface="Helvetica Neue"/>
                <a:ea typeface="Helvetica Neue"/>
                <a:cs typeface="Helvetica Neue"/>
              </a:defRPr>
            </a:pPr>
            <a:r>
              <a:rPr sz="975" b="1">
                <a:solidFill>
                  <a:srgbClr val="2186F3"/>
                </a:solidFill>
                <a:latin typeface="Helvetica Neue"/>
                <a:ea typeface="Helvetica Neue"/>
                <a:cs typeface="Helvetica Neue"/>
              </a:rPr>
              <a:t>ECONOMICS</a:t>
            </a:r>
          </a:p>
        </p:txBody>
      </p:sp>
      <p:sp>
        <p:nvSpPr>
          <p:cNvPr id="17" name="">
            <a:extLst xmlns:a="http://schemas.openxmlformats.org/drawingml/2006/main">
              <a:ext uri="{FF2B5EF4-FFF2-40B4-BE49-F238E27FC236}">
                <a16:creationId xmlns:a16="http://schemas.microsoft.com/office/drawing/2014/main" id="{A78F13DE-F54E-4EC1-8764-8E5E2395C1B9}"/>
              </a:ext>
            </a:extLst>
          </p:cNvPr>
          <p:cNvSpPr>
            <a:spLocks xmlns:a="http://schemas.openxmlformats.org/drawingml/2006/main" noGrp="1"/>
          </p:cNvSpPr>
          <p:nvPr/>
        </p:nvSpPr>
        <p:spPr>
          <a:xfrm xmlns:a="http://schemas.openxmlformats.org/drawingml/2006/main">
            <a:off x="8210550" y="257175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B1220"/>
                </a:solidFill>
                <a:latin typeface="Helvetica Neue"/>
                <a:ea typeface="Helvetica Neue"/>
                <a:cs typeface="Helvetica Neue"/>
              </a:defRPr>
            </a:pPr>
            <a:r>
              <a:rPr sz="1800" b="1">
                <a:solidFill>
                  <a:srgbClr val="0B1220"/>
                </a:solidFill>
                <a:latin typeface="Helvetica Neue"/>
                <a:ea typeface="Helvetica Neue"/>
                <a:cs typeface="Helvetica Neue"/>
              </a:rPr>
              <a:t>Kan groei waarde creëren?</a:t>
            </a:r>
          </a:p>
        </p:txBody>
      </p:sp>
      <p:sp>
        <p:nvSpPr>
          <p:cNvPr id="18" name="">
            <a:extLst xmlns:a="http://schemas.openxmlformats.org/drawingml/2006/main">
              <a:ext uri="{FF2B5EF4-FFF2-40B4-BE49-F238E27FC236}">
                <a16:creationId xmlns:a16="http://schemas.microsoft.com/office/drawing/2014/main" id="{995DAFE5-2541-4175-9B60-B4F3961025E5}"/>
              </a:ext>
            </a:extLst>
          </p:cNvPr>
          <p:cNvSpPr>
            <a:spLocks xmlns:a="http://schemas.openxmlformats.org/drawingml/2006/main" noGrp="1"/>
          </p:cNvSpPr>
          <p:nvPr/>
        </p:nvSpPr>
        <p:spPr>
          <a:xfrm xmlns:a="http://schemas.openxmlformats.org/drawingml/2006/main">
            <a:off x="8210550" y="3467100"/>
            <a:ext cx="29718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C63A5C2-E54D-445F-8270-14F6069A15D4}"/>
              </a:ext>
            </a:extLst>
          </p:cNvPr>
          <p:cNvSpPr>
            <a:spLocks xmlns:a="http://schemas.openxmlformats.org/drawingml/2006/main" noGrp="1"/>
          </p:cNvSpPr>
          <p:nvPr/>
        </p:nvSpPr>
        <p:spPr>
          <a:xfrm xmlns:a="http://schemas.openxmlformats.org/drawingml/2006/main">
            <a:off x="8210550" y="3790950"/>
            <a:ext cx="2857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a:solidFill>
                  <a:srgbClr val="5E6878"/>
                </a:solidFill>
                <a:latin typeface="Helvetica Neue"/>
                <a:ea typeface="Helvetica Neue"/>
                <a:cs typeface="Helvetica Neue"/>
              </a:defRPr>
            </a:pPr>
            <a:r>
              <a:rPr sz="1425">
                <a:solidFill>
                  <a:srgbClr val="5E6878"/>
                </a:solidFill>
                <a:latin typeface="Helvetica Neue"/>
                <a:ea typeface="Helvetica Neue"/>
                <a:cs typeface="Helvetica Neue"/>
              </a:rPr>
              <a:t>ARPA ≈ € 90</a:t>
            </a:r>
          </a:p>
          <a:p xmlns:a="http://schemas.openxmlformats.org/drawingml/2006/main">
            <a:pPr algn="l">
              <a:defRPr sz="1425">
                <a:solidFill>
                  <a:srgbClr val="5E6878"/>
                </a:solidFill>
                <a:latin typeface="Helvetica Neue"/>
                <a:ea typeface="Helvetica Neue"/>
                <a:cs typeface="Helvetica Neue"/>
              </a:defRPr>
            </a:pPr>
            <a:r>
              <a:rPr sz="1425">
                <a:solidFill>
                  <a:srgbClr val="5E6878"/>
                </a:solidFill>
                <a:latin typeface="Helvetica Neue"/>
                <a:ea typeface="Helvetica Neue"/>
                <a:cs typeface="Helvetica Neue"/>
              </a:rPr>
              <a:t>GM &gt; 80%</a:t>
            </a:r>
          </a:p>
          <a:p xmlns:a="http://schemas.openxmlformats.org/drawingml/2006/main">
            <a:pPr algn="l">
              <a:defRPr sz="1425">
                <a:solidFill>
                  <a:srgbClr val="5E6878"/>
                </a:solidFill>
                <a:latin typeface="Helvetica Neue"/>
                <a:ea typeface="Helvetica Neue"/>
                <a:cs typeface="Helvetica Neue"/>
              </a:defRPr>
            </a:pPr>
            <a:r>
              <a:rPr sz="1425">
                <a:solidFill>
                  <a:srgbClr val="5E6878"/>
                </a:solidFill>
                <a:latin typeface="Helvetica Neue"/>
                <a:ea typeface="Helvetica Neue"/>
                <a:cs typeface="Helvetica Neue"/>
              </a:rPr>
              <a:t>Payback &lt; 12 mnd</a:t>
            </a:r>
          </a:p>
        </p:txBody>
      </p:sp>
      <p:sp>
        <p:nvSpPr>
          <p:cNvPr id="20" name="">
            <a:extLst xmlns:a="http://schemas.openxmlformats.org/drawingml/2006/main">
              <a:ext uri="{FF2B5EF4-FFF2-40B4-BE49-F238E27FC236}">
                <a16:creationId xmlns:a16="http://schemas.microsoft.com/office/drawing/2014/main" id="{885B2284-49C2-485C-822C-7E8B8E0572A0}"/>
              </a:ext>
            </a:extLst>
          </p:cNvPr>
          <p:cNvSpPr>
            <a:spLocks xmlns:a="http://schemas.openxmlformats.org/drawingml/2006/main" noGrp="1"/>
          </p:cNvSpPr>
          <p:nvPr/>
        </p:nvSpPr>
        <p:spPr>
          <a:xfrm xmlns:a="http://schemas.openxmlformats.org/drawingml/2006/main">
            <a:off x="400050" y="56578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De volgende waardestap komt uit bewezen herhaalbaarheid — niet uit extra slides of features.</a:t>
            </a:r>
          </a:p>
        </p:txBody>
      </p:sp>
    </p:spTree>
    <p:extLst>
      <p:ext uri="{BB962C8B-B14F-4D97-AF65-F5344CB8AC3E}">
        <p14:creationId xmlns:p14="http://schemas.microsoft.com/office/powerpoint/2010/main" val="5372435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72A1B29-F8FF-4430-B7D1-26D435E3F90E}"/>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RISICO &amp; MITIGATIE</a:t>
            </a:r>
          </a:p>
        </p:txBody>
      </p:sp>
      <p:sp>
        <p:nvSpPr>
          <p:cNvPr id="2" name="">
            <a:extLst xmlns:a="http://schemas.openxmlformats.org/drawingml/2006/main">
              <a:ext uri="{FF2B5EF4-FFF2-40B4-BE49-F238E27FC236}">
                <a16:creationId xmlns:a16="http://schemas.microsoft.com/office/drawing/2014/main" id="{8FEC4799-244F-4F8C-8BC1-467E9E59C767}"/>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De risico’s zijn concreet — en dus bestuurbaar.</a:t>
            </a:r>
          </a:p>
        </p:txBody>
      </p:sp>
      <p:sp>
        <p:nvSpPr>
          <p:cNvPr id="3" name="">
            <a:extLst xmlns:a="http://schemas.openxmlformats.org/drawingml/2006/main">
              <a:ext uri="{FF2B5EF4-FFF2-40B4-BE49-F238E27FC236}">
                <a16:creationId xmlns:a16="http://schemas.microsoft.com/office/drawing/2014/main" id="{CC699FD5-6342-410D-A035-915EAACC8D88}"/>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088BAFF4-2471-4B5D-861C-1469819E63AE}"/>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2601AB70-EEED-48B5-B679-595F768D3ACA}"/>
              </a:ext>
            </a:extLst>
          </p:cNvPr>
          <p:cNvSpPr>
            <a:spLocks xmlns:a="http://schemas.openxmlformats.org/drawingml/2006/main" noGrp="1"/>
          </p:cNvSpPr>
          <p:nvPr/>
        </p:nvSpPr>
        <p:spPr>
          <a:xfrm xmlns:a="http://schemas.openxmlformats.org/drawingml/2006/main">
            <a:off x="400050" y="1676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2186F3"/>
                </a:solidFill>
                <a:latin typeface="Helvetica Neue"/>
                <a:ea typeface="Helvetica Neue"/>
                <a:cs typeface="Helvetica Neue"/>
              </a:defRPr>
            </a:pPr>
            <a:r>
              <a:rPr sz="1275" b="1">
                <a:solidFill>
                  <a:srgbClr val="2186F3"/>
                </a:solidFill>
                <a:latin typeface="Helvetica Neue"/>
                <a:ea typeface="Helvetica Neue"/>
                <a:cs typeface="Helvetica Neue"/>
              </a:rPr>
              <a:t>Risico</a:t>
            </a:r>
          </a:p>
        </p:txBody>
      </p:sp>
      <p:sp>
        <p:nvSpPr>
          <p:cNvPr id="6" name="">
            <a:extLst xmlns:a="http://schemas.openxmlformats.org/drawingml/2006/main">
              <a:ext uri="{FF2B5EF4-FFF2-40B4-BE49-F238E27FC236}">
                <a16:creationId xmlns:a16="http://schemas.microsoft.com/office/drawing/2014/main" id="{84634762-CEF6-42CB-B429-F13FF7266BFB}"/>
              </a:ext>
            </a:extLst>
          </p:cNvPr>
          <p:cNvSpPr>
            <a:spLocks xmlns:a="http://schemas.openxmlformats.org/drawingml/2006/main" noGrp="1"/>
          </p:cNvSpPr>
          <p:nvPr/>
        </p:nvSpPr>
        <p:spPr>
          <a:xfrm xmlns:a="http://schemas.openxmlformats.org/drawingml/2006/main">
            <a:off x="3143250" y="16764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2186F3"/>
                </a:solidFill>
                <a:latin typeface="Helvetica Neue"/>
                <a:ea typeface="Helvetica Neue"/>
                <a:cs typeface="Helvetica Neue"/>
              </a:defRPr>
            </a:pPr>
            <a:r>
              <a:rPr sz="1275" b="1">
                <a:solidFill>
                  <a:srgbClr val="2186F3"/>
                </a:solidFill>
                <a:latin typeface="Helvetica Neue"/>
                <a:ea typeface="Helvetica Neue"/>
                <a:cs typeface="Helvetica Neue"/>
              </a:rPr>
              <a:t>Mitigatie</a:t>
            </a:r>
          </a:p>
        </p:txBody>
      </p:sp>
      <p:sp>
        <p:nvSpPr>
          <p:cNvPr id="7" name="">
            <a:extLst xmlns:a="http://schemas.openxmlformats.org/drawingml/2006/main">
              <a:ext uri="{FF2B5EF4-FFF2-40B4-BE49-F238E27FC236}">
                <a16:creationId xmlns:a16="http://schemas.microsoft.com/office/drawing/2014/main" id="{7BC281C4-F95F-4BC2-A110-1F926E680463}"/>
              </a:ext>
            </a:extLst>
          </p:cNvPr>
          <p:cNvSpPr>
            <a:spLocks xmlns:a="http://schemas.openxmlformats.org/drawingml/2006/main" noGrp="1"/>
          </p:cNvSpPr>
          <p:nvPr/>
        </p:nvSpPr>
        <p:spPr>
          <a:xfrm xmlns:a="http://schemas.openxmlformats.org/drawingml/2006/main">
            <a:off x="8915400" y="16764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2186F3"/>
                </a:solidFill>
                <a:latin typeface="Helvetica Neue"/>
                <a:ea typeface="Helvetica Neue"/>
                <a:cs typeface="Helvetica Neue"/>
              </a:defRPr>
            </a:pPr>
            <a:r>
              <a:rPr sz="1275" b="1">
                <a:solidFill>
                  <a:srgbClr val="2186F3"/>
                </a:solidFill>
                <a:latin typeface="Helvetica Neue"/>
                <a:ea typeface="Helvetica Neue"/>
                <a:cs typeface="Helvetica Neue"/>
              </a:rPr>
              <a:t>Wat we maandelijks meten</a:t>
            </a:r>
          </a:p>
        </p:txBody>
      </p:sp>
      <p:sp>
        <p:nvSpPr>
          <p:cNvPr id="8" name="">
            <a:extLst xmlns:a="http://schemas.openxmlformats.org/drawingml/2006/main">
              <a:ext uri="{FF2B5EF4-FFF2-40B4-BE49-F238E27FC236}">
                <a16:creationId xmlns:a16="http://schemas.microsoft.com/office/drawing/2014/main" id="{7C02CD6D-1184-42E1-BFDB-F4A21F231341}"/>
              </a:ext>
            </a:extLst>
          </p:cNvPr>
          <p:cNvSpPr>
            <a:spLocks xmlns:a="http://schemas.openxmlformats.org/drawingml/2006/main" noGrp="1"/>
          </p:cNvSpPr>
          <p:nvPr/>
        </p:nvSpPr>
        <p:spPr>
          <a:xfrm xmlns:a="http://schemas.openxmlformats.org/drawingml/2006/main">
            <a:off x="400050" y="2095500"/>
            <a:ext cx="11087100" cy="6096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DFC066-53EA-413C-94A7-7904E1ECC5C0}"/>
              </a:ext>
            </a:extLst>
          </p:cNvPr>
          <p:cNvSpPr>
            <a:spLocks xmlns:a="http://schemas.openxmlformats.org/drawingml/2006/main" noGrp="1"/>
          </p:cNvSpPr>
          <p:nvPr/>
        </p:nvSpPr>
        <p:spPr>
          <a:xfrm xmlns:a="http://schemas.openxmlformats.org/drawingml/2006/main">
            <a:off x="552450" y="2266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Lange salescyclus</a:t>
            </a:r>
          </a:p>
        </p:txBody>
      </p:sp>
      <p:sp>
        <p:nvSpPr>
          <p:cNvPr id="10" name="">
            <a:extLst xmlns:a="http://schemas.openxmlformats.org/drawingml/2006/main">
              <a:ext uri="{FF2B5EF4-FFF2-40B4-BE49-F238E27FC236}">
                <a16:creationId xmlns:a16="http://schemas.microsoft.com/office/drawing/2014/main" id="{FBF83249-C364-4863-B0CB-13449FBCA07C}"/>
              </a:ext>
            </a:extLst>
          </p:cNvPr>
          <p:cNvSpPr>
            <a:spLocks xmlns:a="http://schemas.openxmlformats.org/drawingml/2006/main" noGrp="1"/>
          </p:cNvSpPr>
          <p:nvPr/>
        </p:nvSpPr>
        <p:spPr>
          <a:xfrm xmlns:a="http://schemas.openxmlformats.org/drawingml/2006/main">
            <a:off x="3143250" y="222885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Focus op owner-led specialist retail; gratis proefperiode met vaste activatieflow.</a:t>
            </a:r>
          </a:p>
        </p:txBody>
      </p:sp>
      <p:sp>
        <p:nvSpPr>
          <p:cNvPr id="11" name="">
            <a:extLst xmlns:a="http://schemas.openxmlformats.org/drawingml/2006/main">
              <a:ext uri="{FF2B5EF4-FFF2-40B4-BE49-F238E27FC236}">
                <a16:creationId xmlns:a16="http://schemas.microsoft.com/office/drawing/2014/main" id="{932AB7CB-3451-42E7-8D02-9205AA10A82A}"/>
              </a:ext>
            </a:extLst>
          </p:cNvPr>
          <p:cNvSpPr>
            <a:spLocks xmlns:a="http://schemas.openxmlformats.org/drawingml/2006/main" noGrp="1"/>
          </p:cNvSpPr>
          <p:nvPr/>
        </p:nvSpPr>
        <p:spPr>
          <a:xfrm xmlns:a="http://schemas.openxmlformats.org/drawingml/2006/main">
            <a:off x="8915400" y="2266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B1220"/>
                </a:solidFill>
                <a:latin typeface="Helvetica Neue"/>
                <a:ea typeface="Helvetica Neue"/>
                <a:cs typeface="Helvetica Neue"/>
              </a:defRPr>
            </a:pPr>
            <a:r>
              <a:rPr sz="1125" b="1">
                <a:solidFill>
                  <a:srgbClr val="0B1220"/>
                </a:solidFill>
                <a:latin typeface="Helvetica Neue"/>
                <a:ea typeface="Helvetica Neue"/>
                <a:cs typeface="Helvetica Neue"/>
              </a:rPr>
              <a:t>Leading: demo → activatie</a:t>
            </a:r>
          </a:p>
        </p:txBody>
      </p:sp>
      <p:sp>
        <p:nvSpPr>
          <p:cNvPr id="12" name="">
            <a:extLst xmlns:a="http://schemas.openxmlformats.org/drawingml/2006/main">
              <a:ext uri="{FF2B5EF4-FFF2-40B4-BE49-F238E27FC236}">
                <a16:creationId xmlns:a16="http://schemas.microsoft.com/office/drawing/2014/main" id="{1BA416B1-B563-4F31-B741-A373AF486F0A}"/>
              </a:ext>
            </a:extLst>
          </p:cNvPr>
          <p:cNvSpPr>
            <a:spLocks xmlns:a="http://schemas.openxmlformats.org/drawingml/2006/main" noGrp="1"/>
          </p:cNvSpPr>
          <p:nvPr/>
        </p:nvSpPr>
        <p:spPr>
          <a:xfrm xmlns:a="http://schemas.openxmlformats.org/drawingml/2006/main">
            <a:off x="400050" y="2838450"/>
            <a:ext cx="1108710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6FB953F-932F-4EB8-8511-E9A4AC259C77}"/>
              </a:ext>
            </a:extLst>
          </p:cNvPr>
          <p:cNvSpPr>
            <a:spLocks xmlns:a="http://schemas.openxmlformats.org/drawingml/2006/main" noGrp="1"/>
          </p:cNvSpPr>
          <p:nvPr/>
        </p:nvSpPr>
        <p:spPr>
          <a:xfrm xmlns:a="http://schemas.openxmlformats.org/drawingml/2006/main">
            <a:off x="552450" y="3009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Hardware &amp; integraties</a:t>
            </a:r>
          </a:p>
        </p:txBody>
      </p:sp>
      <p:sp>
        <p:nvSpPr>
          <p:cNvPr id="14" name="">
            <a:extLst xmlns:a="http://schemas.openxmlformats.org/drawingml/2006/main">
              <a:ext uri="{FF2B5EF4-FFF2-40B4-BE49-F238E27FC236}">
                <a16:creationId xmlns:a16="http://schemas.microsoft.com/office/drawing/2014/main" id="{8E3DC7CC-D2A5-4FE0-9E1D-500EE23BFB6B}"/>
              </a:ext>
            </a:extLst>
          </p:cNvPr>
          <p:cNvSpPr>
            <a:spLocks xmlns:a="http://schemas.openxmlformats.org/drawingml/2006/main" noGrp="1"/>
          </p:cNvSpPr>
          <p:nvPr/>
        </p:nvSpPr>
        <p:spPr>
          <a:xfrm xmlns:a="http://schemas.openxmlformats.org/drawingml/2006/main">
            <a:off x="3143250" y="297180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Compatibiliteitsmatrix; gecertificeerde bundels; geen maatwerk vóór betaalde case.</a:t>
            </a:r>
          </a:p>
        </p:txBody>
      </p:sp>
      <p:sp>
        <p:nvSpPr>
          <p:cNvPr id="15" name="">
            <a:extLst xmlns:a="http://schemas.openxmlformats.org/drawingml/2006/main">
              <a:ext uri="{FF2B5EF4-FFF2-40B4-BE49-F238E27FC236}">
                <a16:creationId xmlns:a16="http://schemas.microsoft.com/office/drawing/2014/main" id="{E1BB8A5A-6BEB-45F8-BFB1-4FB49AFB544A}"/>
              </a:ext>
            </a:extLst>
          </p:cNvPr>
          <p:cNvSpPr>
            <a:spLocks xmlns:a="http://schemas.openxmlformats.org/drawingml/2006/main" noGrp="1"/>
          </p:cNvSpPr>
          <p:nvPr/>
        </p:nvSpPr>
        <p:spPr>
          <a:xfrm xmlns:a="http://schemas.openxmlformats.org/drawingml/2006/main">
            <a:off x="8915400" y="3009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B1220"/>
                </a:solidFill>
                <a:latin typeface="Helvetica Neue"/>
                <a:ea typeface="Helvetica Neue"/>
                <a:cs typeface="Helvetica Neue"/>
              </a:defRPr>
            </a:pPr>
            <a:r>
              <a:rPr sz="1125" b="1">
                <a:solidFill>
                  <a:srgbClr val="0B1220"/>
                </a:solidFill>
                <a:latin typeface="Helvetica Neue"/>
                <a:ea typeface="Helvetica Neue"/>
                <a:cs typeface="Helvetica Neue"/>
              </a:rPr>
              <a:t>Leading: tijd tot live</a:t>
            </a:r>
          </a:p>
        </p:txBody>
      </p:sp>
      <p:sp>
        <p:nvSpPr>
          <p:cNvPr id="16" name="">
            <a:extLst xmlns:a="http://schemas.openxmlformats.org/drawingml/2006/main">
              <a:ext uri="{FF2B5EF4-FFF2-40B4-BE49-F238E27FC236}">
                <a16:creationId xmlns:a16="http://schemas.microsoft.com/office/drawing/2014/main" id="{1D4801D5-3E2E-49B1-A84D-9D69DED0193D}"/>
              </a:ext>
            </a:extLst>
          </p:cNvPr>
          <p:cNvSpPr>
            <a:spLocks xmlns:a="http://schemas.openxmlformats.org/drawingml/2006/main" noGrp="1"/>
          </p:cNvSpPr>
          <p:nvPr/>
        </p:nvSpPr>
        <p:spPr>
          <a:xfrm xmlns:a="http://schemas.openxmlformats.org/drawingml/2006/main">
            <a:off x="400050" y="3581400"/>
            <a:ext cx="11087100" cy="6096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997216A-4210-4333-8375-9172E67F2AD0}"/>
              </a:ext>
            </a:extLst>
          </p:cNvPr>
          <p:cNvSpPr>
            <a:spLocks xmlns:a="http://schemas.openxmlformats.org/drawingml/2006/main" noGrp="1"/>
          </p:cNvSpPr>
          <p:nvPr/>
        </p:nvSpPr>
        <p:spPr>
          <a:xfrm xmlns:a="http://schemas.openxmlformats.org/drawingml/2006/main">
            <a:off x="552450" y="37528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Gratis plan kannibaliseert</a:t>
            </a:r>
          </a:p>
        </p:txBody>
      </p:sp>
      <p:sp>
        <p:nvSpPr>
          <p:cNvPr id="18" name="">
            <a:extLst xmlns:a="http://schemas.openxmlformats.org/drawingml/2006/main">
              <a:ext uri="{FF2B5EF4-FFF2-40B4-BE49-F238E27FC236}">
                <a16:creationId xmlns:a16="http://schemas.microsoft.com/office/drawing/2014/main" id="{E5CC0745-BD6C-4A5D-A4AA-F0C59F59BE64}"/>
              </a:ext>
            </a:extLst>
          </p:cNvPr>
          <p:cNvSpPr>
            <a:spLocks xmlns:a="http://schemas.openxmlformats.org/drawingml/2006/main" noGrp="1"/>
          </p:cNvSpPr>
          <p:nvPr/>
        </p:nvSpPr>
        <p:spPr>
          <a:xfrm xmlns:a="http://schemas.openxmlformats.org/drawingml/2006/main">
            <a:off x="3143250" y="371475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Basis begrenzen; pro-waarde zichtbaar in CRM, webshop en insights.</a:t>
            </a:r>
          </a:p>
        </p:txBody>
      </p:sp>
      <p:sp>
        <p:nvSpPr>
          <p:cNvPr id="19" name="">
            <a:extLst xmlns:a="http://schemas.openxmlformats.org/drawingml/2006/main">
              <a:ext uri="{FF2B5EF4-FFF2-40B4-BE49-F238E27FC236}">
                <a16:creationId xmlns:a16="http://schemas.microsoft.com/office/drawing/2014/main" id="{C6666D9B-096D-4C11-9DAD-47E816B4EA26}"/>
              </a:ext>
            </a:extLst>
          </p:cNvPr>
          <p:cNvSpPr>
            <a:spLocks xmlns:a="http://schemas.openxmlformats.org/drawingml/2006/main" noGrp="1"/>
          </p:cNvSpPr>
          <p:nvPr/>
        </p:nvSpPr>
        <p:spPr>
          <a:xfrm xmlns:a="http://schemas.openxmlformats.org/drawingml/2006/main">
            <a:off x="8915400" y="37528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B1220"/>
                </a:solidFill>
                <a:latin typeface="Helvetica Neue"/>
                <a:ea typeface="Helvetica Neue"/>
                <a:cs typeface="Helvetica Neue"/>
              </a:defRPr>
            </a:pPr>
            <a:r>
              <a:rPr sz="1125" b="1">
                <a:solidFill>
                  <a:srgbClr val="0B1220"/>
                </a:solidFill>
                <a:latin typeface="Helvetica Neue"/>
                <a:ea typeface="Helvetica Neue"/>
                <a:cs typeface="Helvetica Neue"/>
              </a:rPr>
              <a:t>Leading: free → paid</a:t>
            </a:r>
          </a:p>
        </p:txBody>
      </p:sp>
      <p:sp>
        <p:nvSpPr>
          <p:cNvPr id="20" name="">
            <a:extLst xmlns:a="http://schemas.openxmlformats.org/drawingml/2006/main">
              <a:ext uri="{FF2B5EF4-FFF2-40B4-BE49-F238E27FC236}">
                <a16:creationId xmlns:a16="http://schemas.microsoft.com/office/drawing/2014/main" id="{9D3F91EC-F0E0-4B55-B0F0-A76A6BE68BC0}"/>
              </a:ext>
            </a:extLst>
          </p:cNvPr>
          <p:cNvSpPr>
            <a:spLocks xmlns:a="http://schemas.openxmlformats.org/drawingml/2006/main" noGrp="1"/>
          </p:cNvSpPr>
          <p:nvPr/>
        </p:nvSpPr>
        <p:spPr>
          <a:xfrm xmlns:a="http://schemas.openxmlformats.org/drawingml/2006/main">
            <a:off x="400050" y="4324350"/>
            <a:ext cx="1108710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C15C1CF-8305-4DF4-B9EE-38ABD3351BE9}"/>
              </a:ext>
            </a:extLst>
          </p:cNvPr>
          <p:cNvSpPr>
            <a:spLocks xmlns:a="http://schemas.openxmlformats.org/drawingml/2006/main" noGrp="1"/>
          </p:cNvSpPr>
          <p:nvPr/>
        </p:nvSpPr>
        <p:spPr>
          <a:xfrm xmlns:a="http://schemas.openxmlformats.org/drawingml/2006/main">
            <a:off x="552450" y="4495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Founder dependency</a:t>
            </a:r>
          </a:p>
        </p:txBody>
      </p:sp>
      <p:sp>
        <p:nvSpPr>
          <p:cNvPr id="22" name="">
            <a:extLst xmlns:a="http://schemas.openxmlformats.org/drawingml/2006/main">
              <a:ext uri="{FF2B5EF4-FFF2-40B4-BE49-F238E27FC236}">
                <a16:creationId xmlns:a16="http://schemas.microsoft.com/office/drawing/2014/main" id="{F009CEE6-FE0F-46DE-8D7B-FE49B1A372B4}"/>
              </a:ext>
            </a:extLst>
          </p:cNvPr>
          <p:cNvSpPr>
            <a:spLocks xmlns:a="http://schemas.openxmlformats.org/drawingml/2006/main" noGrp="1"/>
          </p:cNvSpPr>
          <p:nvPr/>
        </p:nvSpPr>
        <p:spPr>
          <a:xfrm xmlns:a="http://schemas.openxmlformats.org/drawingml/2006/main">
            <a:off x="3143250" y="445770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Documenteer onboarding, support en verkoop; contractor wordt proces-eigenaar.</a:t>
            </a:r>
          </a:p>
        </p:txBody>
      </p:sp>
      <p:sp>
        <p:nvSpPr>
          <p:cNvPr id="23" name="">
            <a:extLst xmlns:a="http://schemas.openxmlformats.org/drawingml/2006/main">
              <a:ext uri="{FF2B5EF4-FFF2-40B4-BE49-F238E27FC236}">
                <a16:creationId xmlns:a16="http://schemas.microsoft.com/office/drawing/2014/main" id="{9804BDC7-1B2E-4374-9B80-77E78780F42C}"/>
              </a:ext>
            </a:extLst>
          </p:cNvPr>
          <p:cNvSpPr>
            <a:spLocks xmlns:a="http://schemas.openxmlformats.org/drawingml/2006/main" noGrp="1"/>
          </p:cNvSpPr>
          <p:nvPr/>
        </p:nvSpPr>
        <p:spPr>
          <a:xfrm xmlns:a="http://schemas.openxmlformats.org/drawingml/2006/main">
            <a:off x="8915400" y="4495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B1220"/>
                </a:solidFill>
                <a:latin typeface="Helvetica Neue"/>
                <a:ea typeface="Helvetica Neue"/>
                <a:cs typeface="Helvetica Neue"/>
              </a:defRPr>
            </a:pPr>
            <a:r>
              <a:rPr sz="1125" b="1">
                <a:solidFill>
                  <a:srgbClr val="0B1220"/>
                </a:solidFill>
                <a:latin typeface="Helvetica Neue"/>
                <a:ea typeface="Helvetica Neue"/>
                <a:cs typeface="Helvetica Neue"/>
              </a:rPr>
              <a:t>Leading: uren per locatie</a:t>
            </a:r>
          </a:p>
        </p:txBody>
      </p:sp>
      <p:sp>
        <p:nvSpPr>
          <p:cNvPr id="24" name="">
            <a:extLst xmlns:a="http://schemas.openxmlformats.org/drawingml/2006/main">
              <a:ext uri="{FF2B5EF4-FFF2-40B4-BE49-F238E27FC236}">
                <a16:creationId xmlns:a16="http://schemas.microsoft.com/office/drawing/2014/main" id="{39D2861E-9017-4D62-8FCD-117F8D2E5481}"/>
              </a:ext>
            </a:extLst>
          </p:cNvPr>
          <p:cNvSpPr>
            <a:spLocks xmlns:a="http://schemas.openxmlformats.org/drawingml/2006/main" noGrp="1"/>
          </p:cNvSpPr>
          <p:nvPr/>
        </p:nvSpPr>
        <p:spPr>
          <a:xfrm xmlns:a="http://schemas.openxmlformats.org/drawingml/2006/main">
            <a:off x="400050" y="5067300"/>
            <a:ext cx="11087100" cy="6096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D571F81-E969-4EF3-BCF9-350DA1980CD9}"/>
              </a:ext>
            </a:extLst>
          </p:cNvPr>
          <p:cNvSpPr>
            <a:spLocks xmlns:a="http://schemas.openxmlformats.org/drawingml/2006/main" noGrp="1"/>
          </p:cNvSpPr>
          <p:nvPr/>
        </p:nvSpPr>
        <p:spPr>
          <a:xfrm xmlns:a="http://schemas.openxmlformats.org/drawingml/2006/main">
            <a:off x="552450" y="52387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Kapitaal vóór break-even</a:t>
            </a:r>
          </a:p>
        </p:txBody>
      </p:sp>
      <p:sp>
        <p:nvSpPr>
          <p:cNvPr id="26" name="">
            <a:extLst xmlns:a="http://schemas.openxmlformats.org/drawingml/2006/main">
              <a:ext uri="{FF2B5EF4-FFF2-40B4-BE49-F238E27FC236}">
                <a16:creationId xmlns:a16="http://schemas.microsoft.com/office/drawing/2014/main" id="{3B0F4CE0-0747-4A65-BF44-22A51A26676E}"/>
              </a:ext>
            </a:extLst>
          </p:cNvPr>
          <p:cNvSpPr>
            <a:spLocks xmlns:a="http://schemas.openxmlformats.org/drawingml/2006/main" noGrp="1"/>
          </p:cNvSpPr>
          <p:nvPr/>
        </p:nvSpPr>
        <p:spPr>
          <a:xfrm xmlns:a="http://schemas.openxmlformats.org/drawingml/2006/main">
            <a:off x="3143250" y="520065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Maand-15 beslismoment; reserve blijft gekoppeld aan commerciële gates.</a:t>
            </a:r>
          </a:p>
        </p:txBody>
      </p:sp>
      <p:sp>
        <p:nvSpPr>
          <p:cNvPr id="27" name="">
            <a:extLst xmlns:a="http://schemas.openxmlformats.org/drawingml/2006/main">
              <a:ext uri="{FF2B5EF4-FFF2-40B4-BE49-F238E27FC236}">
                <a16:creationId xmlns:a16="http://schemas.microsoft.com/office/drawing/2014/main" id="{422572C5-3D54-4A48-8F32-C40B8FC8437D}"/>
              </a:ext>
            </a:extLst>
          </p:cNvPr>
          <p:cNvSpPr>
            <a:spLocks xmlns:a="http://schemas.openxmlformats.org/drawingml/2006/main" noGrp="1"/>
          </p:cNvSpPr>
          <p:nvPr/>
        </p:nvSpPr>
        <p:spPr>
          <a:xfrm xmlns:a="http://schemas.openxmlformats.org/drawingml/2006/main">
            <a:off x="8915400" y="52387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B1220"/>
                </a:solidFill>
                <a:latin typeface="Helvetica Neue"/>
                <a:ea typeface="Helvetica Neue"/>
                <a:cs typeface="Helvetica Neue"/>
              </a:defRPr>
            </a:pPr>
            <a:r>
              <a:rPr sz="1125" b="1">
                <a:solidFill>
                  <a:srgbClr val="0B1220"/>
                </a:solidFill>
                <a:latin typeface="Helvetica Neue"/>
                <a:ea typeface="Helvetica Neue"/>
                <a:cs typeface="Helvetica Neue"/>
              </a:rPr>
              <a:t>Leading: runway / MRR</a:t>
            </a:r>
          </a:p>
        </p:txBody>
      </p:sp>
    </p:spTree>
    <p:extLst>
      <p:ext uri="{BB962C8B-B14F-4D97-AF65-F5344CB8AC3E}">
        <p14:creationId xmlns:p14="http://schemas.microsoft.com/office/powerpoint/2010/main" val="73314506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3754DB5-D56A-4479-B9DB-C554B75B0D12}"/>
              </a:ext>
            </a:extLst>
          </p:cNvPr>
          <p:cNvSpPr>
            <a:spLocks xmlns:a="http://schemas.openxmlformats.org/drawingml/2006/main" noGrp="1"/>
          </p:cNvSpPr>
          <p:nvPr/>
        </p:nvSpPr>
        <p:spPr>
          <a:xfrm xmlns:a="http://schemas.openxmlformats.org/drawingml/2006/main">
            <a:off x="400050" y="3619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186F3"/>
                </a:solidFill>
                <a:latin typeface="Helvetica Neue"/>
                <a:ea typeface="Helvetica Neue"/>
                <a:cs typeface="Helvetica Neue"/>
              </a:defRPr>
            </a:pPr>
            <a:r>
              <a:rPr sz="975" b="1">
                <a:solidFill>
                  <a:srgbClr val="2186F3"/>
                </a:solidFill>
                <a:latin typeface="Helvetica Neue"/>
                <a:ea typeface="Helvetica Neue"/>
                <a:cs typeface="Helvetica Neue"/>
              </a:rPr>
              <a:t>DE INVESTERINGSVRAAG</a:t>
            </a:r>
          </a:p>
        </p:txBody>
      </p:sp>
      <p:sp>
        <p:nvSpPr>
          <p:cNvPr id="2" name="">
            <a:extLst xmlns:a="http://schemas.openxmlformats.org/drawingml/2006/main">
              <a:ext uri="{FF2B5EF4-FFF2-40B4-BE49-F238E27FC236}">
                <a16:creationId xmlns:a16="http://schemas.microsoft.com/office/drawing/2014/main" id="{F9E91F17-7665-476A-86D2-AE4490240CB4}"/>
              </a:ext>
            </a:extLst>
          </p:cNvPr>
          <p:cNvSpPr>
            <a:spLocks xmlns:a="http://schemas.openxmlformats.org/drawingml/2006/main" noGrp="1"/>
          </p:cNvSpPr>
          <p:nvPr/>
        </p:nvSpPr>
        <p:spPr>
          <a:xfrm xmlns:a="http://schemas.openxmlformats.org/drawingml/2006/main">
            <a:off x="400050" y="1371600"/>
            <a:ext cx="7048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350" b="1">
                <a:solidFill>
                  <a:srgbClr val="0B1220"/>
                </a:solidFill>
                <a:latin typeface="Helvetica Neue"/>
                <a:ea typeface="Helvetica Neue"/>
                <a:cs typeface="Helvetica Neue"/>
              </a:defRPr>
            </a:pPr>
            <a:r>
              <a:rPr sz="4350" b="1">
                <a:solidFill>
                  <a:srgbClr val="0B1220"/>
                </a:solidFill>
                <a:latin typeface="Helvetica Neue"/>
                <a:ea typeface="Helvetica Neue"/>
                <a:cs typeface="Helvetica Neue"/>
              </a:rPr>
              <a:t>€ 250.000 — 15% equity</a:t>
            </a:r>
          </a:p>
        </p:txBody>
      </p:sp>
      <p:sp>
        <p:nvSpPr>
          <p:cNvPr id="3" name="">
            <a:extLst xmlns:a="http://schemas.openxmlformats.org/drawingml/2006/main">
              <a:ext uri="{FF2B5EF4-FFF2-40B4-BE49-F238E27FC236}">
                <a16:creationId xmlns:a16="http://schemas.microsoft.com/office/drawing/2014/main" id="{8D4CBF82-16FA-413A-AAAD-E8F66D97E558}"/>
              </a:ext>
            </a:extLst>
          </p:cNvPr>
          <p:cNvSpPr>
            <a:spLocks xmlns:a="http://schemas.openxmlformats.org/drawingml/2006/main" noGrp="1"/>
          </p:cNvSpPr>
          <p:nvPr/>
        </p:nvSpPr>
        <p:spPr>
          <a:xfrm xmlns:a="http://schemas.openxmlformats.org/drawingml/2006/main">
            <a:off x="400050" y="2381250"/>
            <a:ext cx="657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a:solidFill>
                  <a:srgbClr val="5E6878"/>
                </a:solidFill>
                <a:latin typeface="Helvetica Neue"/>
                <a:ea typeface="Helvetica Neue"/>
                <a:cs typeface="Helvetica Neue"/>
              </a:defRPr>
            </a:pPr>
            <a:r>
              <a:rPr sz="1575">
                <a:solidFill>
                  <a:srgbClr val="5E6878"/>
                </a:solidFill>
                <a:latin typeface="Helvetica Neue"/>
                <a:ea typeface="Helvetica Neue"/>
                <a:cs typeface="Helvetica Neue"/>
              </a:rPr>
              <a:t>Indicatieve equity-structuur: post-money € 1,67m. Definitief na due diligence en juridische documentatie.</a:t>
            </a:r>
          </a:p>
        </p:txBody>
      </p:sp>
      <p:sp>
        <p:nvSpPr>
          <p:cNvPr id="4" name="">
            <a:extLst xmlns:a="http://schemas.openxmlformats.org/drawingml/2006/main">
              <a:ext uri="{FF2B5EF4-FFF2-40B4-BE49-F238E27FC236}">
                <a16:creationId xmlns:a16="http://schemas.microsoft.com/office/drawing/2014/main" id="{582B7E82-6FAA-4752-B4B9-48CAC098ACE5}"/>
              </a:ext>
            </a:extLst>
          </p:cNvPr>
          <p:cNvSpPr>
            <a:spLocks xmlns:a="http://schemas.openxmlformats.org/drawingml/2006/main" noGrp="1"/>
          </p:cNvSpPr>
          <p:nvPr/>
        </p:nvSpPr>
        <p:spPr>
          <a:xfrm xmlns:a="http://schemas.openxmlformats.org/drawingml/2006/main">
            <a:off x="400050" y="3600450"/>
            <a:ext cx="6572250" cy="150495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AA09DE7-6BBF-477E-940D-73CC7B6616B9}"/>
              </a:ext>
            </a:extLst>
          </p:cNvPr>
          <p:cNvSpPr>
            <a:spLocks xmlns:a="http://schemas.openxmlformats.org/drawingml/2006/main" noGrp="1"/>
          </p:cNvSpPr>
          <p:nvPr/>
        </p:nvSpPr>
        <p:spPr>
          <a:xfrm xmlns:a="http://schemas.openxmlformats.org/drawingml/2006/main">
            <a:off x="647700" y="3867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5CFF7"/>
                </a:solidFill>
                <a:latin typeface="Helvetica Neue"/>
                <a:ea typeface="Helvetica Neue"/>
                <a:cs typeface="Helvetica Neue"/>
              </a:defRPr>
            </a:pPr>
            <a:r>
              <a:rPr sz="1050" b="1">
                <a:solidFill>
                  <a:srgbClr val="55CFF7"/>
                </a:solidFill>
                <a:latin typeface="Helvetica Neue"/>
                <a:ea typeface="Helvetica Neue"/>
                <a:cs typeface="Helvetica Neue"/>
              </a:rPr>
              <a:t>Wat u daarvoor krijgt</a:t>
            </a:r>
          </a:p>
        </p:txBody>
      </p:sp>
      <p:sp>
        <p:nvSpPr>
          <p:cNvPr id="6" name="">
            <a:extLst xmlns:a="http://schemas.openxmlformats.org/drawingml/2006/main">
              <a:ext uri="{FF2B5EF4-FFF2-40B4-BE49-F238E27FC236}">
                <a16:creationId xmlns:a16="http://schemas.microsoft.com/office/drawing/2014/main" id="{48122D1A-67A0-4FC3-8640-8B3C1AC3562F}"/>
              </a:ext>
            </a:extLst>
          </p:cNvPr>
          <p:cNvSpPr>
            <a:spLocks xmlns:a="http://schemas.openxmlformats.org/drawingml/2006/main" noGrp="1"/>
          </p:cNvSpPr>
          <p:nvPr/>
        </p:nvSpPr>
        <p:spPr>
          <a:xfrm xmlns:a="http://schemas.openxmlformats.org/drawingml/2006/main">
            <a:off x="647700" y="428625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Maandelijkse KPI-rapportering · kwartaalboard · budgetgates · pro-rata recht bij een volgende ronde.</a:t>
            </a:r>
          </a:p>
        </p:txBody>
      </p:sp>
      <p:sp>
        <p:nvSpPr>
          <p:cNvPr id="7" name="">
            <a:extLst xmlns:a="http://schemas.openxmlformats.org/drawingml/2006/main">
              <a:ext uri="{FF2B5EF4-FFF2-40B4-BE49-F238E27FC236}">
                <a16:creationId xmlns:a16="http://schemas.microsoft.com/office/drawing/2014/main" id="{C6D004DB-101D-44FD-AEBC-A842CCA2D50B}"/>
              </a:ext>
            </a:extLst>
          </p:cNvPr>
          <p:cNvSpPr>
            <a:spLocks xmlns:a="http://schemas.openxmlformats.org/drawingml/2006/main" noGrp="1"/>
          </p:cNvSpPr>
          <p:nvPr/>
        </p:nvSpPr>
        <p:spPr>
          <a:xfrm xmlns:a="http://schemas.openxmlformats.org/drawingml/2006/main">
            <a:off x="7753350" y="1200150"/>
            <a:ext cx="3733800" cy="4114800"/>
          </a:xfrm>
          <a:prstGeom xmlns:a="http://schemas.openxmlformats.org/drawingml/2006/main" prst="rect">
            <a:avLst/>
          </a:prstGeom>
          <a:solidFill xmlns:a="http://schemas.openxmlformats.org/drawingml/2006/main">
            <a:srgbClr val="2186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1FCE73D-EAE3-400A-8BBA-9CD3AAC872E4}"/>
              </a:ext>
            </a:extLst>
          </p:cNvPr>
          <p:cNvSpPr>
            <a:spLocks xmlns:a="http://schemas.openxmlformats.org/drawingml/2006/main" noGrp="1"/>
          </p:cNvSpPr>
          <p:nvPr/>
        </p:nvSpPr>
        <p:spPr>
          <a:xfrm xmlns:a="http://schemas.openxmlformats.org/drawingml/2006/main">
            <a:off x="8039100" y="15240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 beslissing</a:t>
            </a:r>
          </a:p>
        </p:txBody>
      </p:sp>
      <p:sp>
        <p:nvSpPr>
          <p:cNvPr id="9" name="">
            <a:extLst xmlns:a="http://schemas.openxmlformats.org/drawingml/2006/main">
              <a:ext uri="{FF2B5EF4-FFF2-40B4-BE49-F238E27FC236}">
                <a16:creationId xmlns:a16="http://schemas.microsoft.com/office/drawing/2014/main" id="{9EF7C080-B38B-4DEE-A9F4-51955E4CCEAA}"/>
              </a:ext>
            </a:extLst>
          </p:cNvPr>
          <p:cNvSpPr>
            <a:spLocks xmlns:a="http://schemas.openxmlformats.org/drawingml/2006/main" noGrp="1"/>
          </p:cNvSpPr>
          <p:nvPr/>
        </p:nvSpPr>
        <p:spPr>
          <a:xfrm xmlns:a="http://schemas.openxmlformats.org/drawingml/2006/main">
            <a:off x="8039100" y="2190750"/>
            <a:ext cx="304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315"/>
          </a:bodyPr>
          <a:lstStyle xmlns:a="http://schemas.openxmlformats.org/drawingml/2006/main"/>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Start due diligence</a:t>
            </a:r>
          </a:p>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binnen 7 dagen.</a:t>
            </a:r>
          </a:p>
        </p:txBody>
      </p:sp>
      <p:sp>
        <p:nvSpPr>
          <p:cNvPr id="10" name="">
            <a:extLst xmlns:a="http://schemas.openxmlformats.org/drawingml/2006/main">
              <a:ext uri="{FF2B5EF4-FFF2-40B4-BE49-F238E27FC236}">
                <a16:creationId xmlns:a16="http://schemas.microsoft.com/office/drawing/2014/main" id="{B1464CC0-764A-419B-8AF1-90861C4FC05A}"/>
              </a:ext>
            </a:extLst>
          </p:cNvPr>
          <p:cNvSpPr>
            <a:spLocks xmlns:a="http://schemas.openxmlformats.org/drawingml/2006/main" noGrp="1"/>
          </p:cNvSpPr>
          <p:nvPr/>
        </p:nvSpPr>
        <p:spPr>
          <a:xfrm xmlns:a="http://schemas.openxmlformats.org/drawingml/2006/main">
            <a:off x="8039100" y="3390900"/>
            <a:ext cx="3048000" cy="9525"/>
          </a:xfrm>
          <a:prstGeom xmlns:a="http://schemas.openxmlformats.org/drawingml/2006/main" prst="rect">
            <a:avLst/>
          </a:prstGeom>
          <a:solidFill xmlns:a="http://schemas.openxmlformats.org/drawingml/2006/main">
            <a:srgbClr val="89C5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999BDA-F8EE-41BA-BF39-FCCD3FAB2767}"/>
              </a:ext>
            </a:extLst>
          </p:cNvPr>
          <p:cNvSpPr>
            <a:spLocks xmlns:a="http://schemas.openxmlformats.org/drawingml/2006/main" noGrp="1"/>
          </p:cNvSpPr>
          <p:nvPr/>
        </p:nvSpPr>
        <p:spPr>
          <a:xfrm xmlns:a="http://schemas.openxmlformats.org/drawingml/2006/main">
            <a:off x="8039100" y="37338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Week 1  ·  data room + term sheet</a:t>
            </a:r>
          </a:p>
          <a:p xmlns:a="http://schemas.openxmlformats.org/drawingml/2006/main">
            <a:pPr algn="l">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Week 2  ·  product &amp; financieel review</a:t>
            </a:r>
          </a:p>
          <a:p xmlns:a="http://schemas.openxmlformats.org/drawingml/2006/main">
            <a:pPr algn="l">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Week 3  ·  signing + eerste tranche</a:t>
            </a:r>
          </a:p>
        </p:txBody>
      </p:sp>
      <p:sp>
        <p:nvSpPr>
          <p:cNvPr id="12" name="">
            <a:extLst xmlns:a="http://schemas.openxmlformats.org/drawingml/2006/main">
              <a:ext uri="{FF2B5EF4-FFF2-40B4-BE49-F238E27FC236}">
                <a16:creationId xmlns:a16="http://schemas.microsoft.com/office/drawing/2014/main" id="{C3592AC0-DC32-4FBE-A04A-951903ED1C25}"/>
              </a:ext>
            </a:extLst>
          </p:cNvPr>
          <p:cNvSpPr>
            <a:spLocks xmlns:a="http://schemas.openxmlformats.org/drawingml/2006/main" noGrp="1"/>
          </p:cNvSpPr>
          <p:nvPr/>
        </p:nvSpPr>
        <p:spPr>
          <a:xfrm xmlns:a="http://schemas.openxmlformats.org/drawingml/2006/main">
            <a:off x="400050" y="57150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567"/>
          </a:bodyPr>
          <a:lstStyle xmlns:a="http://schemas.openxmlformats.org/drawingml/2006/main"/>
          <a:p xmlns:a="http://schemas.openxmlformats.org/drawingml/2006/main">
            <a:pPr algn="l">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Ik zoek niet alleen kapitaal. Ik zoek een investeerder die mee helpt om 100 winkels sneller en slimmer te laten draaien.</a:t>
            </a:r>
          </a:p>
        </p:txBody>
      </p:sp>
      <p:sp>
        <p:nvSpPr>
          <p:cNvPr id="13" name="">
            <a:extLst xmlns:a="http://schemas.openxmlformats.org/drawingml/2006/main">
              <a:ext uri="{FF2B5EF4-FFF2-40B4-BE49-F238E27FC236}">
                <a16:creationId xmlns:a16="http://schemas.microsoft.com/office/drawing/2014/main" id="{1E424972-26B8-4E36-BADB-9C855179D85E}"/>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CONFIDENTIAL · SUBJECT TO CONTRACT</a:t>
            </a:r>
          </a:p>
        </p:txBody>
      </p:sp>
      <p:sp>
        <p:nvSpPr>
          <p:cNvPr id="14" name="">
            <a:extLst xmlns:a="http://schemas.openxmlformats.org/drawingml/2006/main">
              <a:ext uri="{FF2B5EF4-FFF2-40B4-BE49-F238E27FC236}">
                <a16:creationId xmlns:a16="http://schemas.microsoft.com/office/drawing/2014/main" id="{7307FB16-4EEA-4FD9-A34C-E1260226302F}"/>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14</a:t>
            </a:r>
          </a:p>
        </p:txBody>
      </p:sp>
    </p:spTree>
    <p:extLst>
      <p:ext uri="{BB962C8B-B14F-4D97-AF65-F5344CB8AC3E}">
        <p14:creationId xmlns:p14="http://schemas.microsoft.com/office/powerpoint/2010/main" val="9230850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3C19319-369F-4D13-8BC2-0EAAEDB2757E}"/>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8B0B7C2E-FC83-4244-ABB2-A1DEAF006131}"/>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Modelaannames die de investeerder mag challengen.</a:t>
            </a:r>
          </a:p>
        </p:txBody>
      </p:sp>
      <p:sp>
        <p:nvSpPr>
          <p:cNvPr id="3" name="">
            <a:extLst xmlns:a="http://schemas.openxmlformats.org/drawingml/2006/main">
              <a:ext uri="{FF2B5EF4-FFF2-40B4-BE49-F238E27FC236}">
                <a16:creationId xmlns:a16="http://schemas.microsoft.com/office/drawing/2014/main" id="{15BDE7FD-C134-46C3-9909-E25EA109DF68}"/>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INVESTOR PITCH · SEPTEMBER 2026</a:t>
            </a:r>
          </a:p>
        </p:txBody>
      </p:sp>
      <p:sp>
        <p:nvSpPr>
          <p:cNvPr id="4" name="">
            <a:extLst xmlns:a="http://schemas.openxmlformats.org/drawingml/2006/main">
              <a:ext uri="{FF2B5EF4-FFF2-40B4-BE49-F238E27FC236}">
                <a16:creationId xmlns:a16="http://schemas.microsoft.com/office/drawing/2014/main" id="{25194577-F93D-42B5-9395-C176F99DCB9F}"/>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57292ED6-F213-475E-BBF0-71B65DAC69BF}"/>
              </a:ext>
            </a:extLst>
          </p:cNvPr>
          <p:cNvSpPr>
            <a:spLocks xmlns:a="http://schemas.openxmlformats.org/drawingml/2006/main" noGrp="1"/>
          </p:cNvSpPr>
          <p:nvPr/>
        </p:nvSpPr>
        <p:spPr>
          <a:xfrm xmlns:a="http://schemas.openxmlformats.org/drawingml/2006/main">
            <a:off x="400050" y="1504950"/>
            <a:ext cx="11087100" cy="4953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EFB1EF9-071F-42AA-BE41-B7C4282C6C2B}"/>
              </a:ext>
            </a:extLst>
          </p:cNvPr>
          <p:cNvSpPr>
            <a:spLocks xmlns:a="http://schemas.openxmlformats.org/drawingml/2006/main" noGrp="1"/>
          </p:cNvSpPr>
          <p:nvPr/>
        </p:nvSpPr>
        <p:spPr>
          <a:xfrm xmlns:a="http://schemas.openxmlformats.org/drawingml/2006/main">
            <a:off x="571500" y="16573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186F3"/>
                </a:solidFill>
                <a:latin typeface="Helvetica Neue"/>
                <a:ea typeface="Helvetica Neue"/>
                <a:cs typeface="Helvetica Neue"/>
              </a:defRPr>
            </a:pPr>
            <a:r>
              <a:rPr sz="1200" b="1">
                <a:solidFill>
                  <a:srgbClr val="2186F3"/>
                </a:solidFill>
                <a:latin typeface="Helvetica Neue"/>
                <a:ea typeface="Helvetica Neue"/>
                <a:cs typeface="Helvetica Neue"/>
              </a:rPr>
              <a:t>Ronde</a:t>
            </a:r>
          </a:p>
        </p:txBody>
      </p:sp>
      <p:sp>
        <p:nvSpPr>
          <p:cNvPr id="7" name="">
            <a:extLst xmlns:a="http://schemas.openxmlformats.org/drawingml/2006/main">
              <a:ext uri="{FF2B5EF4-FFF2-40B4-BE49-F238E27FC236}">
                <a16:creationId xmlns:a16="http://schemas.microsoft.com/office/drawing/2014/main" id="{C6E4810C-FE66-4EB2-B6D4-EEE64D172CC6}"/>
              </a:ext>
            </a:extLst>
          </p:cNvPr>
          <p:cNvSpPr>
            <a:spLocks xmlns:a="http://schemas.openxmlformats.org/drawingml/2006/main" noGrp="1"/>
          </p:cNvSpPr>
          <p:nvPr/>
        </p:nvSpPr>
        <p:spPr>
          <a:xfrm xmlns:a="http://schemas.openxmlformats.org/drawingml/2006/main">
            <a:off x="2952750" y="163830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0B1220"/>
                </a:solidFill>
                <a:latin typeface="Helvetica Neue"/>
                <a:ea typeface="Helvetica Neue"/>
                <a:cs typeface="Helvetica Neue"/>
              </a:defRPr>
            </a:pPr>
            <a:r>
              <a:rPr sz="1200">
                <a:solidFill>
                  <a:srgbClr val="0B1220"/>
                </a:solidFill>
                <a:latin typeface="Helvetica Neue"/>
                <a:ea typeface="Helvetica Neue"/>
                <a:cs typeface="Helvetica Neue"/>
              </a:rPr>
              <a:t>€ 250k; 18 maanden; gemiddeld € 13,9k netto burn</a:t>
            </a:r>
          </a:p>
        </p:txBody>
      </p:sp>
      <p:sp>
        <p:nvSpPr>
          <p:cNvPr id="8" name="">
            <a:extLst xmlns:a="http://schemas.openxmlformats.org/drawingml/2006/main">
              <a:ext uri="{FF2B5EF4-FFF2-40B4-BE49-F238E27FC236}">
                <a16:creationId xmlns:a16="http://schemas.microsoft.com/office/drawing/2014/main" id="{B26B87B4-9CE0-4A64-80D6-600CAEF034EA}"/>
              </a:ext>
            </a:extLst>
          </p:cNvPr>
          <p:cNvSpPr>
            <a:spLocks xmlns:a="http://schemas.openxmlformats.org/drawingml/2006/main" noGrp="1"/>
          </p:cNvSpPr>
          <p:nvPr/>
        </p:nvSpPr>
        <p:spPr>
          <a:xfrm xmlns:a="http://schemas.openxmlformats.org/drawingml/2006/main">
            <a:off x="400050" y="2133600"/>
            <a:ext cx="11087100" cy="495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65DB09A-1178-40DB-B08B-D8FC48C79541}"/>
              </a:ext>
            </a:extLst>
          </p:cNvPr>
          <p:cNvSpPr>
            <a:spLocks xmlns:a="http://schemas.openxmlformats.org/drawingml/2006/main" noGrp="1"/>
          </p:cNvSpPr>
          <p:nvPr/>
        </p:nvSpPr>
        <p:spPr>
          <a:xfrm xmlns:a="http://schemas.openxmlformats.org/drawingml/2006/main">
            <a:off x="571500" y="22860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186F3"/>
                </a:solidFill>
                <a:latin typeface="Helvetica Neue"/>
                <a:ea typeface="Helvetica Neue"/>
                <a:cs typeface="Helvetica Neue"/>
              </a:defRPr>
            </a:pPr>
            <a:r>
              <a:rPr sz="1200" b="1">
                <a:solidFill>
                  <a:srgbClr val="2186F3"/>
                </a:solidFill>
                <a:latin typeface="Helvetica Neue"/>
                <a:ea typeface="Helvetica Neue"/>
                <a:cs typeface="Helvetica Neue"/>
              </a:rPr>
              <a:t>Prijs</a:t>
            </a:r>
          </a:p>
        </p:txBody>
      </p:sp>
      <p:sp>
        <p:nvSpPr>
          <p:cNvPr id="10" name="">
            <a:extLst xmlns:a="http://schemas.openxmlformats.org/drawingml/2006/main">
              <a:ext uri="{FF2B5EF4-FFF2-40B4-BE49-F238E27FC236}">
                <a16:creationId xmlns:a16="http://schemas.microsoft.com/office/drawing/2014/main" id="{3E84C069-9564-4323-9282-AAB0808777EB}"/>
              </a:ext>
            </a:extLst>
          </p:cNvPr>
          <p:cNvSpPr>
            <a:spLocks xmlns:a="http://schemas.openxmlformats.org/drawingml/2006/main" noGrp="1"/>
          </p:cNvSpPr>
          <p:nvPr/>
        </p:nvSpPr>
        <p:spPr>
          <a:xfrm xmlns:a="http://schemas.openxmlformats.org/drawingml/2006/main">
            <a:off x="2952750" y="226695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0B1220"/>
                </a:solidFill>
                <a:latin typeface="Helvetica Neue"/>
                <a:ea typeface="Helvetica Neue"/>
                <a:cs typeface="Helvetica Neue"/>
              </a:defRPr>
            </a:pPr>
            <a:r>
              <a:rPr sz="1200">
                <a:solidFill>
                  <a:srgbClr val="0B1220"/>
                </a:solidFill>
                <a:latin typeface="Helvetica Neue"/>
                <a:ea typeface="Helvetica Neue"/>
                <a:cs typeface="Helvetica Neue"/>
              </a:rPr>
              <a:t>Pro € 69/mnd; Enterprise vanaf € 149/mnd; blended target € 90</a:t>
            </a:r>
          </a:p>
        </p:txBody>
      </p:sp>
      <p:sp>
        <p:nvSpPr>
          <p:cNvPr id="11" name="">
            <a:extLst xmlns:a="http://schemas.openxmlformats.org/drawingml/2006/main">
              <a:ext uri="{FF2B5EF4-FFF2-40B4-BE49-F238E27FC236}">
                <a16:creationId xmlns:a16="http://schemas.microsoft.com/office/drawing/2014/main" id="{E6B699BF-B736-4E49-814F-2350EC9D7F3D}"/>
              </a:ext>
            </a:extLst>
          </p:cNvPr>
          <p:cNvSpPr>
            <a:spLocks xmlns:a="http://schemas.openxmlformats.org/drawingml/2006/main" noGrp="1"/>
          </p:cNvSpPr>
          <p:nvPr/>
        </p:nvSpPr>
        <p:spPr>
          <a:xfrm xmlns:a="http://schemas.openxmlformats.org/drawingml/2006/main">
            <a:off x="400050" y="2762250"/>
            <a:ext cx="11087100" cy="4953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0E8D10E-35B5-4E6D-A45C-5AC0199F0B73}"/>
              </a:ext>
            </a:extLst>
          </p:cNvPr>
          <p:cNvSpPr>
            <a:spLocks xmlns:a="http://schemas.openxmlformats.org/drawingml/2006/main" noGrp="1"/>
          </p:cNvSpPr>
          <p:nvPr/>
        </p:nvSpPr>
        <p:spPr>
          <a:xfrm xmlns:a="http://schemas.openxmlformats.org/drawingml/2006/main">
            <a:off x="571500" y="29146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186F3"/>
                </a:solidFill>
                <a:latin typeface="Helvetica Neue"/>
                <a:ea typeface="Helvetica Neue"/>
                <a:cs typeface="Helvetica Neue"/>
              </a:defRPr>
            </a:pPr>
            <a:r>
              <a:rPr sz="1200" b="1">
                <a:solidFill>
                  <a:srgbClr val="2186F3"/>
                </a:solidFill>
                <a:latin typeface="Helvetica Neue"/>
                <a:ea typeface="Helvetica Neue"/>
                <a:cs typeface="Helvetica Neue"/>
              </a:rPr>
              <a:t>Groei</a:t>
            </a:r>
          </a:p>
        </p:txBody>
      </p:sp>
      <p:sp>
        <p:nvSpPr>
          <p:cNvPr id="13" name="">
            <a:extLst xmlns:a="http://schemas.openxmlformats.org/drawingml/2006/main">
              <a:ext uri="{FF2B5EF4-FFF2-40B4-BE49-F238E27FC236}">
                <a16:creationId xmlns:a16="http://schemas.microsoft.com/office/drawing/2014/main" id="{BD5A2F28-D830-4997-ABE2-758181360332}"/>
              </a:ext>
            </a:extLst>
          </p:cNvPr>
          <p:cNvSpPr>
            <a:spLocks xmlns:a="http://schemas.openxmlformats.org/drawingml/2006/main" noGrp="1"/>
          </p:cNvSpPr>
          <p:nvPr/>
        </p:nvSpPr>
        <p:spPr>
          <a:xfrm xmlns:a="http://schemas.openxmlformats.org/drawingml/2006/main">
            <a:off x="2952750" y="289560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0B1220"/>
                </a:solidFill>
                <a:latin typeface="Helvetica Neue"/>
                <a:ea typeface="Helvetica Neue"/>
                <a:cs typeface="Helvetica Neue"/>
              </a:defRPr>
            </a:pPr>
            <a:r>
              <a:rPr sz="1200">
                <a:solidFill>
                  <a:srgbClr val="0B1220"/>
                </a:solidFill>
                <a:latin typeface="Helvetica Neue"/>
                <a:ea typeface="Helvetica Neue"/>
                <a:cs typeface="Helvetica Neue"/>
              </a:rPr>
              <a:t>15 / 50 / 100 betalende locaties op maand 6 / 12 / 18</a:t>
            </a:r>
          </a:p>
        </p:txBody>
      </p:sp>
      <p:sp>
        <p:nvSpPr>
          <p:cNvPr id="14" name="">
            <a:extLst xmlns:a="http://schemas.openxmlformats.org/drawingml/2006/main">
              <a:ext uri="{FF2B5EF4-FFF2-40B4-BE49-F238E27FC236}">
                <a16:creationId xmlns:a16="http://schemas.microsoft.com/office/drawing/2014/main" id="{401DEF51-A799-4B1C-9080-74BC5EE94D9A}"/>
              </a:ext>
            </a:extLst>
          </p:cNvPr>
          <p:cNvSpPr>
            <a:spLocks xmlns:a="http://schemas.openxmlformats.org/drawingml/2006/main" noGrp="1"/>
          </p:cNvSpPr>
          <p:nvPr/>
        </p:nvSpPr>
        <p:spPr>
          <a:xfrm xmlns:a="http://schemas.openxmlformats.org/drawingml/2006/main">
            <a:off x="400050" y="3390900"/>
            <a:ext cx="11087100" cy="495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96A257F-1052-4F9F-A082-39AD1F31A2A1}"/>
              </a:ext>
            </a:extLst>
          </p:cNvPr>
          <p:cNvSpPr>
            <a:spLocks xmlns:a="http://schemas.openxmlformats.org/drawingml/2006/main" noGrp="1"/>
          </p:cNvSpPr>
          <p:nvPr/>
        </p:nvSpPr>
        <p:spPr>
          <a:xfrm xmlns:a="http://schemas.openxmlformats.org/drawingml/2006/main">
            <a:off x="571500" y="35433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186F3"/>
                </a:solidFill>
                <a:latin typeface="Helvetica Neue"/>
                <a:ea typeface="Helvetica Neue"/>
                <a:cs typeface="Helvetica Neue"/>
              </a:defRPr>
            </a:pPr>
            <a:r>
              <a:rPr sz="1200" b="1">
                <a:solidFill>
                  <a:srgbClr val="2186F3"/>
                </a:solidFill>
                <a:latin typeface="Helvetica Neue"/>
                <a:ea typeface="Helvetica Neue"/>
                <a:cs typeface="Helvetica Neue"/>
              </a:rPr>
              <a:t>Unit economics</a:t>
            </a:r>
          </a:p>
        </p:txBody>
      </p:sp>
      <p:sp>
        <p:nvSpPr>
          <p:cNvPr id="16" name="">
            <a:extLst xmlns:a="http://schemas.openxmlformats.org/drawingml/2006/main">
              <a:ext uri="{FF2B5EF4-FFF2-40B4-BE49-F238E27FC236}">
                <a16:creationId xmlns:a16="http://schemas.microsoft.com/office/drawing/2014/main" id="{007AAC2D-99B3-4D61-BE51-D494255450E9}"/>
              </a:ext>
            </a:extLst>
          </p:cNvPr>
          <p:cNvSpPr>
            <a:spLocks xmlns:a="http://schemas.openxmlformats.org/drawingml/2006/main" noGrp="1"/>
          </p:cNvSpPr>
          <p:nvPr/>
        </p:nvSpPr>
        <p:spPr>
          <a:xfrm xmlns:a="http://schemas.openxmlformats.org/drawingml/2006/main">
            <a:off x="2952750" y="352425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0B1220"/>
                </a:solidFill>
                <a:latin typeface="Helvetica Neue"/>
                <a:ea typeface="Helvetica Neue"/>
                <a:cs typeface="Helvetica Neue"/>
              </a:defRPr>
            </a:pPr>
            <a:r>
              <a:rPr sz="1200">
                <a:solidFill>
                  <a:srgbClr val="0B1220"/>
                </a:solidFill>
                <a:latin typeface="Helvetica Neue"/>
                <a:ea typeface="Helvetica Neue"/>
                <a:cs typeface="Helvetica Neue"/>
              </a:rPr>
              <a:t>Brutomarge &gt; 80%; CAC &lt; € 800; payback &lt; 12 maanden</a:t>
            </a:r>
          </a:p>
        </p:txBody>
      </p:sp>
      <p:sp>
        <p:nvSpPr>
          <p:cNvPr id="17" name="">
            <a:extLst xmlns:a="http://schemas.openxmlformats.org/drawingml/2006/main">
              <a:ext uri="{FF2B5EF4-FFF2-40B4-BE49-F238E27FC236}">
                <a16:creationId xmlns:a16="http://schemas.microsoft.com/office/drawing/2014/main" id="{6E5AE911-57DB-4967-81E0-8F0EB34BEEC9}"/>
              </a:ext>
            </a:extLst>
          </p:cNvPr>
          <p:cNvSpPr>
            <a:spLocks xmlns:a="http://schemas.openxmlformats.org/drawingml/2006/main" noGrp="1"/>
          </p:cNvSpPr>
          <p:nvPr/>
        </p:nvSpPr>
        <p:spPr>
          <a:xfrm xmlns:a="http://schemas.openxmlformats.org/drawingml/2006/main">
            <a:off x="400050" y="4019550"/>
            <a:ext cx="11087100" cy="4953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3667BE-3195-4ED3-BAB6-E3A230580002}"/>
              </a:ext>
            </a:extLst>
          </p:cNvPr>
          <p:cNvSpPr>
            <a:spLocks xmlns:a="http://schemas.openxmlformats.org/drawingml/2006/main" noGrp="1"/>
          </p:cNvSpPr>
          <p:nvPr/>
        </p:nvSpPr>
        <p:spPr>
          <a:xfrm xmlns:a="http://schemas.openxmlformats.org/drawingml/2006/main">
            <a:off x="571500" y="41719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186F3"/>
                </a:solidFill>
                <a:latin typeface="Helvetica Neue"/>
                <a:ea typeface="Helvetica Neue"/>
                <a:cs typeface="Helvetica Neue"/>
              </a:defRPr>
            </a:pPr>
            <a:r>
              <a:rPr sz="1200" b="1">
                <a:solidFill>
                  <a:srgbClr val="2186F3"/>
                </a:solidFill>
                <a:latin typeface="Helvetica Neue"/>
                <a:ea typeface="Helvetica Neue"/>
                <a:cs typeface="Helvetica Neue"/>
              </a:rPr>
              <a:t>Markt</a:t>
            </a:r>
          </a:p>
        </p:txBody>
      </p:sp>
      <p:sp>
        <p:nvSpPr>
          <p:cNvPr id="19" name="">
            <a:extLst xmlns:a="http://schemas.openxmlformats.org/drawingml/2006/main">
              <a:ext uri="{FF2B5EF4-FFF2-40B4-BE49-F238E27FC236}">
                <a16:creationId xmlns:a16="http://schemas.microsoft.com/office/drawing/2014/main" id="{127DE9D4-D238-4F03-98FF-5C491B748AC2}"/>
              </a:ext>
            </a:extLst>
          </p:cNvPr>
          <p:cNvSpPr>
            <a:spLocks xmlns:a="http://schemas.openxmlformats.org/drawingml/2006/main" noGrp="1"/>
          </p:cNvSpPr>
          <p:nvPr/>
        </p:nvSpPr>
        <p:spPr>
          <a:xfrm xmlns:a="http://schemas.openxmlformats.org/drawingml/2006/main">
            <a:off x="2952750" y="415290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0B1220"/>
                </a:solidFill>
                <a:latin typeface="Helvetica Neue"/>
                <a:ea typeface="Helvetica Neue"/>
                <a:cs typeface="Helvetica Neue"/>
              </a:defRPr>
            </a:pPr>
            <a:r>
              <a:rPr sz="1200">
                <a:solidFill>
                  <a:srgbClr val="0B1220"/>
                </a:solidFill>
                <a:latin typeface="Helvetica Neue"/>
                <a:ea typeface="Helvetica Neue"/>
                <a:cs typeface="Helvetica Neue"/>
              </a:rPr>
              <a:t>20k specialist-retail SAM is een managementaannname</a:t>
            </a:r>
          </a:p>
        </p:txBody>
      </p:sp>
      <p:sp>
        <p:nvSpPr>
          <p:cNvPr id="20" name="">
            <a:extLst xmlns:a="http://schemas.openxmlformats.org/drawingml/2006/main">
              <a:ext uri="{FF2B5EF4-FFF2-40B4-BE49-F238E27FC236}">
                <a16:creationId xmlns:a16="http://schemas.microsoft.com/office/drawing/2014/main" id="{08A781B2-4EBD-487A-A7B4-46F553DD4801}"/>
              </a:ext>
            </a:extLst>
          </p:cNvPr>
          <p:cNvSpPr>
            <a:spLocks xmlns:a="http://schemas.openxmlformats.org/drawingml/2006/main" noGrp="1"/>
          </p:cNvSpPr>
          <p:nvPr/>
        </p:nvSpPr>
        <p:spPr>
          <a:xfrm xmlns:a="http://schemas.openxmlformats.org/drawingml/2006/main">
            <a:off x="400050" y="4648200"/>
            <a:ext cx="11087100" cy="495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23F39FA-42E1-4F80-AA49-8606FD2241D0}"/>
              </a:ext>
            </a:extLst>
          </p:cNvPr>
          <p:cNvSpPr>
            <a:spLocks xmlns:a="http://schemas.openxmlformats.org/drawingml/2006/main" noGrp="1"/>
          </p:cNvSpPr>
          <p:nvPr/>
        </p:nvSpPr>
        <p:spPr>
          <a:xfrm xmlns:a="http://schemas.openxmlformats.org/drawingml/2006/main">
            <a:off x="571500" y="48006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186F3"/>
                </a:solidFill>
                <a:latin typeface="Helvetica Neue"/>
                <a:ea typeface="Helvetica Neue"/>
                <a:cs typeface="Helvetica Neue"/>
              </a:defRPr>
            </a:pPr>
            <a:r>
              <a:rPr sz="1200" b="1">
                <a:solidFill>
                  <a:srgbClr val="2186F3"/>
                </a:solidFill>
                <a:latin typeface="Helvetica Neue"/>
                <a:ea typeface="Helvetica Neue"/>
                <a:cs typeface="Helvetica Neue"/>
              </a:rPr>
              <a:t>Traction</a:t>
            </a:r>
          </a:p>
        </p:txBody>
      </p:sp>
      <p:sp>
        <p:nvSpPr>
          <p:cNvPr id="22" name="">
            <a:extLst xmlns:a="http://schemas.openxmlformats.org/drawingml/2006/main">
              <a:ext uri="{FF2B5EF4-FFF2-40B4-BE49-F238E27FC236}">
                <a16:creationId xmlns:a16="http://schemas.microsoft.com/office/drawing/2014/main" id="{D9E8302E-11AA-43FC-8666-91CE877FAABB}"/>
              </a:ext>
            </a:extLst>
          </p:cNvPr>
          <p:cNvSpPr>
            <a:spLocks xmlns:a="http://schemas.openxmlformats.org/drawingml/2006/main" noGrp="1"/>
          </p:cNvSpPr>
          <p:nvPr/>
        </p:nvSpPr>
        <p:spPr>
          <a:xfrm xmlns:a="http://schemas.openxmlformats.org/drawingml/2006/main">
            <a:off x="2952750" y="478155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0B1220"/>
                </a:solidFill>
                <a:latin typeface="Helvetica Neue"/>
                <a:ea typeface="Helvetica Neue"/>
                <a:cs typeface="Helvetica Neue"/>
              </a:defRPr>
            </a:pPr>
            <a:r>
              <a:rPr sz="1200">
                <a:solidFill>
                  <a:srgbClr val="0B1220"/>
                </a:solidFill>
                <a:latin typeface="Helvetica Neue"/>
                <a:ea typeface="Helvetica Neue"/>
                <a:cs typeface="Helvetica Neue"/>
              </a:rPr>
              <a:t>Productbewijs is aanwezig; paid ARR wordt niet geclaimd</a:t>
            </a:r>
          </a:p>
        </p:txBody>
      </p:sp>
      <p:sp>
        <p:nvSpPr>
          <p:cNvPr id="23" name="">
            <a:extLst xmlns:a="http://schemas.openxmlformats.org/drawingml/2006/main">
              <a:ext uri="{FF2B5EF4-FFF2-40B4-BE49-F238E27FC236}">
                <a16:creationId xmlns:a16="http://schemas.microsoft.com/office/drawing/2014/main" id="{0788C9D6-9D99-4E13-A216-E6FC0E6A5A91}"/>
              </a:ext>
            </a:extLst>
          </p:cNvPr>
          <p:cNvSpPr>
            <a:spLocks xmlns:a="http://schemas.openxmlformats.org/drawingml/2006/main" noGrp="1"/>
          </p:cNvSpPr>
          <p:nvPr/>
        </p:nvSpPr>
        <p:spPr>
          <a:xfrm xmlns:a="http://schemas.openxmlformats.org/drawingml/2006/main">
            <a:off x="400050" y="5276850"/>
            <a:ext cx="11087100" cy="4953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E5D5B1F-336A-4051-B848-0A7C7ACA736A}"/>
              </a:ext>
            </a:extLst>
          </p:cNvPr>
          <p:cNvSpPr>
            <a:spLocks xmlns:a="http://schemas.openxmlformats.org/drawingml/2006/main" noGrp="1"/>
          </p:cNvSpPr>
          <p:nvPr/>
        </p:nvSpPr>
        <p:spPr>
          <a:xfrm xmlns:a="http://schemas.openxmlformats.org/drawingml/2006/main">
            <a:off x="571500" y="5429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186F3"/>
                </a:solidFill>
                <a:latin typeface="Helvetica Neue"/>
                <a:ea typeface="Helvetica Neue"/>
                <a:cs typeface="Helvetica Neue"/>
              </a:defRPr>
            </a:pPr>
            <a:r>
              <a:rPr sz="1200" b="1">
                <a:solidFill>
                  <a:srgbClr val="2186F3"/>
                </a:solidFill>
                <a:latin typeface="Helvetica Neue"/>
                <a:ea typeface="Helvetica Neue"/>
                <a:cs typeface="Helvetica Neue"/>
              </a:rPr>
              <a:t>Vervolgrond</a:t>
            </a:r>
          </a:p>
        </p:txBody>
      </p:sp>
      <p:sp>
        <p:nvSpPr>
          <p:cNvPr id="25" name="">
            <a:extLst xmlns:a="http://schemas.openxmlformats.org/drawingml/2006/main">
              <a:ext uri="{FF2B5EF4-FFF2-40B4-BE49-F238E27FC236}">
                <a16:creationId xmlns:a16="http://schemas.microsoft.com/office/drawing/2014/main" id="{B8636078-8DC2-4621-8B2D-7B6A673033A2}"/>
              </a:ext>
            </a:extLst>
          </p:cNvPr>
          <p:cNvSpPr>
            <a:spLocks xmlns:a="http://schemas.openxmlformats.org/drawingml/2006/main" noGrp="1"/>
          </p:cNvSpPr>
          <p:nvPr/>
        </p:nvSpPr>
        <p:spPr>
          <a:xfrm xmlns:a="http://schemas.openxmlformats.org/drawingml/2006/main">
            <a:off x="2952750" y="541020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0B1220"/>
                </a:solidFill>
                <a:latin typeface="Helvetica Neue"/>
                <a:ea typeface="Helvetica Neue"/>
                <a:cs typeface="Helvetica Neue"/>
              </a:defRPr>
            </a:pPr>
            <a:r>
              <a:rPr sz="1200">
                <a:solidFill>
                  <a:srgbClr val="0B1220"/>
                </a:solidFill>
                <a:latin typeface="Helvetica Neue"/>
                <a:ea typeface="Helvetica Neue"/>
                <a:cs typeface="Helvetica Neue"/>
              </a:rPr>
              <a:t>Beslismoment rond maand 15 indien groei extra kapitaal vraagt</a:t>
            </a:r>
          </a:p>
        </p:txBody>
      </p:sp>
    </p:spTree>
    <p:extLst>
      <p:ext uri="{BB962C8B-B14F-4D97-AF65-F5344CB8AC3E}">
        <p14:creationId xmlns:p14="http://schemas.microsoft.com/office/powerpoint/2010/main" val="14333749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2026-08-30T14:52:32.9520000Z</dcterms:created>
  <dcterms:modified xsi:type="dcterms:W3CDTF">2026-08-30T14:52:32.9520000Z</dcterms:modified>
</coreProperties>
</file>